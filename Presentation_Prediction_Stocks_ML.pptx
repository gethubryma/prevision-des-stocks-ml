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8476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présenter le projet que j’ai réalisé autour de la prédiction de stocks par Machine Learning. L’idée générale est de partir d’un historique de factures, de l’enrichir avec des données externes, d’entraîner plusieurs modèles, puis de transformer la meilleure prévision de demande en une recommandation de stock. Je vais surtout expliquer la démarche, les choix techniques, les résultats et les limites.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besoin métier était assez clair : il ne s’agissait pas seulement de prédire une quantité, mais d’aller jusqu’à une recommandation de stock. J’ai donc structuré le projet en trois niveaux : premièrement prévoir la demande, deuxièmement quantifier l’incertitude à partir des erreurs historiques, et troisièmement convertir cette incertitude en stock de sécurité et en stock cible. Le périmètre demandé est l’agriculture en Amérique du Nord, donc les États-Unis et le Canada.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chaîne complète que j’ai construite. Je commence par la collecte des factures et des Open Data, puis je filtre le bon périmètre. Ensuite je prépare et j’agrège les données, je fais l’analyse exploratoire, je crée les variables de Machine Learning, je compare les modèles, puis je prévois l’année 2017 et je calcule les recommandations de stock. Enfin j’expose les résultats dans SQLite et sous forme de fichiers prêts pour Power BI. J’ai aussi développé un script d’orchestration et une historisation des données brutes.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d’abord ouvert le fichier de factures, qui contient 252 367 lignes et 38 colonnes. Je n’ai gardé que les colonnes utiles, puis j’ai filtré le secteur agriculture, la région Northern America et les pays USA et Canada. Cela donne 28 451 transactions sur la période 2007 à 2016. Pour enrichir ces ventes, j’ai collecté la météo via Open-Meteo, l’inflation et le PIB via la Banque mondiale, puis les taux d’intérêt et les prix du blé, du maïs et du soja via FRED.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préparation est importante parce qu’un modèle de séries temporelles peut facilement avoir de la fuite de données. J’ai donc agrégé les ventes par produit, pays et mois, créé un panel mensuel complet, et mis à zéro les mois sans ventes. Pour les Open Data, j’ai fait les jointures par date et pays, puis j’ai décalé toutes les variables externes d’un mois. J’ai créé quatre variables de retard sur les ventes : M1, M2, M12 et la moyenne mobile des trois mois précédents. Le dataset Machine Learning final contient 2 157 lignes, et il est assez intermittent : plus de la moitié des mois ont une demande nulle.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exploratoire montre plusieurs choses. Premièrement, la demande varie beaucoup dans le temps, avec des pics importants et des périodes plus faibles. Deuxièmement, le portefeuille est très concentré : la moissonneuse-batteuse combine harvester représente environ 67 % du volume vendu. Troisièmement, j’ai identifié environ 6,8 % de valeurs atypiques, mais je les ai gardées parce qu’elles peuvent être de vraies grosses commandes et non des erreurs. Cette variabilité explique pourquoi il faut comparer des modèles non linéaires et regarder des métriques robustes.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valider correctement le modèle, j’ai choisi un split temporel. Les données de 2008 à 2014 servent à l’entraînement et les années 2015-2016 servent au test. C’est important : un split aléatoire aurait mélangé passé et futur. J’utilise 17 variables : 13 numériques et 4 catégorielles. Dans un pipeline scikit-learn, je standardise les variables numériques et j’encode les catégories en One-Hot. Je compare trois modèles entraînés — Ridge, Random Forest et Gradient Boosting — à un modèle naïf M1 qui prédit simplement la valeur du mois précédent.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meilleur modèle est le Gradient Boosting. Son RMSE est de 77,5, contre 87,0 pour le modèle naïf, soit une amélioration de 10,92 %. Le R² est de 0,874, ce qui signifie que le modèle explique une grande partie de la variance. Le WAPE est de 35,85 %. J’ai utilisé le WAPE plutôt que le MAPE parce que près de la moitié des observations du test ont une demande nulle. Le biais global est légèrement négatif, autour de moins 2,6 %, donc le modèle sous-prédit un peu au total.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ensuite regardé l’importance des variables. Le résultat est très net : la vente du mois précédent représente environ 88,5 % de l’importance. Le prix du soja arrive loin derrière, autour de 2,6 %, puis la moyenne mobile sur trois mois. Cela montre que l’historique récent est le principal facteur prédictif. Les Open Data ne sont pas inutiles, mais leur contribution est plus faible. Il faut aussi préciser qu’une importance de variable ne prouve pas une relation causale.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l’évaluation, j’ai réentraîné le meilleur pipeline sur toutes les données disponibles, puis j’ai prévu 2017 de façon récursive. Concrètement, je prédis janvier, j’ajoute cette prévision à l’historique, puis elle sert à calculer les retards de février, et ainsi de suite. Pour les Open Data futures, j’ai dû faire une hypothèse : j’ai conservé les dernières valeurs connues de décembre 2016. Ensuite, j’ai calculé le stock de sécurité avec un coefficient 1,65, correspondant à un niveau de service proche de 95 %, et un délai d’approvisionnement supposé égal à un mois.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courbe montre le résultat métier final, agrégé sur les 24 séries produit-pays. La demande prédite sur 2017 représente environ 11 570 unités. Le mois le plus élevé est mai, avec environ 1 100 unités de demande prédite et un stock recommandé agrégé de 2 346 unités. Le stock recommandé reste volontairement supérieur à la demande parce qu’il intègre le stock de sécurité lié à l’incertitude du modèle. Le produit le plus critique reste la combine harvester, avec un stock cible mensuel maximal autour de 1 548 unités dans les fichiers finaux.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ne me suis pas arrêté au notebook. J’ai préparé les résultats pour une utilisation BI. J’ai créé une base SQLite avec 13 tables, dont trois dimensions — date, produit et région — et trois tables de faits principales : les ventes, les prédictions historiques et les prévisions de stock. J’ai aussi exporté les mêmes structures en CSV pour Power BI. Cela permet de séparer la partie Data Science de la partie restitution et de construire des indicateurs métier sans recalculer le modèle.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8A8"/>
          </a:solidFill>
          <a:ln w="12700">
            <a:solidFill>
              <a:srgbClr val="00A8A8"/>
            </a:solidFill>
            <a:prstDash val="solid"/>
          </a:ln>
        </p:spPr>
        <p:txBody>
          <a:bodyPr/>
          <a:lstStyle/>
          <a:p>
            <a:endParaRPr lang="fr-FR"/>
          </a:p>
        </p:txBody>
      </p:sp>
      <p:sp>
        <p:nvSpPr>
          <p:cNvPr id="25"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8A8"/>
          </a:solidFill>
          <a:ln w="12700">
            <a:solidFill>
              <a:srgbClr val="00A8A8"/>
            </a:solidFill>
            <a:prstDash val="solid"/>
          </a:ln>
        </p:spPr>
        <p:txBody>
          <a:bodyPr/>
          <a:lstStyle/>
          <a:p>
            <a:endParaRPr lang="fr-FR"/>
          </a:p>
        </p:txBody>
      </p:sp>
      <p:sp>
        <p:nvSpPr>
          <p:cNvPr id="4" name="Text 2"/>
          <p:cNvSpPr/>
          <p:nvPr/>
        </p:nvSpPr>
        <p:spPr>
          <a:xfrm>
            <a:off x="731520" y="1152144"/>
            <a:ext cx="6583680" cy="1417320"/>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Prédiction de stocks</a:t>
            </a:r>
            <a:endParaRPr lang="en-US" sz="3400" dirty="0"/>
          </a:p>
          <a:p>
            <a:pPr marL="0" indent="0">
              <a:buNone/>
            </a:pPr>
            <a:r>
              <a:rPr lang="en-US" sz="3400" b="1" dirty="0">
                <a:solidFill>
                  <a:srgbClr val="FFFFFF"/>
                </a:solidFill>
                <a:latin typeface="Aptos Display" pitchFamily="34" charset="0"/>
                <a:ea typeface="Aptos Display" pitchFamily="34" charset="-122"/>
                <a:cs typeface="Aptos Display" pitchFamily="34" charset="-120"/>
              </a:rPr>
              <a:t>par Machine Learning</a:t>
            </a:r>
            <a:endParaRPr lang="en-US" sz="3400" dirty="0"/>
          </a:p>
        </p:txBody>
      </p:sp>
      <p:sp>
        <p:nvSpPr>
          <p:cNvPr id="5" name="Text 3"/>
          <p:cNvSpPr/>
          <p:nvPr/>
        </p:nvSpPr>
        <p:spPr>
          <a:xfrm>
            <a:off x="749808" y="2770632"/>
            <a:ext cx="6309360" cy="402336"/>
          </a:xfrm>
          <a:prstGeom prst="rect">
            <a:avLst/>
          </a:prstGeom>
          <a:noFill/>
          <a:ln/>
        </p:spPr>
        <p:txBody>
          <a:bodyPr wrap="square" lIns="0" tIns="0" rIns="0" bIns="0" rtlCol="0" anchor="ctr">
            <a:normAutofit/>
          </a:bodyPr>
          <a:lstStyle/>
          <a:p>
            <a:pPr marL="0" indent="0">
              <a:buNone/>
            </a:pPr>
            <a:r>
              <a:rPr lang="en-US" sz="1650" dirty="0">
                <a:solidFill>
                  <a:srgbClr val="CBD7E5"/>
                </a:solidFill>
                <a:latin typeface="Aptos" pitchFamily="34" charset="0"/>
                <a:ea typeface="Aptos" pitchFamily="34" charset="-122"/>
                <a:cs typeface="Aptos" pitchFamily="34" charset="-120"/>
              </a:rPr>
              <a:t>De la facture brute à une recommandation de stock exploitable</a:t>
            </a:r>
            <a:endParaRPr lang="en-US" sz="1650" dirty="0"/>
          </a:p>
        </p:txBody>
      </p:sp>
      <p:sp>
        <p:nvSpPr>
          <p:cNvPr id="6" name="Text 4"/>
          <p:cNvSpPr/>
          <p:nvPr/>
        </p:nvSpPr>
        <p:spPr>
          <a:xfrm>
            <a:off x="749808" y="5440680"/>
            <a:ext cx="6035040" cy="256032"/>
          </a:xfrm>
          <a:prstGeom prst="rect">
            <a:avLst/>
          </a:prstGeom>
          <a:noFill/>
          <a:ln/>
        </p:spPr>
        <p:txBody>
          <a:bodyPr wrap="square" lIns="0" tIns="0" rIns="0" bIns="0" rtlCol="0" anchor="ctr"/>
          <a:lstStyle/>
          <a:p>
            <a:pPr marL="0" indent="0">
              <a:buNone/>
            </a:pPr>
            <a:r>
              <a:rPr lang="en-US" sz="1150" dirty="0">
                <a:solidFill>
                  <a:srgbClr val="8FA6BC"/>
                </a:solidFill>
                <a:latin typeface="Aptos" pitchFamily="34" charset="0"/>
                <a:ea typeface="Aptos" pitchFamily="34" charset="-122"/>
                <a:cs typeface="Aptos" pitchFamily="34" charset="-120"/>
              </a:rPr>
              <a:t>Projet de stage • Data Engineering • Data Science • BI</a:t>
            </a:r>
            <a:endParaRPr lang="en-US" sz="1150" dirty="0"/>
          </a:p>
        </p:txBody>
      </p:sp>
      <p:pic>
        <p:nvPicPr>
          <p:cNvPr id="7" name="Picture 6" descr="essin.png"/>
          <p:cNvPicPr>
            <a:picLocks noChangeAspect="1"/>
          </p:cNvPicPr>
          <p:nvPr/>
        </p:nvPicPr>
        <p:blipFill>
          <a:blip r:embed="rId3"/>
          <a:stretch>
            <a:fillRect/>
          </a:stretch>
        </p:blipFill>
        <p:spPr>
          <a:xfrm>
            <a:off x="8526780" y="1464851"/>
            <a:ext cx="2057400" cy="791905"/>
          </a:xfrm>
          <a:prstGeom prst="rect">
            <a:avLst/>
          </a:prstGeom>
        </p:spPr>
      </p:pic>
      <p:sp>
        <p:nvSpPr>
          <p:cNvPr id="8" name="TextBox 7"/>
          <p:cNvSpPr txBox="1"/>
          <p:nvPr/>
        </p:nvSpPr>
        <p:spPr>
          <a:xfrm>
            <a:off x="749808" y="4160520"/>
            <a:ext cx="7124192" cy="692497"/>
          </a:xfrm>
          <a:prstGeom prst="rect">
            <a:avLst/>
          </a:prstGeom>
          <a:noFill/>
        </p:spPr>
        <p:txBody>
          <a:bodyPr wrap="square" anchor="t">
            <a:spAutoFit/>
          </a:bodyPr>
          <a:lstStyle/>
          <a:p>
            <a:pPr lvl="0"/>
            <a:r>
              <a:rPr sz="1250" b="1" dirty="0" err="1">
                <a:solidFill>
                  <a:srgbClr val="FFFFFF"/>
                </a:solidFill>
                <a:latin typeface="Aptos"/>
              </a:rPr>
              <a:t>Présenté</a:t>
            </a:r>
            <a:r>
              <a:rPr sz="1250" b="1" dirty="0">
                <a:solidFill>
                  <a:srgbClr val="FFFFFF"/>
                </a:solidFill>
                <a:latin typeface="Aptos"/>
              </a:rPr>
              <a:t> par : Ryma DRISS</a:t>
            </a:r>
            <a:r>
              <a:rPr lang="fr-FR" sz="1250" b="1" dirty="0">
                <a:solidFill>
                  <a:srgbClr val="FFFFFF"/>
                </a:solidFill>
                <a:latin typeface="Aptos"/>
              </a:rPr>
              <a:t>  et </a:t>
            </a:r>
            <a:r>
              <a:rPr lang="fr-FR" sz="1250" b="1" dirty="0">
                <a:solidFill>
                  <a:schemeClr val="bg1"/>
                </a:solidFill>
              </a:rPr>
              <a:t>Mandy Flora MAFONANG KUETI</a:t>
            </a:r>
          </a:p>
          <a:p>
            <a:br>
              <a:rPr lang="fr-FR" sz="1400" dirty="0"/>
            </a:br>
            <a:endParaRPr sz="1250" b="1" dirty="0">
              <a:solidFill>
                <a:srgbClr val="FFFFFF"/>
              </a:solidFill>
              <a:latin typeface="Aptos"/>
            </a:endParaRPr>
          </a:p>
        </p:txBody>
      </p:sp>
      <p:sp>
        <p:nvSpPr>
          <p:cNvPr id="9" name="TextBox 8"/>
          <p:cNvSpPr txBox="1"/>
          <p:nvPr/>
        </p:nvSpPr>
        <p:spPr>
          <a:xfrm>
            <a:off x="749808" y="4480560"/>
            <a:ext cx="4389120" cy="269304"/>
          </a:xfrm>
          <a:prstGeom prst="rect">
            <a:avLst/>
          </a:prstGeom>
          <a:noFill/>
        </p:spPr>
        <p:txBody>
          <a:bodyPr wrap="square" anchor="t">
            <a:spAutoFit/>
          </a:bodyPr>
          <a:lstStyle/>
          <a:p>
            <a:r>
              <a:rPr sz="1150" b="1" dirty="0" err="1">
                <a:solidFill>
                  <a:srgbClr val="CBD7E5"/>
                </a:solidFill>
                <a:latin typeface="Aptos"/>
              </a:rPr>
              <a:t>Encadrant</a:t>
            </a:r>
            <a:r>
              <a:rPr sz="1150" b="1" dirty="0">
                <a:solidFill>
                  <a:srgbClr val="CBD7E5"/>
                </a:solidFill>
                <a:latin typeface="Aptos"/>
              </a:rPr>
              <a:t> : </a:t>
            </a:r>
            <a:r>
              <a:rPr lang="fr-FR" sz="1150" b="1" dirty="0">
                <a:solidFill>
                  <a:srgbClr val="CBD7E5"/>
                </a:solidFill>
              </a:rPr>
              <a:t>Yassine EL MAATAOUI</a:t>
            </a:r>
            <a:endParaRPr sz="1150" b="1" dirty="0">
              <a:solidFill>
                <a:srgbClr val="CBD7E5"/>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CONTEXTE &amp; OBJECTIF</a:t>
            </a:r>
            <a:endParaRPr lang="en-US" sz="950" dirty="0"/>
          </a:p>
        </p:txBody>
      </p:sp>
      <p:sp>
        <p:nvSpPr>
          <p:cNvPr id="3" name="Text 1"/>
          <p:cNvSpPr/>
          <p:nvPr/>
        </p:nvSpPr>
        <p:spPr>
          <a:xfrm>
            <a:off x="621792" y="612648"/>
            <a:ext cx="10744200" cy="475488"/>
          </a:xfrm>
          <a:prstGeom prst="rect">
            <a:avLst/>
          </a:prstGeom>
          <a:noFill/>
          <a:ln/>
        </p:spPr>
        <p:txBody>
          <a:bodyPr wrap="square" lIns="0" tIns="0" rIns="0" bIns="0" rtlCol="0" anchor="ctr">
            <a:normAutofit/>
          </a:bodyP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Le besoin métier</a:t>
            </a:r>
            <a:endParaRPr lang="en-US" sz="2600" dirty="0"/>
          </a:p>
        </p:txBody>
      </p:sp>
      <p:sp>
        <p:nvSpPr>
          <p:cNvPr id="4" name="Text 2"/>
          <p:cNvSpPr/>
          <p:nvPr/>
        </p:nvSpPr>
        <p:spPr>
          <a:xfrm>
            <a:off x="604568" y="1458468"/>
            <a:ext cx="6400800" cy="621792"/>
          </a:xfrm>
          <a:prstGeom prst="rect">
            <a:avLst/>
          </a:prstGeom>
          <a:noFill/>
          <a:ln/>
        </p:spPr>
        <p:txBody>
          <a:bodyPr wrap="square" lIns="0" tIns="0" rIns="0" bIns="0" rtlCol="0" anchor="ctr">
            <a:normAutofit fontScale="92500"/>
          </a:bodyPr>
          <a:lstStyle/>
          <a:p>
            <a:pPr marL="0" indent="0">
              <a:buNone/>
            </a:pPr>
            <a:r>
              <a:rPr lang="en-US" sz="1750" dirty="0">
                <a:solidFill>
                  <a:srgbClr val="172234"/>
                </a:solidFill>
                <a:latin typeface="Aptos" pitchFamily="34" charset="0"/>
                <a:ea typeface="Aptos" pitchFamily="34" charset="-122"/>
                <a:cs typeface="Aptos" pitchFamily="34" charset="-120"/>
              </a:rPr>
              <a:t>Le client veut anticiper la demande future pour mieux dimensionner les stocks de produits agricoles en Amérique du Nord.</a:t>
            </a:r>
            <a:endParaRPr lang="en-US" sz="1750" dirty="0"/>
          </a:p>
        </p:txBody>
      </p:sp>
      <p:sp>
        <p:nvSpPr>
          <p:cNvPr id="5" name="Text 3"/>
          <p:cNvSpPr/>
          <p:nvPr/>
        </p:nvSpPr>
        <p:spPr>
          <a:xfrm>
            <a:off x="713232" y="2478024"/>
            <a:ext cx="5989320" cy="3200400"/>
          </a:xfrm>
          <a:prstGeom prst="rect">
            <a:avLst/>
          </a:prstGeom>
          <a:noFill/>
          <a:ln/>
        </p:spPr>
        <p:txBody>
          <a:bodyPr wrap="square" lIns="254" tIns="254" rIns="254" bIns="254" rtlCol="0" anchor="t">
            <a:normAutofit/>
          </a:bodyPr>
          <a:lstStyle/>
          <a:p>
            <a:pPr marL="285750" lvl="0" indent="-285750">
              <a:buFont typeface="Arial" panose="020B0604020202020204" pitchFamily="34" charset="0"/>
              <a:buChar char="•"/>
            </a:pPr>
            <a:r>
              <a:rPr lang="fr-FR" sz="1400" dirty="0"/>
              <a:t>Utiliser environ 10 ans de factures pour analyser les ventes passées.</a:t>
            </a:r>
          </a:p>
          <a:p>
            <a:pPr marL="285750" lvl="0" indent="-285750">
              <a:buFont typeface="Arial" panose="020B0604020202020204" pitchFamily="34" charset="0"/>
              <a:buChar char="•"/>
            </a:pPr>
            <a:endParaRPr lang="fr-FR" sz="1400" dirty="0"/>
          </a:p>
          <a:p>
            <a:pPr marL="285750" lvl="0" indent="-285750">
              <a:buFont typeface="Arial" panose="020B0604020202020204" pitchFamily="34" charset="0"/>
              <a:buChar char="•"/>
            </a:pPr>
            <a:r>
              <a:rPr lang="fr-FR" sz="1400" dirty="0"/>
              <a:t>Ajouter d’autres informations qui peuvent influencer les ventes, comme la météo, la situation économique ou les données agricoles.</a:t>
            </a:r>
          </a:p>
          <a:p>
            <a:pPr marL="285750" lvl="0" indent="-285750">
              <a:buFont typeface="Arial" panose="020B0604020202020204" pitchFamily="34" charset="0"/>
              <a:buChar char="•"/>
            </a:pPr>
            <a:endParaRPr lang="fr-FR" sz="1400" dirty="0"/>
          </a:p>
          <a:p>
            <a:pPr marL="285750" lvl="0" indent="-285750">
              <a:buFont typeface="Arial" panose="020B0604020202020204" pitchFamily="34" charset="0"/>
              <a:buChar char="•"/>
            </a:pPr>
            <a:r>
              <a:rPr lang="fr-FR" sz="1400" dirty="0"/>
              <a:t>Tester plusieurs modèles de prédiction et comparer leurs résultats avec une méthode simple : utiliser les ventes du mois précédent comme prévision.</a:t>
            </a:r>
          </a:p>
          <a:p>
            <a:pPr marL="285750" lvl="0" indent="-285750">
              <a:buFont typeface="Arial" panose="020B0604020202020204" pitchFamily="34" charset="0"/>
              <a:buChar char="•"/>
            </a:pPr>
            <a:endParaRPr lang="fr-FR" sz="1400" dirty="0"/>
          </a:p>
          <a:p>
            <a:pPr marL="285750" lvl="0" indent="-285750">
              <a:buFont typeface="Arial" panose="020B0604020202020204" pitchFamily="34" charset="0"/>
              <a:buChar char="•"/>
            </a:pPr>
            <a:r>
              <a:rPr lang="fr-FR" sz="1400" dirty="0"/>
              <a:t>À la fin, produire des prévisions pour estimer les ventes futures et mieux anticiper les besoins en stock.</a:t>
            </a:r>
          </a:p>
        </p:txBody>
      </p:sp>
      <p:sp>
        <p:nvSpPr>
          <p:cNvPr id="6" name="Shape 4"/>
          <p:cNvSpPr/>
          <p:nvPr/>
        </p:nvSpPr>
        <p:spPr>
          <a:xfrm>
            <a:off x="7360920" y="1298448"/>
            <a:ext cx="4096512" cy="4114800"/>
          </a:xfrm>
          <a:prstGeom prst="roundRect">
            <a:avLst>
              <a:gd name="adj" fmla="val 1786"/>
            </a:avLst>
          </a:prstGeom>
          <a:solidFill>
            <a:srgbClr val="FFFFFF"/>
          </a:solidFill>
          <a:ln w="12700">
            <a:solidFill>
              <a:srgbClr val="E1E7F0"/>
            </a:solidFill>
            <a:prstDash val="solid"/>
          </a:ln>
          <a:effectLst>
            <a:outerShdw blurRad="25400" dist="12700" dir="2700000" algn="bl" rotWithShape="0">
              <a:srgbClr val="1A2B42">
                <a:alpha val="16000"/>
              </a:srgbClr>
            </a:outerShdw>
          </a:effectLst>
        </p:spPr>
        <p:txBody>
          <a:bodyPr/>
          <a:lstStyle/>
          <a:p>
            <a:endParaRPr lang="fr-FR"/>
          </a:p>
        </p:txBody>
      </p:sp>
      <p:sp>
        <p:nvSpPr>
          <p:cNvPr id="7" name="Text 5"/>
          <p:cNvSpPr/>
          <p:nvPr/>
        </p:nvSpPr>
        <p:spPr>
          <a:xfrm>
            <a:off x="7635240" y="1627632"/>
            <a:ext cx="1645920" cy="182880"/>
          </a:xfrm>
          <a:prstGeom prst="rect">
            <a:avLst/>
          </a:prstGeom>
          <a:noFill/>
          <a:ln/>
        </p:spPr>
        <p:txBody>
          <a:bodyPr wrap="square" lIns="0" tIns="0" rIns="0" bIns="0" rtlCol="0" anchor="ctr"/>
          <a:lstStyle/>
          <a:p>
            <a:pPr marL="0" indent="0">
              <a:buNone/>
            </a:pPr>
            <a:r>
              <a:rPr lang="en-US" sz="950" b="1" kern="0" spc="100" dirty="0">
                <a:solidFill>
                  <a:srgbClr val="00A8A8"/>
                </a:solidFill>
                <a:latin typeface="Aptos" pitchFamily="34" charset="0"/>
                <a:ea typeface="Aptos" pitchFamily="34" charset="-122"/>
                <a:cs typeface="Aptos" pitchFamily="34" charset="-120"/>
              </a:rPr>
              <a:t>OBJECTIF FINAL</a:t>
            </a:r>
            <a:endParaRPr lang="en-US" sz="950" dirty="0"/>
          </a:p>
        </p:txBody>
      </p:sp>
      <p:sp>
        <p:nvSpPr>
          <p:cNvPr id="8" name="Text 6"/>
          <p:cNvSpPr/>
          <p:nvPr/>
        </p:nvSpPr>
        <p:spPr>
          <a:xfrm>
            <a:off x="7635240" y="1993392"/>
            <a:ext cx="3383280" cy="841248"/>
          </a:xfrm>
          <a:prstGeom prst="rect">
            <a:avLst/>
          </a:prstGeom>
          <a:noFill/>
          <a:ln/>
        </p:spPr>
        <p:txBody>
          <a:bodyPr wrap="square" lIns="0" tIns="0" rIns="0" bIns="0" rtlCol="0" anchor="ctr">
            <a:normAutofit fontScale="92500" lnSpcReduction="20000"/>
          </a:bodyPr>
          <a:lstStyle/>
          <a:p>
            <a:pPr marL="0" indent="0">
              <a:buNone/>
            </a:pPr>
            <a:r>
              <a:rPr lang="en-US" sz="2300" b="1" dirty="0">
                <a:solidFill>
                  <a:srgbClr val="0B1F3A"/>
                </a:solidFill>
                <a:latin typeface="Aptos Display" pitchFamily="34" charset="0"/>
                <a:ea typeface="Aptos Display" pitchFamily="34" charset="-122"/>
                <a:cs typeface="Aptos Display" pitchFamily="34" charset="-120"/>
              </a:rPr>
              <a:t>Passer de la demande historique</a:t>
            </a:r>
            <a:endParaRPr lang="en-US" sz="2300" dirty="0"/>
          </a:p>
          <a:p>
            <a:pPr marL="0" indent="0">
              <a:buNone/>
            </a:pPr>
            <a:r>
              <a:rPr lang="en-US" sz="2300" b="1" dirty="0">
                <a:solidFill>
                  <a:srgbClr val="0B1F3A"/>
                </a:solidFill>
                <a:latin typeface="Aptos Display" pitchFamily="34" charset="0"/>
                <a:ea typeface="Aptos Display" pitchFamily="34" charset="-122"/>
                <a:cs typeface="Aptos Display" pitchFamily="34" charset="-120"/>
              </a:rPr>
              <a:t>à une décision de stock</a:t>
            </a:r>
            <a:endParaRPr lang="en-US" sz="2300" dirty="0"/>
          </a:p>
        </p:txBody>
      </p:sp>
      <p:sp>
        <p:nvSpPr>
          <p:cNvPr id="9" name="Shape 7"/>
          <p:cNvSpPr/>
          <p:nvPr/>
        </p:nvSpPr>
        <p:spPr>
          <a:xfrm>
            <a:off x="7662672" y="3108960"/>
            <a:ext cx="420624" cy="420624"/>
          </a:xfrm>
          <a:prstGeom prst="ellipse">
            <a:avLst/>
          </a:prstGeom>
          <a:solidFill>
            <a:srgbClr val="3F7FC4"/>
          </a:solidFill>
          <a:ln w="12700">
            <a:solidFill>
              <a:srgbClr val="3F7FC4"/>
            </a:solidFill>
            <a:prstDash val="solid"/>
          </a:ln>
        </p:spPr>
        <p:txBody>
          <a:bodyPr/>
          <a:lstStyle/>
          <a:p>
            <a:endParaRPr lang="fr-FR"/>
          </a:p>
        </p:txBody>
      </p:sp>
      <p:sp>
        <p:nvSpPr>
          <p:cNvPr id="10" name="Text 8"/>
          <p:cNvSpPr/>
          <p:nvPr/>
        </p:nvSpPr>
        <p:spPr>
          <a:xfrm>
            <a:off x="7662672" y="3236976"/>
            <a:ext cx="420624"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1</a:t>
            </a:r>
            <a:endParaRPr lang="en-US" sz="950" dirty="0"/>
          </a:p>
        </p:txBody>
      </p:sp>
      <p:sp>
        <p:nvSpPr>
          <p:cNvPr id="11" name="Text 9"/>
          <p:cNvSpPr/>
          <p:nvPr/>
        </p:nvSpPr>
        <p:spPr>
          <a:xfrm>
            <a:off x="8247888" y="3090672"/>
            <a:ext cx="2514600" cy="228600"/>
          </a:xfrm>
          <a:prstGeom prst="rect">
            <a:avLst/>
          </a:prstGeom>
          <a:noFill/>
          <a:ln/>
        </p:spPr>
        <p:txBody>
          <a:bodyPr wrap="square" lIns="0" tIns="0" rIns="0" bIns="0" rtlCol="0" anchor="ctr"/>
          <a:lstStyle/>
          <a:p>
            <a:pPr marL="0" indent="0">
              <a:buNone/>
            </a:pPr>
            <a:r>
              <a:rPr lang="en-US" sz="1250" b="1" dirty="0">
                <a:solidFill>
                  <a:srgbClr val="0B1F3A"/>
                </a:solidFill>
                <a:latin typeface="Aptos Display" pitchFamily="34" charset="0"/>
                <a:ea typeface="Aptos Display" pitchFamily="34" charset="-122"/>
                <a:cs typeface="Aptos Display" pitchFamily="34" charset="-120"/>
              </a:rPr>
              <a:t>Prévoir la demande</a:t>
            </a:r>
            <a:endParaRPr lang="en-US" sz="1250" dirty="0"/>
          </a:p>
        </p:txBody>
      </p:sp>
      <p:sp>
        <p:nvSpPr>
          <p:cNvPr id="12" name="Text 10"/>
          <p:cNvSpPr/>
          <p:nvPr/>
        </p:nvSpPr>
        <p:spPr>
          <a:xfrm>
            <a:off x="8247888" y="3374136"/>
            <a:ext cx="2651760" cy="201168"/>
          </a:xfrm>
          <a:prstGeom prst="rect">
            <a:avLst/>
          </a:prstGeom>
          <a:noFill/>
          <a:ln/>
        </p:spPr>
        <p:txBody>
          <a:bodyPr wrap="square" lIns="0" tIns="0" rIns="0" bIns="0" rtlCol="0" anchor="ctr"/>
          <a:lstStyle/>
          <a:p>
            <a:pPr marL="0" indent="0">
              <a:buNone/>
            </a:pPr>
            <a:r>
              <a:rPr lang="en-US" sz="950" dirty="0">
                <a:solidFill>
                  <a:srgbClr val="657389"/>
                </a:solidFill>
                <a:latin typeface="Aptos" pitchFamily="34" charset="0"/>
                <a:ea typeface="Aptos" pitchFamily="34" charset="-122"/>
                <a:cs typeface="Aptos" pitchFamily="34" charset="-120"/>
              </a:rPr>
              <a:t>quantité mensuelle attendue</a:t>
            </a:r>
            <a:endParaRPr lang="en-US" sz="950" dirty="0"/>
          </a:p>
        </p:txBody>
      </p:sp>
      <p:sp>
        <p:nvSpPr>
          <p:cNvPr id="13" name="Shape 11"/>
          <p:cNvSpPr/>
          <p:nvPr/>
        </p:nvSpPr>
        <p:spPr>
          <a:xfrm>
            <a:off x="7662672" y="3822192"/>
            <a:ext cx="420624" cy="420624"/>
          </a:xfrm>
          <a:prstGeom prst="ellipse">
            <a:avLst/>
          </a:prstGeom>
          <a:solidFill>
            <a:srgbClr val="F59E0B"/>
          </a:solidFill>
          <a:ln w="12700">
            <a:solidFill>
              <a:srgbClr val="F59E0B"/>
            </a:solidFill>
            <a:prstDash val="solid"/>
          </a:ln>
        </p:spPr>
        <p:txBody>
          <a:bodyPr/>
          <a:lstStyle/>
          <a:p>
            <a:endParaRPr lang="fr-FR"/>
          </a:p>
        </p:txBody>
      </p:sp>
      <p:sp>
        <p:nvSpPr>
          <p:cNvPr id="14" name="Text 12"/>
          <p:cNvSpPr/>
          <p:nvPr/>
        </p:nvSpPr>
        <p:spPr>
          <a:xfrm>
            <a:off x="7662672" y="3950208"/>
            <a:ext cx="420624"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2</a:t>
            </a:r>
            <a:endParaRPr lang="en-US" sz="950" dirty="0"/>
          </a:p>
        </p:txBody>
      </p:sp>
      <p:sp>
        <p:nvSpPr>
          <p:cNvPr id="15" name="Text 13"/>
          <p:cNvSpPr/>
          <p:nvPr/>
        </p:nvSpPr>
        <p:spPr>
          <a:xfrm>
            <a:off x="8247888" y="3803904"/>
            <a:ext cx="2514600" cy="228600"/>
          </a:xfrm>
          <a:prstGeom prst="rect">
            <a:avLst/>
          </a:prstGeom>
          <a:noFill/>
          <a:ln/>
        </p:spPr>
        <p:txBody>
          <a:bodyPr wrap="square" lIns="0" tIns="0" rIns="0" bIns="0" rtlCol="0" anchor="ctr"/>
          <a:lstStyle/>
          <a:p>
            <a:pPr marL="0" indent="0">
              <a:buNone/>
            </a:pPr>
            <a:r>
              <a:rPr lang="en-US" sz="1250" b="1" dirty="0">
                <a:solidFill>
                  <a:srgbClr val="0B1F3A"/>
                </a:solidFill>
                <a:latin typeface="Aptos Display" pitchFamily="34" charset="0"/>
                <a:ea typeface="Aptos Display" pitchFamily="34" charset="-122"/>
                <a:cs typeface="Aptos Display" pitchFamily="34" charset="-120"/>
              </a:rPr>
              <a:t>Mesurer l’incertitude</a:t>
            </a:r>
            <a:endParaRPr lang="en-US" sz="1250" dirty="0"/>
          </a:p>
        </p:txBody>
      </p:sp>
      <p:sp>
        <p:nvSpPr>
          <p:cNvPr id="16" name="Text 14"/>
          <p:cNvSpPr/>
          <p:nvPr/>
        </p:nvSpPr>
        <p:spPr>
          <a:xfrm>
            <a:off x="8247888" y="4087368"/>
            <a:ext cx="2651760" cy="201168"/>
          </a:xfrm>
          <a:prstGeom prst="rect">
            <a:avLst/>
          </a:prstGeom>
          <a:noFill/>
          <a:ln/>
        </p:spPr>
        <p:txBody>
          <a:bodyPr wrap="square" lIns="0" tIns="0" rIns="0" bIns="0" rtlCol="0" anchor="ctr"/>
          <a:lstStyle/>
          <a:p>
            <a:pPr marL="0" indent="0">
              <a:buNone/>
            </a:pPr>
            <a:r>
              <a:rPr lang="en-US" sz="950" dirty="0">
                <a:solidFill>
                  <a:srgbClr val="657389"/>
                </a:solidFill>
                <a:latin typeface="Aptos" pitchFamily="34" charset="0"/>
                <a:ea typeface="Aptos" pitchFamily="34" charset="-122"/>
                <a:cs typeface="Aptos" pitchFamily="34" charset="-120"/>
              </a:rPr>
              <a:t>erreurs historiques du modèle</a:t>
            </a:r>
            <a:endParaRPr lang="en-US" sz="950" dirty="0"/>
          </a:p>
        </p:txBody>
      </p:sp>
      <p:sp>
        <p:nvSpPr>
          <p:cNvPr id="17" name="Shape 15"/>
          <p:cNvSpPr/>
          <p:nvPr/>
        </p:nvSpPr>
        <p:spPr>
          <a:xfrm>
            <a:off x="7662672" y="4535424"/>
            <a:ext cx="420624" cy="420624"/>
          </a:xfrm>
          <a:prstGeom prst="ellipse">
            <a:avLst/>
          </a:prstGeom>
          <a:solidFill>
            <a:srgbClr val="2F9E6D"/>
          </a:solidFill>
          <a:ln w="12700">
            <a:solidFill>
              <a:srgbClr val="2F9E6D"/>
            </a:solidFill>
            <a:prstDash val="solid"/>
          </a:ln>
        </p:spPr>
        <p:txBody>
          <a:bodyPr/>
          <a:lstStyle/>
          <a:p>
            <a:endParaRPr lang="fr-FR"/>
          </a:p>
        </p:txBody>
      </p:sp>
      <p:sp>
        <p:nvSpPr>
          <p:cNvPr id="18" name="Text 16"/>
          <p:cNvSpPr/>
          <p:nvPr/>
        </p:nvSpPr>
        <p:spPr>
          <a:xfrm>
            <a:off x="7662672" y="4663440"/>
            <a:ext cx="420624"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3</a:t>
            </a:r>
            <a:endParaRPr lang="en-US" sz="950" dirty="0"/>
          </a:p>
        </p:txBody>
      </p:sp>
      <p:sp>
        <p:nvSpPr>
          <p:cNvPr id="19" name="Text 17"/>
          <p:cNvSpPr/>
          <p:nvPr/>
        </p:nvSpPr>
        <p:spPr>
          <a:xfrm>
            <a:off x="8247888" y="4517136"/>
            <a:ext cx="2514600" cy="228600"/>
          </a:xfrm>
          <a:prstGeom prst="rect">
            <a:avLst/>
          </a:prstGeom>
          <a:noFill/>
          <a:ln/>
        </p:spPr>
        <p:txBody>
          <a:bodyPr wrap="square" lIns="0" tIns="0" rIns="0" bIns="0" rtlCol="0" anchor="ctr"/>
          <a:lstStyle/>
          <a:p>
            <a:pPr marL="0" indent="0">
              <a:buNone/>
            </a:pPr>
            <a:r>
              <a:rPr lang="en-US" sz="1250" b="1" dirty="0">
                <a:solidFill>
                  <a:srgbClr val="0B1F3A"/>
                </a:solidFill>
                <a:latin typeface="Aptos Display" pitchFamily="34" charset="0"/>
                <a:ea typeface="Aptos Display" pitchFamily="34" charset="-122"/>
                <a:cs typeface="Aptos Display" pitchFamily="34" charset="-120"/>
              </a:rPr>
              <a:t>Recommander un stock</a:t>
            </a:r>
            <a:endParaRPr lang="en-US" sz="1250" dirty="0"/>
          </a:p>
        </p:txBody>
      </p:sp>
      <p:sp>
        <p:nvSpPr>
          <p:cNvPr id="20" name="Text 18"/>
          <p:cNvSpPr/>
          <p:nvPr/>
        </p:nvSpPr>
        <p:spPr>
          <a:xfrm>
            <a:off x="8247888" y="4800600"/>
            <a:ext cx="2651760" cy="201168"/>
          </a:xfrm>
          <a:prstGeom prst="rect">
            <a:avLst/>
          </a:prstGeom>
          <a:noFill/>
          <a:ln/>
        </p:spPr>
        <p:txBody>
          <a:bodyPr wrap="square" lIns="0" tIns="0" rIns="0" bIns="0" rtlCol="0" anchor="ctr"/>
          <a:lstStyle/>
          <a:p>
            <a:pPr marL="0" indent="0">
              <a:buNone/>
            </a:pPr>
            <a:r>
              <a:rPr lang="en-US" sz="950" dirty="0">
                <a:solidFill>
                  <a:srgbClr val="657389"/>
                </a:solidFill>
                <a:latin typeface="Aptos" pitchFamily="34" charset="0"/>
                <a:ea typeface="Aptos" pitchFamily="34" charset="-122"/>
                <a:cs typeface="Aptos" pitchFamily="34" charset="-120"/>
              </a:rPr>
              <a:t>sécurité + stock cible</a:t>
            </a:r>
            <a:endParaRPr lang="en-US" sz="950" dirty="0"/>
          </a:p>
        </p:txBody>
      </p:sp>
      <p:sp>
        <p:nvSpPr>
          <p:cNvPr id="21" name="Text 19"/>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25"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DÉMARCHE</a:t>
            </a:r>
            <a:endParaRPr lang="en-US" sz="950" dirty="0"/>
          </a:p>
        </p:txBody>
      </p:sp>
      <p:sp>
        <p:nvSpPr>
          <p:cNvPr id="3" name="Text 1"/>
          <p:cNvSpPr/>
          <p:nvPr/>
        </p:nvSpPr>
        <p:spPr>
          <a:xfrm>
            <a:off x="621792" y="612648"/>
            <a:ext cx="10744200" cy="475488"/>
          </a:xfrm>
          <a:prstGeom prst="rect">
            <a:avLst/>
          </a:prstGeom>
          <a:noFill/>
          <a:ln/>
        </p:spPr>
        <p:txBody>
          <a:bodyPr wrap="square" lIns="0" tIns="0" rIns="0" bIns="0" rtlCol="0" anchor="ctr">
            <a:normAutofit/>
          </a:bodyP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Pipeline </a:t>
            </a:r>
            <a:r>
              <a:rPr lang="en-US" sz="2600" b="1" dirty="0" err="1">
                <a:solidFill>
                  <a:srgbClr val="0B1F3A"/>
                </a:solidFill>
                <a:latin typeface="Aptos Display" pitchFamily="34" charset="0"/>
                <a:ea typeface="Aptos Display" pitchFamily="34" charset="-122"/>
                <a:cs typeface="Aptos Display" pitchFamily="34" charset="-120"/>
              </a:rPr>
              <a:t>réalisé</a:t>
            </a:r>
            <a:endParaRPr lang="en-US" sz="2600" dirty="0"/>
          </a:p>
        </p:txBody>
      </p:sp>
      <p:sp>
        <p:nvSpPr>
          <p:cNvPr id="4" name="Shape 2"/>
          <p:cNvSpPr/>
          <p:nvPr/>
        </p:nvSpPr>
        <p:spPr>
          <a:xfrm>
            <a:off x="530352" y="1508760"/>
            <a:ext cx="1335024" cy="960120"/>
          </a:xfrm>
          <a:prstGeom prst="roundRect">
            <a:avLst>
              <a:gd name="adj" fmla="val 6667"/>
            </a:avLst>
          </a:prstGeom>
          <a:solidFill>
            <a:srgbClr val="FFFFFF"/>
          </a:solidFill>
          <a:ln w="10160">
            <a:solidFill>
              <a:srgbClr val="E0E6EE"/>
            </a:solidFill>
            <a:prstDash val="solid"/>
          </a:ln>
          <a:effectLst>
            <a:outerShdw blurRad="322580000" dist="161290000" algn="bl" rotWithShape="0">
              <a:srgbClr val="1A2B42">
                <a:alpha val="0"/>
              </a:srgbClr>
            </a:outerShdw>
          </a:effectLst>
        </p:spPr>
        <p:txBody>
          <a:bodyPr/>
          <a:lstStyle/>
          <a:p>
            <a:endParaRPr lang="fr-FR"/>
          </a:p>
        </p:txBody>
      </p:sp>
      <p:sp>
        <p:nvSpPr>
          <p:cNvPr id="5" name="Shape 3"/>
          <p:cNvSpPr/>
          <p:nvPr/>
        </p:nvSpPr>
        <p:spPr>
          <a:xfrm>
            <a:off x="640080" y="1636776"/>
            <a:ext cx="365760" cy="365760"/>
          </a:xfrm>
          <a:prstGeom prst="ellipse">
            <a:avLst/>
          </a:prstGeom>
          <a:solidFill>
            <a:srgbClr val="00A8A8"/>
          </a:solidFill>
          <a:ln w="12700">
            <a:solidFill>
              <a:srgbClr val="00A8A8"/>
            </a:solidFill>
            <a:prstDash val="solid"/>
          </a:ln>
        </p:spPr>
        <p:txBody>
          <a:bodyPr/>
          <a:lstStyle/>
          <a:p>
            <a:endParaRPr lang="fr-FR"/>
          </a:p>
        </p:txBody>
      </p:sp>
      <p:sp>
        <p:nvSpPr>
          <p:cNvPr id="6" name="Text 4"/>
          <p:cNvSpPr/>
          <p:nvPr/>
        </p:nvSpPr>
        <p:spPr>
          <a:xfrm>
            <a:off x="640080" y="1723644"/>
            <a:ext cx="365760"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1</a:t>
            </a:r>
            <a:endParaRPr lang="en-US" sz="1050" dirty="0"/>
          </a:p>
        </p:txBody>
      </p:sp>
      <p:sp>
        <p:nvSpPr>
          <p:cNvPr id="7" name="Text 5"/>
          <p:cNvSpPr/>
          <p:nvPr/>
        </p:nvSpPr>
        <p:spPr>
          <a:xfrm>
            <a:off x="1097280" y="1655064"/>
            <a:ext cx="676656" cy="246888"/>
          </a:xfrm>
          <a:prstGeom prst="rect">
            <a:avLst/>
          </a:prstGeom>
          <a:noFill/>
          <a:ln/>
        </p:spPr>
        <p:txBody>
          <a:bodyPr wrap="square" lIns="0" tIns="0" rIns="0" bIns="0" rtlCol="0" anchor="ctr">
            <a:normAutofit/>
          </a:bodyPr>
          <a:lstStyle/>
          <a:p>
            <a:pPr marL="0" indent="0">
              <a:buNone/>
            </a:pPr>
            <a:r>
              <a:rPr lang="en-US" sz="1240" b="1" dirty="0" err="1">
                <a:solidFill>
                  <a:srgbClr val="0B1F3A"/>
                </a:solidFill>
                <a:latin typeface="Aptos Display" pitchFamily="34" charset="0"/>
                <a:ea typeface="Aptos Display" pitchFamily="34" charset="-122"/>
                <a:cs typeface="Aptos Display" pitchFamily="34" charset="-120"/>
              </a:rPr>
              <a:t>Collecte</a:t>
            </a:r>
            <a:endParaRPr lang="en-US" sz="1240" dirty="0"/>
          </a:p>
        </p:txBody>
      </p:sp>
      <p:sp>
        <p:nvSpPr>
          <p:cNvPr id="8" name="Text 6"/>
          <p:cNvSpPr/>
          <p:nvPr/>
        </p:nvSpPr>
        <p:spPr>
          <a:xfrm>
            <a:off x="1097280" y="1965960"/>
            <a:ext cx="676656" cy="310896"/>
          </a:xfrm>
          <a:prstGeom prst="rect">
            <a:avLst/>
          </a:prstGeom>
          <a:noFill/>
          <a:ln/>
        </p:spPr>
        <p:txBody>
          <a:bodyPr wrap="square" lIns="0" tIns="0" rIns="0" bIns="0" rtlCol="0" anchor="ctr">
            <a:normAutofit/>
          </a:bodyPr>
          <a:lstStyle/>
          <a:p>
            <a:pPr marL="0" indent="0">
              <a:buNone/>
            </a:pPr>
            <a:r>
              <a:rPr lang="en-US" sz="950" dirty="0">
                <a:solidFill>
                  <a:srgbClr val="657389"/>
                </a:solidFill>
                <a:latin typeface="Aptos" pitchFamily="34" charset="0"/>
                <a:ea typeface="Aptos" pitchFamily="34" charset="-122"/>
                <a:cs typeface="Aptos" pitchFamily="34" charset="-120"/>
              </a:rPr>
              <a:t>Factures + Open Data</a:t>
            </a:r>
            <a:endParaRPr lang="en-US" sz="950" dirty="0"/>
          </a:p>
        </p:txBody>
      </p:sp>
      <p:sp>
        <p:nvSpPr>
          <p:cNvPr id="9" name="Shape 7"/>
          <p:cNvSpPr/>
          <p:nvPr/>
        </p:nvSpPr>
        <p:spPr>
          <a:xfrm>
            <a:off x="1929384" y="1828800"/>
            <a:ext cx="210312" cy="310896"/>
          </a:xfrm>
          <a:prstGeom prst="chevron">
            <a:avLst/>
          </a:prstGeom>
          <a:solidFill>
            <a:srgbClr val="C7D0DC"/>
          </a:solidFill>
          <a:ln w="12700">
            <a:solidFill>
              <a:srgbClr val="C7D0DC"/>
            </a:solidFill>
            <a:prstDash val="solid"/>
          </a:ln>
        </p:spPr>
        <p:txBody>
          <a:bodyPr/>
          <a:lstStyle/>
          <a:p>
            <a:endParaRPr lang="fr-FR"/>
          </a:p>
        </p:txBody>
      </p:sp>
      <p:sp>
        <p:nvSpPr>
          <p:cNvPr id="10" name="Shape 8"/>
          <p:cNvSpPr/>
          <p:nvPr/>
        </p:nvSpPr>
        <p:spPr>
          <a:xfrm>
            <a:off x="2167128" y="1508760"/>
            <a:ext cx="1335024" cy="960120"/>
          </a:xfrm>
          <a:prstGeom prst="roundRect">
            <a:avLst>
              <a:gd name="adj" fmla="val 6667"/>
            </a:avLst>
          </a:prstGeom>
          <a:solidFill>
            <a:srgbClr val="FFFFFF"/>
          </a:solidFill>
          <a:ln w="10160">
            <a:solidFill>
              <a:srgbClr val="E0E6EE"/>
            </a:solidFill>
            <a:prstDash val="solid"/>
          </a:ln>
          <a:effectLst>
            <a:outerShdw algn="bl" rotWithShape="0">
              <a:srgbClr val="1A2B42">
                <a:alpha val="0"/>
              </a:srgbClr>
            </a:outerShdw>
          </a:effectLst>
        </p:spPr>
        <p:txBody>
          <a:bodyPr/>
          <a:lstStyle/>
          <a:p>
            <a:endParaRPr lang="fr-FR"/>
          </a:p>
        </p:txBody>
      </p:sp>
      <p:sp>
        <p:nvSpPr>
          <p:cNvPr id="11" name="Shape 9"/>
          <p:cNvSpPr/>
          <p:nvPr/>
        </p:nvSpPr>
        <p:spPr>
          <a:xfrm>
            <a:off x="2276856" y="1636776"/>
            <a:ext cx="365760" cy="365760"/>
          </a:xfrm>
          <a:prstGeom prst="ellipse">
            <a:avLst/>
          </a:prstGeom>
          <a:solidFill>
            <a:srgbClr val="3F7FC4"/>
          </a:solidFill>
          <a:ln w="12700">
            <a:solidFill>
              <a:srgbClr val="3F7FC4"/>
            </a:solidFill>
            <a:prstDash val="solid"/>
          </a:ln>
        </p:spPr>
        <p:txBody>
          <a:bodyPr/>
          <a:lstStyle/>
          <a:p>
            <a:endParaRPr lang="fr-FR"/>
          </a:p>
        </p:txBody>
      </p:sp>
      <p:sp>
        <p:nvSpPr>
          <p:cNvPr id="12" name="Text 10"/>
          <p:cNvSpPr/>
          <p:nvPr/>
        </p:nvSpPr>
        <p:spPr>
          <a:xfrm>
            <a:off x="2276856" y="1723644"/>
            <a:ext cx="365760"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13" name="Text 11"/>
          <p:cNvSpPr/>
          <p:nvPr/>
        </p:nvSpPr>
        <p:spPr>
          <a:xfrm>
            <a:off x="2734056" y="1655064"/>
            <a:ext cx="676656" cy="246888"/>
          </a:xfrm>
          <a:prstGeom prst="rect">
            <a:avLst/>
          </a:prstGeom>
          <a:noFill/>
          <a:ln/>
        </p:spPr>
        <p:txBody>
          <a:bodyPr wrap="square" lIns="0" tIns="0" rIns="0" bIns="0" rtlCol="0" anchor="ctr">
            <a:normAutofit/>
          </a:bodyPr>
          <a:lstStyle/>
          <a:p>
            <a:pPr marL="0" indent="0">
              <a:buNone/>
            </a:pPr>
            <a:r>
              <a:rPr lang="en-US" sz="1240" b="1" dirty="0">
                <a:solidFill>
                  <a:srgbClr val="0B1F3A"/>
                </a:solidFill>
                <a:latin typeface="Aptos Display" pitchFamily="34" charset="0"/>
                <a:ea typeface="Aptos Display" pitchFamily="34" charset="-122"/>
                <a:cs typeface="Aptos Display" pitchFamily="34" charset="-120"/>
              </a:rPr>
              <a:t>Filtrage</a:t>
            </a:r>
            <a:endParaRPr lang="en-US" sz="1240" dirty="0"/>
          </a:p>
        </p:txBody>
      </p:sp>
      <p:sp>
        <p:nvSpPr>
          <p:cNvPr id="14" name="Text 12"/>
          <p:cNvSpPr/>
          <p:nvPr/>
        </p:nvSpPr>
        <p:spPr>
          <a:xfrm>
            <a:off x="2734056" y="1965960"/>
            <a:ext cx="676656" cy="310896"/>
          </a:xfrm>
          <a:prstGeom prst="rect">
            <a:avLst/>
          </a:prstGeom>
          <a:noFill/>
          <a:ln/>
        </p:spPr>
        <p:txBody>
          <a:bodyPr wrap="square" lIns="0" tIns="0" rIns="0" bIns="0" rtlCol="0" anchor="ctr">
            <a:normAutofit/>
          </a:bodyPr>
          <a:lstStyle/>
          <a:p>
            <a:pPr marL="0" indent="0">
              <a:buNone/>
            </a:pPr>
            <a:r>
              <a:rPr lang="en-US" sz="950" dirty="0">
                <a:solidFill>
                  <a:srgbClr val="657389"/>
                </a:solidFill>
                <a:latin typeface="Aptos" pitchFamily="34" charset="0"/>
                <a:ea typeface="Aptos" pitchFamily="34" charset="-122"/>
                <a:cs typeface="Aptos" pitchFamily="34" charset="-120"/>
              </a:rPr>
              <a:t>Agriculture • USA/CAN</a:t>
            </a:r>
            <a:endParaRPr lang="en-US" sz="950" dirty="0"/>
          </a:p>
        </p:txBody>
      </p:sp>
      <p:sp>
        <p:nvSpPr>
          <p:cNvPr id="15" name="Shape 13"/>
          <p:cNvSpPr/>
          <p:nvPr/>
        </p:nvSpPr>
        <p:spPr>
          <a:xfrm>
            <a:off x="3566160" y="1828800"/>
            <a:ext cx="210312" cy="310896"/>
          </a:xfrm>
          <a:prstGeom prst="chevron">
            <a:avLst/>
          </a:prstGeom>
          <a:solidFill>
            <a:srgbClr val="C7D0DC"/>
          </a:solidFill>
          <a:ln w="12700">
            <a:solidFill>
              <a:srgbClr val="C7D0DC"/>
            </a:solidFill>
            <a:prstDash val="solid"/>
          </a:ln>
        </p:spPr>
        <p:txBody>
          <a:bodyPr/>
          <a:lstStyle/>
          <a:p>
            <a:endParaRPr lang="fr-FR"/>
          </a:p>
        </p:txBody>
      </p:sp>
      <p:sp>
        <p:nvSpPr>
          <p:cNvPr id="16" name="Shape 14"/>
          <p:cNvSpPr/>
          <p:nvPr/>
        </p:nvSpPr>
        <p:spPr>
          <a:xfrm>
            <a:off x="3803904" y="1508760"/>
            <a:ext cx="1335024" cy="960120"/>
          </a:xfrm>
          <a:prstGeom prst="roundRect">
            <a:avLst>
              <a:gd name="adj" fmla="val 6667"/>
            </a:avLst>
          </a:prstGeom>
          <a:solidFill>
            <a:srgbClr val="FFFFFF"/>
          </a:solidFill>
          <a:ln w="10160">
            <a:solidFill>
              <a:srgbClr val="E0E6EE"/>
            </a:solidFill>
            <a:prstDash val="solid"/>
          </a:ln>
          <a:effectLst>
            <a:outerShdw algn="bl" rotWithShape="0">
              <a:srgbClr val="1A2B42">
                <a:alpha val="0"/>
              </a:srgbClr>
            </a:outerShdw>
          </a:effectLst>
        </p:spPr>
        <p:txBody>
          <a:bodyPr/>
          <a:lstStyle/>
          <a:p>
            <a:endParaRPr lang="fr-FR"/>
          </a:p>
        </p:txBody>
      </p:sp>
      <p:sp>
        <p:nvSpPr>
          <p:cNvPr id="17" name="Shape 15"/>
          <p:cNvSpPr/>
          <p:nvPr/>
        </p:nvSpPr>
        <p:spPr>
          <a:xfrm>
            <a:off x="3913632" y="1636776"/>
            <a:ext cx="365760" cy="365760"/>
          </a:xfrm>
          <a:prstGeom prst="ellipse">
            <a:avLst/>
          </a:prstGeom>
          <a:solidFill>
            <a:srgbClr val="2F9E6D"/>
          </a:solidFill>
          <a:ln w="12700">
            <a:solidFill>
              <a:srgbClr val="2F9E6D"/>
            </a:solidFill>
            <a:prstDash val="solid"/>
          </a:ln>
        </p:spPr>
        <p:txBody>
          <a:bodyPr/>
          <a:lstStyle/>
          <a:p>
            <a:endParaRPr lang="fr-FR"/>
          </a:p>
        </p:txBody>
      </p:sp>
      <p:sp>
        <p:nvSpPr>
          <p:cNvPr id="18" name="Text 16"/>
          <p:cNvSpPr/>
          <p:nvPr/>
        </p:nvSpPr>
        <p:spPr>
          <a:xfrm>
            <a:off x="3913632" y="1723644"/>
            <a:ext cx="365760"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3</a:t>
            </a:r>
            <a:endParaRPr lang="en-US" sz="1050" dirty="0"/>
          </a:p>
        </p:txBody>
      </p:sp>
      <p:sp>
        <p:nvSpPr>
          <p:cNvPr id="19" name="Text 17"/>
          <p:cNvSpPr/>
          <p:nvPr/>
        </p:nvSpPr>
        <p:spPr>
          <a:xfrm>
            <a:off x="4370832" y="1655064"/>
            <a:ext cx="676656" cy="246888"/>
          </a:xfrm>
          <a:prstGeom prst="rect">
            <a:avLst/>
          </a:prstGeom>
          <a:noFill/>
          <a:ln/>
        </p:spPr>
        <p:txBody>
          <a:bodyPr wrap="square" lIns="0" tIns="0" rIns="0" bIns="0" rtlCol="0" anchor="ctr">
            <a:normAutofit fontScale="77500" lnSpcReduction="20000"/>
          </a:bodyPr>
          <a:lstStyle/>
          <a:p>
            <a:pPr marL="0" indent="0">
              <a:buNone/>
            </a:pPr>
            <a:r>
              <a:rPr lang="en-US" sz="1240" b="1" dirty="0">
                <a:solidFill>
                  <a:srgbClr val="0B1F3A"/>
                </a:solidFill>
                <a:latin typeface="Aptos Display" pitchFamily="34" charset="0"/>
                <a:ea typeface="Aptos Display" pitchFamily="34" charset="-122"/>
                <a:cs typeface="Aptos Display" pitchFamily="34" charset="-120"/>
              </a:rPr>
              <a:t>Préparation</a:t>
            </a:r>
            <a:endParaRPr lang="en-US" sz="1240" dirty="0"/>
          </a:p>
        </p:txBody>
      </p:sp>
      <p:sp>
        <p:nvSpPr>
          <p:cNvPr id="20" name="Text 18"/>
          <p:cNvSpPr/>
          <p:nvPr/>
        </p:nvSpPr>
        <p:spPr>
          <a:xfrm>
            <a:off x="4370832" y="1965960"/>
            <a:ext cx="676656" cy="310896"/>
          </a:xfrm>
          <a:prstGeom prst="rect">
            <a:avLst/>
          </a:prstGeom>
          <a:noFill/>
          <a:ln/>
        </p:spPr>
        <p:txBody>
          <a:bodyPr wrap="square" lIns="0" tIns="0" rIns="0" bIns="0" rtlCol="0" anchor="ctr">
            <a:normAutofit/>
          </a:bodyPr>
          <a:lstStyle/>
          <a:p>
            <a:pPr marL="0" indent="0">
              <a:buNone/>
            </a:pPr>
            <a:r>
              <a:rPr lang="en-US" sz="950" dirty="0" err="1">
                <a:solidFill>
                  <a:srgbClr val="657389"/>
                </a:solidFill>
                <a:latin typeface="Aptos" pitchFamily="34" charset="0"/>
                <a:ea typeface="Aptos" pitchFamily="34" charset="-122"/>
                <a:cs typeface="Aptos" pitchFamily="34" charset="-120"/>
              </a:rPr>
              <a:t>Nettoyage</a:t>
            </a:r>
            <a:r>
              <a:rPr lang="en-US" sz="950" dirty="0">
                <a:solidFill>
                  <a:srgbClr val="657389"/>
                </a:solidFill>
                <a:latin typeface="Aptos" pitchFamily="34" charset="0"/>
                <a:ea typeface="Aptos" pitchFamily="34" charset="-122"/>
                <a:cs typeface="Aptos" pitchFamily="34" charset="-120"/>
              </a:rPr>
              <a:t> des données</a:t>
            </a:r>
            <a:endParaRPr lang="en-US" sz="950" dirty="0"/>
          </a:p>
        </p:txBody>
      </p:sp>
      <p:sp>
        <p:nvSpPr>
          <p:cNvPr id="21" name="Shape 19"/>
          <p:cNvSpPr/>
          <p:nvPr/>
        </p:nvSpPr>
        <p:spPr>
          <a:xfrm>
            <a:off x="5202936" y="1828800"/>
            <a:ext cx="210312" cy="310896"/>
          </a:xfrm>
          <a:prstGeom prst="chevron">
            <a:avLst/>
          </a:prstGeom>
          <a:solidFill>
            <a:srgbClr val="C7D0DC"/>
          </a:solidFill>
          <a:ln w="12700">
            <a:solidFill>
              <a:srgbClr val="C7D0DC"/>
            </a:solidFill>
            <a:prstDash val="solid"/>
          </a:ln>
        </p:spPr>
        <p:txBody>
          <a:bodyPr/>
          <a:lstStyle/>
          <a:p>
            <a:endParaRPr lang="fr-FR"/>
          </a:p>
        </p:txBody>
      </p:sp>
      <p:sp>
        <p:nvSpPr>
          <p:cNvPr id="22" name="Shape 20"/>
          <p:cNvSpPr/>
          <p:nvPr/>
        </p:nvSpPr>
        <p:spPr>
          <a:xfrm>
            <a:off x="5440680" y="1508760"/>
            <a:ext cx="1335024" cy="960120"/>
          </a:xfrm>
          <a:prstGeom prst="roundRect">
            <a:avLst>
              <a:gd name="adj" fmla="val 6667"/>
            </a:avLst>
          </a:prstGeom>
          <a:solidFill>
            <a:srgbClr val="FFFFFF"/>
          </a:solidFill>
          <a:ln w="10160">
            <a:solidFill>
              <a:srgbClr val="E0E6EE"/>
            </a:solidFill>
            <a:prstDash val="solid"/>
          </a:ln>
          <a:effectLst>
            <a:outerShdw algn="bl" rotWithShape="0">
              <a:srgbClr val="1A2B42">
                <a:alpha val="0"/>
              </a:srgbClr>
            </a:outerShdw>
          </a:effectLst>
        </p:spPr>
        <p:txBody>
          <a:bodyPr/>
          <a:lstStyle/>
          <a:p>
            <a:endParaRPr lang="fr-FR"/>
          </a:p>
        </p:txBody>
      </p:sp>
      <p:sp>
        <p:nvSpPr>
          <p:cNvPr id="23" name="Shape 21"/>
          <p:cNvSpPr/>
          <p:nvPr/>
        </p:nvSpPr>
        <p:spPr>
          <a:xfrm>
            <a:off x="5550408" y="1636776"/>
            <a:ext cx="365760" cy="365760"/>
          </a:xfrm>
          <a:prstGeom prst="ellipse">
            <a:avLst/>
          </a:prstGeom>
          <a:solidFill>
            <a:srgbClr val="F59E0B"/>
          </a:solidFill>
          <a:ln w="12700">
            <a:solidFill>
              <a:srgbClr val="F59E0B"/>
            </a:solidFill>
            <a:prstDash val="solid"/>
          </a:ln>
        </p:spPr>
        <p:txBody>
          <a:bodyPr/>
          <a:lstStyle/>
          <a:p>
            <a:endParaRPr lang="fr-FR"/>
          </a:p>
        </p:txBody>
      </p:sp>
      <p:sp>
        <p:nvSpPr>
          <p:cNvPr id="24" name="Text 22"/>
          <p:cNvSpPr/>
          <p:nvPr/>
        </p:nvSpPr>
        <p:spPr>
          <a:xfrm>
            <a:off x="5550408" y="1723644"/>
            <a:ext cx="365760"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4</a:t>
            </a:r>
            <a:endParaRPr lang="en-US" sz="1050" dirty="0"/>
          </a:p>
        </p:txBody>
      </p:sp>
      <p:sp>
        <p:nvSpPr>
          <p:cNvPr id="25" name="Text 23"/>
          <p:cNvSpPr/>
          <p:nvPr/>
        </p:nvSpPr>
        <p:spPr>
          <a:xfrm>
            <a:off x="6007608" y="1655064"/>
            <a:ext cx="676656" cy="246888"/>
          </a:xfrm>
          <a:prstGeom prst="rect">
            <a:avLst/>
          </a:prstGeom>
          <a:noFill/>
          <a:ln/>
        </p:spPr>
        <p:txBody>
          <a:bodyPr wrap="square" lIns="0" tIns="0" rIns="0" bIns="0" rtlCol="0" anchor="ctr">
            <a:noAutofit/>
          </a:bodyPr>
          <a:lstStyle/>
          <a:p>
            <a:r>
              <a:rPr lang="fr-FR" sz="1000" b="1" dirty="0"/>
              <a:t>Analyse des ventes</a:t>
            </a:r>
            <a:endParaRPr lang="en-US" sz="1000" b="1" dirty="0"/>
          </a:p>
        </p:txBody>
      </p:sp>
      <p:sp>
        <p:nvSpPr>
          <p:cNvPr id="26" name="Text 24"/>
          <p:cNvSpPr/>
          <p:nvPr/>
        </p:nvSpPr>
        <p:spPr>
          <a:xfrm>
            <a:off x="5989320" y="2029968"/>
            <a:ext cx="676656" cy="310896"/>
          </a:xfrm>
          <a:prstGeom prst="rect">
            <a:avLst/>
          </a:prstGeom>
          <a:noFill/>
          <a:ln/>
        </p:spPr>
        <p:txBody>
          <a:bodyPr wrap="square" lIns="0" tIns="0" rIns="0" bIns="0" rtlCol="0" anchor="ctr">
            <a:noAutofit/>
          </a:bodyPr>
          <a:lstStyle/>
          <a:p>
            <a:r>
              <a:rPr lang="fr-FR" sz="900" dirty="0">
                <a:solidFill>
                  <a:schemeClr val="tx2"/>
                </a:solidFill>
              </a:rPr>
              <a:t>Comprendre l’évolution des ventes</a:t>
            </a:r>
            <a:endParaRPr lang="en-US" sz="900" dirty="0">
              <a:solidFill>
                <a:schemeClr val="tx2"/>
              </a:solidFill>
            </a:endParaRPr>
          </a:p>
        </p:txBody>
      </p:sp>
      <p:sp>
        <p:nvSpPr>
          <p:cNvPr id="27" name="Shape 25"/>
          <p:cNvSpPr/>
          <p:nvPr/>
        </p:nvSpPr>
        <p:spPr>
          <a:xfrm>
            <a:off x="6839712" y="1828800"/>
            <a:ext cx="210312" cy="310896"/>
          </a:xfrm>
          <a:prstGeom prst="chevron">
            <a:avLst/>
          </a:prstGeom>
          <a:solidFill>
            <a:srgbClr val="C7D0DC"/>
          </a:solidFill>
          <a:ln w="12700">
            <a:solidFill>
              <a:srgbClr val="C7D0DC"/>
            </a:solidFill>
            <a:prstDash val="solid"/>
          </a:ln>
        </p:spPr>
        <p:txBody>
          <a:bodyPr/>
          <a:lstStyle/>
          <a:p>
            <a:endParaRPr lang="fr-FR"/>
          </a:p>
        </p:txBody>
      </p:sp>
      <p:sp>
        <p:nvSpPr>
          <p:cNvPr id="28" name="Shape 26"/>
          <p:cNvSpPr/>
          <p:nvPr/>
        </p:nvSpPr>
        <p:spPr>
          <a:xfrm>
            <a:off x="7077456" y="1508760"/>
            <a:ext cx="1335024" cy="960120"/>
          </a:xfrm>
          <a:prstGeom prst="roundRect">
            <a:avLst>
              <a:gd name="adj" fmla="val 6667"/>
            </a:avLst>
          </a:prstGeom>
          <a:solidFill>
            <a:srgbClr val="FFFFFF"/>
          </a:solidFill>
          <a:ln w="10160">
            <a:solidFill>
              <a:srgbClr val="E0E6EE"/>
            </a:solidFill>
            <a:prstDash val="solid"/>
          </a:ln>
          <a:effectLst>
            <a:outerShdw algn="bl" rotWithShape="0">
              <a:srgbClr val="1A2B42">
                <a:alpha val="0"/>
              </a:srgbClr>
            </a:outerShdw>
          </a:effectLst>
        </p:spPr>
        <p:txBody>
          <a:bodyPr/>
          <a:lstStyle/>
          <a:p>
            <a:endParaRPr lang="fr-FR"/>
          </a:p>
        </p:txBody>
      </p:sp>
      <p:sp>
        <p:nvSpPr>
          <p:cNvPr id="29" name="Shape 27"/>
          <p:cNvSpPr/>
          <p:nvPr/>
        </p:nvSpPr>
        <p:spPr>
          <a:xfrm>
            <a:off x="7187184" y="1636776"/>
            <a:ext cx="365760" cy="365760"/>
          </a:xfrm>
          <a:prstGeom prst="ellipse">
            <a:avLst/>
          </a:prstGeom>
          <a:solidFill>
            <a:srgbClr val="00A8A8"/>
          </a:solidFill>
          <a:ln w="12700">
            <a:solidFill>
              <a:srgbClr val="00A8A8"/>
            </a:solidFill>
            <a:prstDash val="solid"/>
          </a:ln>
        </p:spPr>
        <p:txBody>
          <a:bodyPr/>
          <a:lstStyle/>
          <a:p>
            <a:endParaRPr lang="fr-FR"/>
          </a:p>
        </p:txBody>
      </p:sp>
      <p:sp>
        <p:nvSpPr>
          <p:cNvPr id="30" name="Text 28"/>
          <p:cNvSpPr/>
          <p:nvPr/>
        </p:nvSpPr>
        <p:spPr>
          <a:xfrm>
            <a:off x="7187184" y="1723644"/>
            <a:ext cx="365760"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5</a:t>
            </a:r>
            <a:endParaRPr lang="en-US" sz="1050" dirty="0"/>
          </a:p>
        </p:txBody>
      </p:sp>
      <p:sp>
        <p:nvSpPr>
          <p:cNvPr id="31" name="Text 29"/>
          <p:cNvSpPr/>
          <p:nvPr/>
        </p:nvSpPr>
        <p:spPr>
          <a:xfrm>
            <a:off x="7584948" y="1618488"/>
            <a:ext cx="891540" cy="347472"/>
          </a:xfrm>
          <a:prstGeom prst="rect">
            <a:avLst/>
          </a:prstGeom>
          <a:noFill/>
          <a:ln/>
        </p:spPr>
        <p:txBody>
          <a:bodyPr wrap="square" lIns="0" tIns="0" rIns="0" bIns="0" rtlCol="0" anchor="ctr">
            <a:noAutofit/>
          </a:bodyPr>
          <a:lstStyle/>
          <a:p>
            <a:r>
              <a:rPr lang="fr-FR" sz="1000" b="1" dirty="0"/>
              <a:t>Création d’informations utiles</a:t>
            </a:r>
            <a:endParaRPr lang="en-US" sz="1000" b="1" dirty="0"/>
          </a:p>
        </p:txBody>
      </p:sp>
      <p:sp>
        <p:nvSpPr>
          <p:cNvPr id="32" name="Text 30"/>
          <p:cNvSpPr/>
          <p:nvPr/>
        </p:nvSpPr>
        <p:spPr>
          <a:xfrm>
            <a:off x="7552944" y="2083456"/>
            <a:ext cx="676656" cy="310896"/>
          </a:xfrm>
          <a:prstGeom prst="rect">
            <a:avLst/>
          </a:prstGeom>
          <a:noFill/>
          <a:ln/>
        </p:spPr>
        <p:txBody>
          <a:bodyPr wrap="square" lIns="0" tIns="0" rIns="0" bIns="0" rtlCol="0" anchor="ctr">
            <a:noAutofit/>
          </a:bodyPr>
          <a:lstStyle/>
          <a:p>
            <a:r>
              <a:rPr lang="fr-FR" sz="900" dirty="0">
                <a:solidFill>
                  <a:schemeClr val="tx2"/>
                </a:solidFill>
              </a:rPr>
              <a:t>créé de nouvelles informations</a:t>
            </a:r>
            <a:endParaRPr lang="en-US" sz="900" dirty="0">
              <a:solidFill>
                <a:schemeClr val="tx2"/>
              </a:solidFill>
            </a:endParaRPr>
          </a:p>
        </p:txBody>
      </p:sp>
      <p:sp>
        <p:nvSpPr>
          <p:cNvPr id="33" name="Shape 31"/>
          <p:cNvSpPr/>
          <p:nvPr/>
        </p:nvSpPr>
        <p:spPr>
          <a:xfrm>
            <a:off x="8476488" y="1828800"/>
            <a:ext cx="210312" cy="310896"/>
          </a:xfrm>
          <a:prstGeom prst="chevron">
            <a:avLst/>
          </a:prstGeom>
          <a:solidFill>
            <a:srgbClr val="C7D0DC"/>
          </a:solidFill>
          <a:ln w="12700">
            <a:solidFill>
              <a:srgbClr val="C7D0DC"/>
            </a:solidFill>
            <a:prstDash val="solid"/>
          </a:ln>
        </p:spPr>
        <p:txBody>
          <a:bodyPr/>
          <a:lstStyle/>
          <a:p>
            <a:endParaRPr lang="fr-FR"/>
          </a:p>
        </p:txBody>
      </p:sp>
      <p:sp>
        <p:nvSpPr>
          <p:cNvPr id="34" name="Shape 32"/>
          <p:cNvSpPr/>
          <p:nvPr/>
        </p:nvSpPr>
        <p:spPr>
          <a:xfrm>
            <a:off x="8714232" y="1508760"/>
            <a:ext cx="1335024" cy="960120"/>
          </a:xfrm>
          <a:prstGeom prst="roundRect">
            <a:avLst>
              <a:gd name="adj" fmla="val 6667"/>
            </a:avLst>
          </a:prstGeom>
          <a:solidFill>
            <a:srgbClr val="FFFFFF"/>
          </a:solidFill>
          <a:ln w="10160">
            <a:solidFill>
              <a:srgbClr val="E0E6EE"/>
            </a:solidFill>
            <a:prstDash val="solid"/>
          </a:ln>
          <a:effectLst>
            <a:outerShdw algn="bl" rotWithShape="0">
              <a:srgbClr val="1A2B42">
                <a:alpha val="0"/>
              </a:srgbClr>
            </a:outerShdw>
          </a:effectLst>
        </p:spPr>
        <p:txBody>
          <a:bodyPr/>
          <a:lstStyle/>
          <a:p>
            <a:endParaRPr lang="fr-FR"/>
          </a:p>
        </p:txBody>
      </p:sp>
      <p:sp>
        <p:nvSpPr>
          <p:cNvPr id="35" name="Shape 33"/>
          <p:cNvSpPr/>
          <p:nvPr/>
        </p:nvSpPr>
        <p:spPr>
          <a:xfrm>
            <a:off x="8823960" y="1636776"/>
            <a:ext cx="365760" cy="365760"/>
          </a:xfrm>
          <a:prstGeom prst="ellipse">
            <a:avLst/>
          </a:prstGeom>
          <a:solidFill>
            <a:srgbClr val="3F7FC4"/>
          </a:solidFill>
          <a:ln w="12700">
            <a:solidFill>
              <a:srgbClr val="3F7FC4"/>
            </a:solidFill>
            <a:prstDash val="solid"/>
          </a:ln>
        </p:spPr>
        <p:txBody>
          <a:bodyPr/>
          <a:lstStyle/>
          <a:p>
            <a:endParaRPr lang="fr-FR"/>
          </a:p>
        </p:txBody>
      </p:sp>
      <p:sp>
        <p:nvSpPr>
          <p:cNvPr id="36" name="Text 34"/>
          <p:cNvSpPr/>
          <p:nvPr/>
        </p:nvSpPr>
        <p:spPr>
          <a:xfrm>
            <a:off x="8823960" y="1723644"/>
            <a:ext cx="365760"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6</a:t>
            </a:r>
            <a:endParaRPr lang="en-US" sz="1050" dirty="0"/>
          </a:p>
        </p:txBody>
      </p:sp>
      <p:sp>
        <p:nvSpPr>
          <p:cNvPr id="37" name="Text 35"/>
          <p:cNvSpPr/>
          <p:nvPr/>
        </p:nvSpPr>
        <p:spPr>
          <a:xfrm>
            <a:off x="9281160" y="1655064"/>
            <a:ext cx="676656" cy="246888"/>
          </a:xfrm>
          <a:prstGeom prst="rect">
            <a:avLst/>
          </a:prstGeom>
          <a:noFill/>
          <a:ln/>
        </p:spPr>
        <p:txBody>
          <a:bodyPr wrap="square" lIns="0" tIns="0" rIns="0" bIns="0" rtlCol="0" anchor="ctr">
            <a:noAutofit/>
          </a:bodyPr>
          <a:lstStyle/>
          <a:p>
            <a:r>
              <a:rPr lang="fr-FR" sz="1000" b="1" dirty="0"/>
              <a:t>Test des modèles de prédiction</a:t>
            </a:r>
            <a:endParaRPr lang="en-US" sz="1000" b="1" dirty="0"/>
          </a:p>
        </p:txBody>
      </p:sp>
      <p:sp>
        <p:nvSpPr>
          <p:cNvPr id="38" name="Text 36"/>
          <p:cNvSpPr/>
          <p:nvPr/>
        </p:nvSpPr>
        <p:spPr>
          <a:xfrm>
            <a:off x="9253728" y="2070539"/>
            <a:ext cx="676656" cy="310896"/>
          </a:xfrm>
          <a:prstGeom prst="rect">
            <a:avLst/>
          </a:prstGeom>
          <a:noFill/>
          <a:ln/>
        </p:spPr>
        <p:txBody>
          <a:bodyPr wrap="square" lIns="0" tIns="0" rIns="0" bIns="0" rtlCol="0" anchor="ctr">
            <a:normAutofit fontScale="92500"/>
          </a:bodyPr>
          <a:lstStyle/>
          <a:p>
            <a:pPr marL="0" indent="0">
              <a:buNone/>
            </a:pPr>
            <a:r>
              <a:rPr lang="en-US" sz="950" dirty="0">
                <a:solidFill>
                  <a:srgbClr val="657389"/>
                </a:solidFill>
                <a:latin typeface="Aptos" pitchFamily="34" charset="0"/>
                <a:ea typeface="Aptos" pitchFamily="34" charset="-122"/>
                <a:cs typeface="Aptos" pitchFamily="34" charset="-120"/>
              </a:rPr>
              <a:t>Comparaison + évaluation</a:t>
            </a:r>
            <a:endParaRPr lang="en-US" sz="950" dirty="0"/>
          </a:p>
        </p:txBody>
      </p:sp>
      <p:sp>
        <p:nvSpPr>
          <p:cNvPr id="39" name="Shape 37"/>
          <p:cNvSpPr/>
          <p:nvPr/>
        </p:nvSpPr>
        <p:spPr>
          <a:xfrm>
            <a:off x="10113264" y="1828800"/>
            <a:ext cx="210312" cy="310896"/>
          </a:xfrm>
          <a:prstGeom prst="chevron">
            <a:avLst/>
          </a:prstGeom>
          <a:solidFill>
            <a:srgbClr val="C7D0DC"/>
          </a:solidFill>
          <a:ln w="12700">
            <a:solidFill>
              <a:srgbClr val="C7D0DC"/>
            </a:solidFill>
            <a:prstDash val="solid"/>
          </a:ln>
        </p:spPr>
        <p:txBody>
          <a:bodyPr/>
          <a:lstStyle/>
          <a:p>
            <a:endParaRPr lang="fr-FR"/>
          </a:p>
        </p:txBody>
      </p:sp>
      <p:sp>
        <p:nvSpPr>
          <p:cNvPr id="40" name="Shape 38"/>
          <p:cNvSpPr/>
          <p:nvPr/>
        </p:nvSpPr>
        <p:spPr>
          <a:xfrm>
            <a:off x="10351008" y="1508760"/>
            <a:ext cx="1335024" cy="960120"/>
          </a:xfrm>
          <a:prstGeom prst="roundRect">
            <a:avLst>
              <a:gd name="adj" fmla="val 6667"/>
            </a:avLst>
          </a:prstGeom>
          <a:solidFill>
            <a:srgbClr val="FFFFFF"/>
          </a:solidFill>
          <a:ln w="10160">
            <a:solidFill>
              <a:srgbClr val="E0E6EE"/>
            </a:solidFill>
            <a:prstDash val="solid"/>
          </a:ln>
          <a:effectLst>
            <a:outerShdw algn="bl" rotWithShape="0">
              <a:srgbClr val="1A2B42">
                <a:alpha val="0"/>
              </a:srgbClr>
            </a:outerShdw>
          </a:effectLst>
        </p:spPr>
        <p:txBody>
          <a:bodyPr/>
          <a:lstStyle/>
          <a:p>
            <a:endParaRPr lang="fr-FR"/>
          </a:p>
        </p:txBody>
      </p:sp>
      <p:sp>
        <p:nvSpPr>
          <p:cNvPr id="41" name="Shape 39"/>
          <p:cNvSpPr/>
          <p:nvPr/>
        </p:nvSpPr>
        <p:spPr>
          <a:xfrm>
            <a:off x="10460736" y="1636776"/>
            <a:ext cx="365760" cy="365760"/>
          </a:xfrm>
          <a:prstGeom prst="ellipse">
            <a:avLst/>
          </a:prstGeom>
          <a:solidFill>
            <a:srgbClr val="F59E0B"/>
          </a:solidFill>
          <a:ln w="12700">
            <a:solidFill>
              <a:srgbClr val="F59E0B"/>
            </a:solidFill>
            <a:prstDash val="solid"/>
          </a:ln>
        </p:spPr>
        <p:txBody>
          <a:bodyPr/>
          <a:lstStyle/>
          <a:p>
            <a:endParaRPr lang="fr-FR"/>
          </a:p>
        </p:txBody>
      </p:sp>
      <p:sp>
        <p:nvSpPr>
          <p:cNvPr id="42" name="Text 40"/>
          <p:cNvSpPr/>
          <p:nvPr/>
        </p:nvSpPr>
        <p:spPr>
          <a:xfrm>
            <a:off x="10460736" y="1723644"/>
            <a:ext cx="365760"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7</a:t>
            </a:r>
            <a:endParaRPr lang="en-US" sz="1050" dirty="0"/>
          </a:p>
        </p:txBody>
      </p:sp>
      <p:sp>
        <p:nvSpPr>
          <p:cNvPr id="43" name="Text 41"/>
          <p:cNvSpPr/>
          <p:nvPr/>
        </p:nvSpPr>
        <p:spPr>
          <a:xfrm>
            <a:off x="10917936" y="1655064"/>
            <a:ext cx="676656" cy="246888"/>
          </a:xfrm>
          <a:prstGeom prst="rect">
            <a:avLst/>
          </a:prstGeom>
          <a:noFill/>
          <a:ln/>
        </p:spPr>
        <p:txBody>
          <a:bodyPr wrap="square" lIns="0" tIns="0" rIns="0" bIns="0" rtlCol="0" anchor="ctr">
            <a:normAutofit/>
          </a:bodyPr>
          <a:lstStyle/>
          <a:p>
            <a:pPr marL="0" indent="0">
              <a:buNone/>
            </a:pPr>
            <a:r>
              <a:rPr lang="en-US" sz="1240" b="1" dirty="0">
                <a:solidFill>
                  <a:srgbClr val="0B1F3A"/>
                </a:solidFill>
                <a:latin typeface="Aptos Display" pitchFamily="34" charset="0"/>
                <a:ea typeface="Aptos Display" pitchFamily="34" charset="-122"/>
                <a:cs typeface="Aptos Display" pitchFamily="34" charset="-120"/>
              </a:rPr>
              <a:t>Prévision</a:t>
            </a:r>
            <a:endParaRPr lang="en-US" sz="1240" dirty="0"/>
          </a:p>
        </p:txBody>
      </p:sp>
      <p:sp>
        <p:nvSpPr>
          <p:cNvPr id="44" name="Text 42"/>
          <p:cNvSpPr/>
          <p:nvPr/>
        </p:nvSpPr>
        <p:spPr>
          <a:xfrm>
            <a:off x="10917936" y="2048256"/>
            <a:ext cx="676656" cy="310896"/>
          </a:xfrm>
          <a:prstGeom prst="rect">
            <a:avLst/>
          </a:prstGeom>
          <a:noFill/>
          <a:ln/>
        </p:spPr>
        <p:txBody>
          <a:bodyPr wrap="square" lIns="0" tIns="0" rIns="0" bIns="0" rtlCol="0" anchor="ctr">
            <a:noAutofit/>
          </a:bodyPr>
          <a:lstStyle/>
          <a:p>
            <a:r>
              <a:rPr lang="fr-FR" sz="900" dirty="0">
                <a:solidFill>
                  <a:schemeClr val="tx2"/>
                </a:solidFill>
              </a:rPr>
              <a:t>Prévoir les ventes futures</a:t>
            </a:r>
            <a:endParaRPr lang="en-US" sz="900" dirty="0">
              <a:solidFill>
                <a:schemeClr val="tx2"/>
              </a:solidFill>
            </a:endParaRPr>
          </a:p>
        </p:txBody>
      </p:sp>
      <p:sp>
        <p:nvSpPr>
          <p:cNvPr id="45" name="Text 43"/>
          <p:cNvSpPr/>
          <p:nvPr/>
        </p:nvSpPr>
        <p:spPr>
          <a:xfrm>
            <a:off x="658368" y="2999232"/>
            <a:ext cx="2103120" cy="274320"/>
          </a:xfrm>
          <a:prstGeom prst="rect">
            <a:avLst/>
          </a:prstGeom>
          <a:noFill/>
          <a:ln/>
        </p:spPr>
        <p:txBody>
          <a:bodyPr wrap="square" lIns="0" tIns="0" rIns="0" bIns="0" rtlCol="0" anchor="ctr"/>
          <a:lstStyle/>
          <a:p>
            <a:pPr marL="0" indent="0">
              <a:buNone/>
            </a:pPr>
            <a:r>
              <a:rPr lang="en-US" sz="1500" b="1" dirty="0">
                <a:solidFill>
                  <a:srgbClr val="0B1F3A"/>
                </a:solidFill>
                <a:latin typeface="Aptos Display" pitchFamily="34" charset="0"/>
                <a:ea typeface="Aptos Display" pitchFamily="34" charset="-122"/>
                <a:cs typeface="Aptos Display" pitchFamily="34" charset="-120"/>
              </a:rPr>
              <a:t>Livrables générés</a:t>
            </a:r>
            <a:endParaRPr lang="en-US" sz="1500" dirty="0"/>
          </a:p>
        </p:txBody>
      </p:sp>
      <p:sp>
        <p:nvSpPr>
          <p:cNvPr id="46" name="Shape 44"/>
          <p:cNvSpPr/>
          <p:nvPr/>
        </p:nvSpPr>
        <p:spPr>
          <a:xfrm>
            <a:off x="658368" y="3456432"/>
            <a:ext cx="2560320" cy="1417320"/>
          </a:xfrm>
          <a:prstGeom prst="roundRect">
            <a:avLst>
              <a:gd name="adj" fmla="val 5161"/>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47" name="Shape 45"/>
          <p:cNvSpPr/>
          <p:nvPr/>
        </p:nvSpPr>
        <p:spPr>
          <a:xfrm>
            <a:off x="658368" y="3456432"/>
            <a:ext cx="64008" cy="1417320"/>
          </a:xfrm>
          <a:prstGeom prst="rect">
            <a:avLst/>
          </a:prstGeom>
          <a:solidFill>
            <a:srgbClr val="00A8A8"/>
          </a:solidFill>
          <a:ln w="12700">
            <a:solidFill>
              <a:srgbClr val="00A8A8"/>
            </a:solidFill>
            <a:prstDash val="solid"/>
          </a:ln>
        </p:spPr>
        <p:txBody>
          <a:bodyPr/>
          <a:lstStyle/>
          <a:p>
            <a:endParaRPr lang="fr-FR"/>
          </a:p>
        </p:txBody>
      </p:sp>
      <p:sp>
        <p:nvSpPr>
          <p:cNvPr id="48" name="Text 46"/>
          <p:cNvSpPr/>
          <p:nvPr/>
        </p:nvSpPr>
        <p:spPr>
          <a:xfrm>
            <a:off x="859536" y="3639312"/>
            <a:ext cx="2157984" cy="310896"/>
          </a:xfrm>
          <a:prstGeom prst="rect">
            <a:avLst/>
          </a:prstGeom>
          <a:noFill/>
          <a:ln/>
        </p:spPr>
        <p:txBody>
          <a:bodyPr wrap="square" lIns="0" tIns="0" rIns="0" bIns="0" rtlCol="0" anchor="ctr">
            <a:normAutofit/>
          </a:bodyPr>
          <a:lstStyle/>
          <a:p>
            <a:r>
              <a:rPr lang="fr-FR" sz="1400" b="1" dirty="0"/>
              <a:t>Données préparées</a:t>
            </a:r>
            <a:endParaRPr lang="en-US" sz="1350" b="1" dirty="0"/>
          </a:p>
        </p:txBody>
      </p:sp>
      <p:sp>
        <p:nvSpPr>
          <p:cNvPr id="49" name="Text 47"/>
          <p:cNvSpPr/>
          <p:nvPr/>
        </p:nvSpPr>
        <p:spPr>
          <a:xfrm>
            <a:off x="859536" y="4023360"/>
            <a:ext cx="2157984" cy="667512"/>
          </a:xfrm>
          <a:prstGeom prst="rect">
            <a:avLst/>
          </a:prstGeom>
          <a:noFill/>
          <a:ln/>
        </p:spPr>
        <p:txBody>
          <a:bodyPr wrap="square" lIns="0" tIns="0" rIns="0" bIns="0" rtlCol="0" anchor="t">
            <a:normAutofit lnSpcReduction="10000"/>
          </a:bodyPr>
          <a:lstStyle/>
          <a:p>
            <a:r>
              <a:rPr lang="fr-FR" sz="1100" dirty="0"/>
              <a:t>Fichiers contenant les données d’origine, les données nettoyées et le jeu de données final utilisé pour les modèles.</a:t>
            </a:r>
            <a:endParaRPr lang="en-US" sz="1060" dirty="0"/>
          </a:p>
        </p:txBody>
      </p:sp>
      <p:sp>
        <p:nvSpPr>
          <p:cNvPr id="50" name="Shape 48"/>
          <p:cNvSpPr/>
          <p:nvPr/>
        </p:nvSpPr>
        <p:spPr>
          <a:xfrm>
            <a:off x="3493008" y="3456432"/>
            <a:ext cx="2560320" cy="1417320"/>
          </a:xfrm>
          <a:prstGeom prst="roundRect">
            <a:avLst>
              <a:gd name="adj" fmla="val 5161"/>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51" name="Shape 49"/>
          <p:cNvSpPr/>
          <p:nvPr/>
        </p:nvSpPr>
        <p:spPr>
          <a:xfrm>
            <a:off x="3493008" y="3456432"/>
            <a:ext cx="64008" cy="1417320"/>
          </a:xfrm>
          <a:prstGeom prst="rect">
            <a:avLst/>
          </a:prstGeom>
          <a:solidFill>
            <a:srgbClr val="3F7FC4"/>
          </a:solidFill>
          <a:ln w="12700">
            <a:solidFill>
              <a:srgbClr val="3F7FC4"/>
            </a:solidFill>
            <a:prstDash val="solid"/>
          </a:ln>
        </p:spPr>
        <p:txBody>
          <a:bodyPr/>
          <a:lstStyle/>
          <a:p>
            <a:endParaRPr lang="fr-FR"/>
          </a:p>
        </p:txBody>
      </p:sp>
      <p:sp>
        <p:nvSpPr>
          <p:cNvPr id="52" name="Text 50"/>
          <p:cNvSpPr/>
          <p:nvPr/>
        </p:nvSpPr>
        <p:spPr>
          <a:xfrm>
            <a:off x="3694176" y="3639312"/>
            <a:ext cx="2157984" cy="310896"/>
          </a:xfrm>
          <a:prstGeom prst="rect">
            <a:avLst/>
          </a:prstGeom>
          <a:noFill/>
          <a:ln/>
        </p:spPr>
        <p:txBody>
          <a:bodyPr wrap="square" lIns="0" tIns="0" rIns="0" bIns="0" rtlCol="0" anchor="ctr">
            <a:normAutofit/>
          </a:bodyPr>
          <a:lstStyle/>
          <a:p>
            <a:r>
              <a:rPr lang="fr-FR" sz="1400" b="1" dirty="0"/>
              <a:t>Modèle de prédiction</a:t>
            </a:r>
            <a:endParaRPr lang="en-US" sz="1350" b="1" dirty="0"/>
          </a:p>
        </p:txBody>
      </p:sp>
      <p:sp>
        <p:nvSpPr>
          <p:cNvPr id="53" name="Text 51"/>
          <p:cNvSpPr/>
          <p:nvPr/>
        </p:nvSpPr>
        <p:spPr>
          <a:xfrm>
            <a:off x="3694176" y="4023360"/>
            <a:ext cx="2157984" cy="667512"/>
          </a:xfrm>
          <a:prstGeom prst="rect">
            <a:avLst/>
          </a:prstGeom>
          <a:noFill/>
          <a:ln/>
        </p:spPr>
        <p:txBody>
          <a:bodyPr wrap="square" lIns="0" tIns="0" rIns="0" bIns="0" rtlCol="0" anchor="t">
            <a:normAutofit/>
          </a:bodyPr>
          <a:lstStyle/>
          <a:p>
            <a:r>
              <a:rPr lang="fr-FR" sz="1100" dirty="0"/>
              <a:t>Le meilleur modèle est enregistré afin de pouvoir être réutilisé sans devoir refaire tout l’apprentissage.</a:t>
            </a:r>
            <a:endParaRPr lang="en-US" sz="1060" dirty="0"/>
          </a:p>
        </p:txBody>
      </p:sp>
      <p:sp>
        <p:nvSpPr>
          <p:cNvPr id="54" name="Shape 52"/>
          <p:cNvSpPr/>
          <p:nvPr/>
        </p:nvSpPr>
        <p:spPr>
          <a:xfrm>
            <a:off x="6327648" y="3456432"/>
            <a:ext cx="2560320" cy="1417320"/>
          </a:xfrm>
          <a:prstGeom prst="roundRect">
            <a:avLst>
              <a:gd name="adj" fmla="val 5161"/>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55" name="Shape 53"/>
          <p:cNvSpPr/>
          <p:nvPr/>
        </p:nvSpPr>
        <p:spPr>
          <a:xfrm>
            <a:off x="6327648" y="3456432"/>
            <a:ext cx="64008" cy="1417320"/>
          </a:xfrm>
          <a:prstGeom prst="rect">
            <a:avLst/>
          </a:prstGeom>
          <a:solidFill>
            <a:srgbClr val="2F9E6D"/>
          </a:solidFill>
          <a:ln w="12700">
            <a:solidFill>
              <a:srgbClr val="2F9E6D"/>
            </a:solidFill>
            <a:prstDash val="solid"/>
          </a:ln>
        </p:spPr>
        <p:txBody>
          <a:bodyPr/>
          <a:lstStyle/>
          <a:p>
            <a:endParaRPr lang="fr-FR"/>
          </a:p>
        </p:txBody>
      </p:sp>
      <p:sp>
        <p:nvSpPr>
          <p:cNvPr id="56" name="Text 54"/>
          <p:cNvSpPr/>
          <p:nvPr/>
        </p:nvSpPr>
        <p:spPr>
          <a:xfrm>
            <a:off x="6528816" y="3639312"/>
            <a:ext cx="2157984" cy="310896"/>
          </a:xfrm>
          <a:prstGeom prst="rect">
            <a:avLst/>
          </a:prstGeom>
          <a:noFill/>
          <a:ln/>
        </p:spPr>
        <p:txBody>
          <a:bodyPr wrap="square" lIns="0" tIns="0" rIns="0" bIns="0" rtlCol="0" anchor="ctr">
            <a:normAutofit/>
          </a:bodyPr>
          <a:lstStyle/>
          <a:p>
            <a:r>
              <a:rPr lang="fr-FR" sz="1400" b="1" dirty="0"/>
              <a:t>Base de données</a:t>
            </a:r>
            <a:endParaRPr lang="en-US" sz="1350" b="1" dirty="0"/>
          </a:p>
        </p:txBody>
      </p:sp>
      <p:sp>
        <p:nvSpPr>
          <p:cNvPr id="57" name="Text 55"/>
          <p:cNvSpPr/>
          <p:nvPr/>
        </p:nvSpPr>
        <p:spPr>
          <a:xfrm>
            <a:off x="6528816" y="4023360"/>
            <a:ext cx="2157984" cy="667512"/>
          </a:xfrm>
          <a:prstGeom prst="rect">
            <a:avLst/>
          </a:prstGeom>
          <a:noFill/>
          <a:ln/>
        </p:spPr>
        <p:txBody>
          <a:bodyPr wrap="square" lIns="0" tIns="0" rIns="0" bIns="0" rtlCol="0" anchor="t">
            <a:normAutofit/>
          </a:bodyPr>
          <a:lstStyle/>
          <a:p>
            <a:r>
              <a:rPr lang="fr-FR" sz="1100" dirty="0"/>
              <a:t>Les ventes, les prévisions et les niveaux de stock sont enregistrés dans une base SQLite.</a:t>
            </a:r>
            <a:endParaRPr lang="en-US" sz="1060" dirty="0"/>
          </a:p>
        </p:txBody>
      </p:sp>
      <p:sp>
        <p:nvSpPr>
          <p:cNvPr id="58" name="Shape 56"/>
          <p:cNvSpPr/>
          <p:nvPr/>
        </p:nvSpPr>
        <p:spPr>
          <a:xfrm>
            <a:off x="9162288" y="3456432"/>
            <a:ext cx="2560320" cy="1417320"/>
          </a:xfrm>
          <a:prstGeom prst="roundRect">
            <a:avLst>
              <a:gd name="adj" fmla="val 5161"/>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59" name="Shape 57"/>
          <p:cNvSpPr/>
          <p:nvPr/>
        </p:nvSpPr>
        <p:spPr>
          <a:xfrm>
            <a:off x="9162288" y="3456432"/>
            <a:ext cx="64008" cy="1417320"/>
          </a:xfrm>
          <a:prstGeom prst="rect">
            <a:avLst/>
          </a:prstGeom>
          <a:solidFill>
            <a:srgbClr val="F59E0B"/>
          </a:solidFill>
          <a:ln w="12700">
            <a:solidFill>
              <a:srgbClr val="F59E0B"/>
            </a:solidFill>
            <a:prstDash val="solid"/>
          </a:ln>
        </p:spPr>
        <p:txBody>
          <a:bodyPr/>
          <a:lstStyle/>
          <a:p>
            <a:endParaRPr lang="fr-FR"/>
          </a:p>
        </p:txBody>
      </p:sp>
      <p:sp>
        <p:nvSpPr>
          <p:cNvPr id="60" name="Text 58"/>
          <p:cNvSpPr/>
          <p:nvPr/>
        </p:nvSpPr>
        <p:spPr>
          <a:xfrm>
            <a:off x="9363456" y="3639312"/>
            <a:ext cx="2157984" cy="310896"/>
          </a:xfrm>
          <a:prstGeom prst="rect">
            <a:avLst/>
          </a:prstGeom>
          <a:noFill/>
          <a:ln/>
        </p:spPr>
        <p:txBody>
          <a:bodyPr wrap="square" lIns="0" tIns="0" rIns="0" bIns="0" rtlCol="0" anchor="ctr">
            <a:normAutofit/>
          </a:bodyPr>
          <a:lstStyle/>
          <a:p>
            <a:r>
              <a:rPr lang="fr-FR" sz="1400" b="1" dirty="0"/>
              <a:t>Visualisation des résultats</a:t>
            </a:r>
            <a:endParaRPr lang="en-US" sz="1350" b="1" dirty="0"/>
          </a:p>
        </p:txBody>
      </p:sp>
      <p:sp>
        <p:nvSpPr>
          <p:cNvPr id="61" name="Text 59"/>
          <p:cNvSpPr/>
          <p:nvPr/>
        </p:nvSpPr>
        <p:spPr>
          <a:xfrm>
            <a:off x="9363456" y="4023360"/>
            <a:ext cx="2157984" cy="667512"/>
          </a:xfrm>
          <a:prstGeom prst="rect">
            <a:avLst/>
          </a:prstGeom>
          <a:noFill/>
          <a:ln/>
        </p:spPr>
        <p:txBody>
          <a:bodyPr wrap="square" lIns="0" tIns="0" rIns="0" bIns="0" rtlCol="0" anchor="t">
            <a:normAutofit lnSpcReduction="10000"/>
          </a:bodyPr>
          <a:lstStyle/>
          <a:p>
            <a:r>
              <a:rPr lang="fr-FR" sz="1100" dirty="0"/>
              <a:t>Les données finales sont préparées pour être affichées dans Power BI sous forme de graphiques et de tableaux de bord.</a:t>
            </a:r>
            <a:endParaRPr lang="en-US" sz="1060" dirty="0"/>
          </a:p>
        </p:txBody>
      </p:sp>
      <p:sp>
        <p:nvSpPr>
          <p:cNvPr id="62" name="Shape 60"/>
          <p:cNvSpPr/>
          <p:nvPr/>
        </p:nvSpPr>
        <p:spPr>
          <a:xfrm>
            <a:off x="658368" y="5285232"/>
            <a:ext cx="10844784" cy="640080"/>
          </a:xfrm>
          <a:prstGeom prst="roundRect">
            <a:avLst>
              <a:gd name="adj" fmla="val 8571"/>
            </a:avLst>
          </a:prstGeom>
          <a:solidFill>
            <a:srgbClr val="EDF3F8"/>
          </a:solidFill>
          <a:ln w="12700">
            <a:solidFill>
              <a:srgbClr val="DDE6EF"/>
            </a:solidFill>
            <a:prstDash val="solid"/>
          </a:ln>
        </p:spPr>
        <p:txBody>
          <a:bodyPr/>
          <a:lstStyle/>
          <a:p>
            <a:endParaRPr lang="fr-FR"/>
          </a:p>
        </p:txBody>
      </p:sp>
      <p:sp>
        <p:nvSpPr>
          <p:cNvPr id="63" name="Text 61"/>
          <p:cNvSpPr/>
          <p:nvPr/>
        </p:nvSpPr>
        <p:spPr>
          <a:xfrm>
            <a:off x="896112" y="5477256"/>
            <a:ext cx="1234440" cy="201168"/>
          </a:xfrm>
          <a:prstGeom prst="rect">
            <a:avLst/>
          </a:prstGeom>
          <a:noFill/>
          <a:ln/>
        </p:spPr>
        <p:txBody>
          <a:bodyPr wrap="square" lIns="0" tIns="0" rIns="0" bIns="0" rtlCol="0" anchor="ctr"/>
          <a:lstStyle/>
          <a:p>
            <a:pPr marL="0" indent="0">
              <a:buNone/>
            </a:pPr>
            <a:r>
              <a:rPr lang="en-US" sz="1250" b="1" dirty="0">
                <a:solidFill>
                  <a:srgbClr val="0B1F3A"/>
                </a:solidFill>
                <a:latin typeface="Aptos Display" pitchFamily="34" charset="0"/>
                <a:ea typeface="Aptos Display" pitchFamily="34" charset="-122"/>
                <a:cs typeface="Aptos Display" pitchFamily="34" charset="-120"/>
              </a:rPr>
              <a:t>Automatisation</a:t>
            </a:r>
            <a:endParaRPr lang="en-US" sz="1250" dirty="0"/>
          </a:p>
        </p:txBody>
      </p:sp>
      <p:sp>
        <p:nvSpPr>
          <p:cNvPr id="64" name="Text 62"/>
          <p:cNvSpPr/>
          <p:nvPr/>
        </p:nvSpPr>
        <p:spPr>
          <a:xfrm>
            <a:off x="2331720" y="5422391"/>
            <a:ext cx="8641080" cy="348093"/>
          </a:xfrm>
          <a:prstGeom prst="rect">
            <a:avLst/>
          </a:prstGeom>
          <a:noFill/>
          <a:ln/>
        </p:spPr>
        <p:txBody>
          <a:bodyPr wrap="square" lIns="0" tIns="0" rIns="0" bIns="0" rtlCol="0" anchor="ctr">
            <a:normAutofit lnSpcReduction="10000"/>
          </a:bodyPr>
          <a:lstStyle/>
          <a:p>
            <a:r>
              <a:rPr lang="fr-FR" sz="1200" dirty="0"/>
              <a:t>Un script permet de lancer automatiquement toutes les étapes du projet, de la préparation des données jusqu’aux prévisions finales. Il enregistre également les résultats et les éventuelles erreurs.</a:t>
            </a:r>
            <a:endParaRPr lang="en-US" sz="1120" dirty="0"/>
          </a:p>
        </p:txBody>
      </p:sp>
      <p:sp>
        <p:nvSpPr>
          <p:cNvPr id="65" name="Text 63"/>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66"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COLLECTE &amp; PÉRIMÈTRE</a:t>
            </a:r>
            <a:endParaRPr lang="en-US" sz="950" dirty="0"/>
          </a:p>
        </p:txBody>
      </p:sp>
      <p:sp>
        <p:nvSpPr>
          <p:cNvPr id="3" name="Text 1"/>
          <p:cNvSpPr/>
          <p:nvPr/>
        </p:nvSpPr>
        <p:spPr>
          <a:xfrm>
            <a:off x="621792" y="612648"/>
            <a:ext cx="10744200" cy="475488"/>
          </a:xfrm>
          <a:prstGeom prst="rect">
            <a:avLst/>
          </a:prstGeom>
          <a:noFill/>
          <a:ln/>
        </p:spPr>
        <p:txBody>
          <a:bodyPr wrap="square" lIns="0" tIns="0" rIns="0" bIns="0" rtlCol="0" anchor="ctr">
            <a:normAutofit/>
          </a:bodyP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Les données utilisées</a:t>
            </a:r>
            <a:endParaRPr lang="en-US" sz="2600" dirty="0"/>
          </a:p>
        </p:txBody>
      </p:sp>
      <p:sp>
        <p:nvSpPr>
          <p:cNvPr id="4" name="Shape 2"/>
          <p:cNvSpPr/>
          <p:nvPr/>
        </p:nvSpPr>
        <p:spPr>
          <a:xfrm>
            <a:off x="658368" y="1261872"/>
            <a:ext cx="1938528" cy="914400"/>
          </a:xfrm>
          <a:prstGeom prst="roundRect">
            <a:avLst>
              <a:gd name="adj" fmla="val 8000"/>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dirty="0"/>
          </a:p>
        </p:txBody>
      </p:sp>
      <p:sp>
        <p:nvSpPr>
          <p:cNvPr id="5" name="Shape 3"/>
          <p:cNvSpPr/>
          <p:nvPr/>
        </p:nvSpPr>
        <p:spPr>
          <a:xfrm>
            <a:off x="658368" y="1261872"/>
            <a:ext cx="54864" cy="914400"/>
          </a:xfrm>
          <a:prstGeom prst="rect">
            <a:avLst/>
          </a:prstGeom>
          <a:solidFill>
            <a:srgbClr val="3F7FC4"/>
          </a:solidFill>
          <a:ln w="12700">
            <a:solidFill>
              <a:srgbClr val="3F7FC4"/>
            </a:solidFill>
            <a:prstDash val="solid"/>
          </a:ln>
        </p:spPr>
        <p:txBody>
          <a:bodyPr/>
          <a:lstStyle/>
          <a:p>
            <a:endParaRPr lang="fr-FR"/>
          </a:p>
        </p:txBody>
      </p:sp>
      <p:sp>
        <p:nvSpPr>
          <p:cNvPr id="6" name="Text 4"/>
          <p:cNvSpPr/>
          <p:nvPr/>
        </p:nvSpPr>
        <p:spPr>
          <a:xfrm>
            <a:off x="877824" y="1417320"/>
            <a:ext cx="1719072" cy="509134"/>
          </a:xfrm>
          <a:prstGeom prst="rect">
            <a:avLst/>
          </a:prstGeom>
          <a:noFill/>
          <a:ln/>
        </p:spPr>
        <p:txBody>
          <a:bodyPr wrap="square" lIns="0" tIns="0" rIns="0" bIns="0" rtlCol="0" anchor="ctr">
            <a:normAutofit fontScale="62500" lnSpcReduction="20000"/>
          </a:bodyPr>
          <a:lstStyle/>
          <a:p>
            <a:r>
              <a:rPr lang="fr-FR" sz="2400" b="1" dirty="0"/>
              <a:t>252 367 lignes</a:t>
            </a:r>
            <a:r>
              <a:rPr lang="fr-FR" sz="2400" dirty="0"/>
              <a:t> dans le fichier de départ</a:t>
            </a:r>
            <a:endParaRPr lang="en-US" sz="2100" dirty="0"/>
          </a:p>
        </p:txBody>
      </p:sp>
      <p:sp>
        <p:nvSpPr>
          <p:cNvPr id="7" name="Text 5"/>
          <p:cNvSpPr/>
          <p:nvPr/>
        </p:nvSpPr>
        <p:spPr>
          <a:xfrm>
            <a:off x="877824" y="1801368"/>
            <a:ext cx="1737360" cy="246888"/>
          </a:xfrm>
          <a:prstGeom prst="rect">
            <a:avLst/>
          </a:prstGeom>
          <a:noFill/>
          <a:ln/>
        </p:spPr>
        <p:txBody>
          <a:bodyPr wrap="square" lIns="0" tIns="0" rIns="0" bIns="0" rtlCol="0" anchor="ctr">
            <a:normAutofit/>
          </a:bodyPr>
          <a:lstStyle/>
          <a:p>
            <a:pPr marL="0" indent="0">
              <a:buNone/>
            </a:pPr>
            <a:endParaRPr lang="en-US" sz="1040" dirty="0"/>
          </a:p>
        </p:txBody>
      </p:sp>
      <p:sp>
        <p:nvSpPr>
          <p:cNvPr id="8" name="Shape 6"/>
          <p:cNvSpPr/>
          <p:nvPr/>
        </p:nvSpPr>
        <p:spPr>
          <a:xfrm>
            <a:off x="2706624" y="1270040"/>
            <a:ext cx="1883664" cy="914400"/>
          </a:xfrm>
          <a:prstGeom prst="roundRect">
            <a:avLst>
              <a:gd name="adj" fmla="val 8000"/>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9" name="Shape 7"/>
          <p:cNvSpPr/>
          <p:nvPr/>
        </p:nvSpPr>
        <p:spPr>
          <a:xfrm>
            <a:off x="2697480" y="1261872"/>
            <a:ext cx="54864" cy="914400"/>
          </a:xfrm>
          <a:prstGeom prst="rect">
            <a:avLst/>
          </a:prstGeom>
          <a:solidFill>
            <a:srgbClr val="00A8A8"/>
          </a:solidFill>
          <a:ln w="12700">
            <a:solidFill>
              <a:srgbClr val="00A8A8"/>
            </a:solidFill>
            <a:prstDash val="solid"/>
          </a:ln>
        </p:spPr>
        <p:txBody>
          <a:bodyPr/>
          <a:lstStyle/>
          <a:p>
            <a:endParaRPr lang="fr-FR"/>
          </a:p>
        </p:txBody>
      </p:sp>
      <p:sp>
        <p:nvSpPr>
          <p:cNvPr id="10" name="Text 8"/>
          <p:cNvSpPr/>
          <p:nvPr/>
        </p:nvSpPr>
        <p:spPr>
          <a:xfrm>
            <a:off x="2926080" y="1472673"/>
            <a:ext cx="1719072" cy="509134"/>
          </a:xfrm>
          <a:prstGeom prst="rect">
            <a:avLst/>
          </a:prstGeom>
          <a:noFill/>
          <a:ln/>
        </p:spPr>
        <p:txBody>
          <a:bodyPr wrap="square" lIns="0" tIns="0" rIns="0" bIns="0" rtlCol="0" anchor="ctr">
            <a:normAutofit fontScale="55000" lnSpcReduction="20000"/>
          </a:bodyPr>
          <a:lstStyle/>
          <a:p>
            <a:r>
              <a:rPr lang="fr-FR" sz="2400" b="1" dirty="0"/>
              <a:t>28 451 ventes conservées</a:t>
            </a:r>
            <a:r>
              <a:rPr lang="fr-FR" sz="2400" dirty="0"/>
              <a:t> après le nettoyage et le filtrage</a:t>
            </a:r>
            <a:endParaRPr lang="en-US" sz="2100" dirty="0"/>
          </a:p>
        </p:txBody>
      </p:sp>
      <p:sp>
        <p:nvSpPr>
          <p:cNvPr id="11" name="Text 9"/>
          <p:cNvSpPr/>
          <p:nvPr/>
        </p:nvSpPr>
        <p:spPr>
          <a:xfrm>
            <a:off x="2916936" y="1801368"/>
            <a:ext cx="1737360" cy="246888"/>
          </a:xfrm>
          <a:prstGeom prst="rect">
            <a:avLst/>
          </a:prstGeom>
          <a:noFill/>
          <a:ln/>
        </p:spPr>
        <p:txBody>
          <a:bodyPr wrap="square" lIns="0" tIns="0" rIns="0" bIns="0" rtlCol="0" anchor="ctr">
            <a:normAutofit/>
          </a:bodyPr>
          <a:lstStyle/>
          <a:p>
            <a:pPr marL="0" indent="0">
              <a:buNone/>
            </a:pPr>
            <a:endParaRPr lang="en-US" sz="1040" dirty="0"/>
          </a:p>
        </p:txBody>
      </p:sp>
      <p:sp>
        <p:nvSpPr>
          <p:cNvPr id="12" name="Shape 10"/>
          <p:cNvSpPr/>
          <p:nvPr/>
        </p:nvSpPr>
        <p:spPr>
          <a:xfrm>
            <a:off x="4700016" y="1289304"/>
            <a:ext cx="1719072" cy="914400"/>
          </a:xfrm>
          <a:prstGeom prst="roundRect">
            <a:avLst>
              <a:gd name="adj" fmla="val 8000"/>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13" name="Shape 11"/>
          <p:cNvSpPr/>
          <p:nvPr/>
        </p:nvSpPr>
        <p:spPr>
          <a:xfrm>
            <a:off x="4700016" y="1289304"/>
            <a:ext cx="54864" cy="914400"/>
          </a:xfrm>
          <a:prstGeom prst="rect">
            <a:avLst/>
          </a:prstGeom>
          <a:solidFill>
            <a:srgbClr val="F59E0B"/>
          </a:solidFill>
          <a:ln w="12700">
            <a:solidFill>
              <a:srgbClr val="F59E0B"/>
            </a:solidFill>
            <a:prstDash val="solid"/>
          </a:ln>
        </p:spPr>
        <p:txBody>
          <a:bodyPr/>
          <a:lstStyle/>
          <a:p>
            <a:endParaRPr lang="fr-FR"/>
          </a:p>
        </p:txBody>
      </p:sp>
      <p:sp>
        <p:nvSpPr>
          <p:cNvPr id="14" name="Text 12"/>
          <p:cNvSpPr/>
          <p:nvPr/>
        </p:nvSpPr>
        <p:spPr>
          <a:xfrm>
            <a:off x="4919472" y="1480264"/>
            <a:ext cx="1572768" cy="509134"/>
          </a:xfrm>
          <a:prstGeom prst="rect">
            <a:avLst/>
          </a:prstGeom>
          <a:noFill/>
          <a:ln/>
        </p:spPr>
        <p:txBody>
          <a:bodyPr wrap="square" lIns="0" tIns="0" rIns="0" bIns="0" rtlCol="0" anchor="ctr">
            <a:normAutofit fontScale="55000" lnSpcReduction="20000"/>
          </a:bodyPr>
          <a:lstStyle/>
          <a:p>
            <a:r>
              <a:rPr lang="fr-FR" sz="2400" b="1" dirty="0"/>
              <a:t>10 ans de données</a:t>
            </a:r>
            <a:r>
              <a:rPr lang="fr-FR" sz="2400" dirty="0"/>
              <a:t>, de </a:t>
            </a:r>
            <a:r>
              <a:rPr lang="fr-FR" sz="2400" b="1" dirty="0"/>
              <a:t>2007 à 2016</a:t>
            </a:r>
            <a:endParaRPr lang="en-US" sz="2100" dirty="0"/>
          </a:p>
        </p:txBody>
      </p:sp>
      <p:sp>
        <p:nvSpPr>
          <p:cNvPr id="15" name="Text 13"/>
          <p:cNvSpPr/>
          <p:nvPr/>
        </p:nvSpPr>
        <p:spPr>
          <a:xfrm>
            <a:off x="4919472" y="1828800"/>
            <a:ext cx="1591056" cy="246888"/>
          </a:xfrm>
          <a:prstGeom prst="rect">
            <a:avLst/>
          </a:prstGeom>
          <a:noFill/>
          <a:ln/>
        </p:spPr>
        <p:txBody>
          <a:bodyPr wrap="square" lIns="0" tIns="0" rIns="0" bIns="0" rtlCol="0" anchor="ctr">
            <a:normAutofit/>
          </a:bodyPr>
          <a:lstStyle/>
          <a:p>
            <a:pPr marL="0" indent="0">
              <a:buNone/>
            </a:pPr>
            <a:endParaRPr lang="en-US" sz="1040" dirty="0"/>
          </a:p>
        </p:txBody>
      </p:sp>
      <p:sp>
        <p:nvSpPr>
          <p:cNvPr id="16" name="Shape 14"/>
          <p:cNvSpPr/>
          <p:nvPr/>
        </p:nvSpPr>
        <p:spPr>
          <a:xfrm>
            <a:off x="6548924" y="1291790"/>
            <a:ext cx="1335024" cy="914400"/>
          </a:xfrm>
          <a:prstGeom prst="roundRect">
            <a:avLst>
              <a:gd name="adj" fmla="val 8000"/>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17" name="Shape 15"/>
          <p:cNvSpPr/>
          <p:nvPr/>
        </p:nvSpPr>
        <p:spPr>
          <a:xfrm>
            <a:off x="6548924" y="1291790"/>
            <a:ext cx="54864" cy="914400"/>
          </a:xfrm>
          <a:prstGeom prst="rect">
            <a:avLst/>
          </a:prstGeom>
          <a:solidFill>
            <a:srgbClr val="2F9E6D"/>
          </a:solidFill>
          <a:ln w="12700">
            <a:solidFill>
              <a:srgbClr val="2F9E6D"/>
            </a:solidFill>
            <a:prstDash val="solid"/>
          </a:ln>
        </p:spPr>
        <p:txBody>
          <a:bodyPr/>
          <a:lstStyle/>
          <a:p>
            <a:endParaRPr lang="fr-FR"/>
          </a:p>
        </p:txBody>
      </p:sp>
      <p:sp>
        <p:nvSpPr>
          <p:cNvPr id="18" name="Text 16"/>
          <p:cNvSpPr/>
          <p:nvPr/>
        </p:nvSpPr>
        <p:spPr>
          <a:xfrm>
            <a:off x="6949440" y="1559051"/>
            <a:ext cx="1389888" cy="329185"/>
          </a:xfrm>
          <a:prstGeom prst="rect">
            <a:avLst/>
          </a:prstGeom>
          <a:noFill/>
          <a:ln/>
        </p:spPr>
        <p:txBody>
          <a:bodyPr wrap="square" lIns="0" tIns="0" rIns="0" bIns="0" rtlCol="0" anchor="ctr">
            <a:normAutofit fontScale="55000" lnSpcReduction="20000"/>
          </a:bodyPr>
          <a:lstStyle/>
          <a:p>
            <a:r>
              <a:rPr lang="fr-FR" sz="2400" dirty="0"/>
              <a:t>32 produits différents</a:t>
            </a:r>
            <a:endParaRPr lang="en-US" sz="2100" dirty="0"/>
          </a:p>
        </p:txBody>
      </p:sp>
      <p:sp>
        <p:nvSpPr>
          <p:cNvPr id="19" name="Text 17"/>
          <p:cNvSpPr/>
          <p:nvPr/>
        </p:nvSpPr>
        <p:spPr>
          <a:xfrm>
            <a:off x="7370064" y="1801368"/>
            <a:ext cx="1408176" cy="246888"/>
          </a:xfrm>
          <a:prstGeom prst="rect">
            <a:avLst/>
          </a:prstGeom>
          <a:noFill/>
          <a:ln/>
        </p:spPr>
        <p:txBody>
          <a:bodyPr wrap="square" lIns="0" tIns="0" rIns="0" bIns="0" rtlCol="0" anchor="ctr">
            <a:normAutofit/>
          </a:bodyPr>
          <a:lstStyle/>
          <a:p>
            <a:pPr marL="0" indent="0">
              <a:buNone/>
            </a:pPr>
            <a:endParaRPr lang="en-US" sz="1040" dirty="0"/>
          </a:p>
        </p:txBody>
      </p:sp>
      <p:sp>
        <p:nvSpPr>
          <p:cNvPr id="20" name="Shape 18"/>
          <p:cNvSpPr/>
          <p:nvPr/>
        </p:nvSpPr>
        <p:spPr>
          <a:xfrm>
            <a:off x="8004019" y="1290547"/>
            <a:ext cx="1609344" cy="914400"/>
          </a:xfrm>
          <a:prstGeom prst="roundRect">
            <a:avLst>
              <a:gd name="adj" fmla="val 8000"/>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21" name="Shape 19"/>
          <p:cNvSpPr/>
          <p:nvPr/>
        </p:nvSpPr>
        <p:spPr>
          <a:xfrm>
            <a:off x="8004019" y="1290547"/>
            <a:ext cx="54864" cy="914400"/>
          </a:xfrm>
          <a:prstGeom prst="rect">
            <a:avLst/>
          </a:prstGeom>
          <a:solidFill>
            <a:srgbClr val="E15B64"/>
          </a:solidFill>
          <a:ln w="12700">
            <a:solidFill>
              <a:srgbClr val="E15B64"/>
            </a:solidFill>
            <a:prstDash val="solid"/>
          </a:ln>
        </p:spPr>
        <p:txBody>
          <a:bodyPr/>
          <a:lstStyle/>
          <a:p>
            <a:endParaRPr lang="fr-FR"/>
          </a:p>
        </p:txBody>
      </p:sp>
      <p:sp>
        <p:nvSpPr>
          <p:cNvPr id="22" name="Text 20"/>
          <p:cNvSpPr/>
          <p:nvPr/>
        </p:nvSpPr>
        <p:spPr>
          <a:xfrm>
            <a:off x="8214331" y="1481507"/>
            <a:ext cx="1243584" cy="473622"/>
          </a:xfrm>
          <a:prstGeom prst="rect">
            <a:avLst/>
          </a:prstGeom>
          <a:noFill/>
          <a:ln/>
        </p:spPr>
        <p:txBody>
          <a:bodyPr wrap="square" lIns="0" tIns="0" rIns="0" bIns="0" rtlCol="0" anchor="ctr">
            <a:normAutofit fontScale="47500" lnSpcReduction="20000"/>
          </a:bodyPr>
          <a:lstStyle/>
          <a:p>
            <a:r>
              <a:rPr lang="fr-FR" sz="2400" dirty="0"/>
              <a:t>2 pays étudiés : États-Unis et Canada</a:t>
            </a:r>
            <a:endParaRPr lang="en-US" sz="2100" dirty="0"/>
          </a:p>
        </p:txBody>
      </p:sp>
      <p:sp>
        <p:nvSpPr>
          <p:cNvPr id="23" name="Text 21"/>
          <p:cNvSpPr/>
          <p:nvPr/>
        </p:nvSpPr>
        <p:spPr>
          <a:xfrm>
            <a:off x="8223475" y="1830043"/>
            <a:ext cx="1261872" cy="246888"/>
          </a:xfrm>
          <a:prstGeom prst="rect">
            <a:avLst/>
          </a:prstGeom>
          <a:noFill/>
          <a:ln/>
        </p:spPr>
        <p:txBody>
          <a:bodyPr wrap="square" lIns="0" tIns="0" rIns="0" bIns="0" rtlCol="0" anchor="ctr">
            <a:normAutofit/>
          </a:bodyPr>
          <a:lstStyle/>
          <a:p>
            <a:pPr marL="0" indent="0">
              <a:buNone/>
            </a:pPr>
            <a:endParaRPr lang="en-US" sz="1040" dirty="0"/>
          </a:p>
        </p:txBody>
      </p:sp>
      <p:sp>
        <p:nvSpPr>
          <p:cNvPr id="24" name="Shape 22"/>
          <p:cNvSpPr/>
          <p:nvPr/>
        </p:nvSpPr>
        <p:spPr>
          <a:xfrm>
            <a:off x="9777955" y="1291790"/>
            <a:ext cx="1853214" cy="911648"/>
          </a:xfrm>
          <a:prstGeom prst="roundRect">
            <a:avLst>
              <a:gd name="adj" fmla="val 9756"/>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25" name="Shape 23"/>
          <p:cNvSpPr/>
          <p:nvPr/>
        </p:nvSpPr>
        <p:spPr>
          <a:xfrm>
            <a:off x="9777954" y="1291790"/>
            <a:ext cx="77239" cy="911648"/>
          </a:xfrm>
          <a:prstGeom prst="rect">
            <a:avLst/>
          </a:prstGeom>
          <a:solidFill>
            <a:srgbClr val="00A8A8"/>
          </a:solidFill>
          <a:ln w="12700">
            <a:solidFill>
              <a:srgbClr val="00A8A8"/>
            </a:solidFill>
            <a:prstDash val="solid"/>
          </a:ln>
        </p:spPr>
        <p:txBody>
          <a:bodyPr/>
          <a:lstStyle/>
          <a:p>
            <a:endParaRPr lang="fr-FR"/>
          </a:p>
        </p:txBody>
      </p:sp>
      <p:sp>
        <p:nvSpPr>
          <p:cNvPr id="26" name="Text 24"/>
          <p:cNvSpPr/>
          <p:nvPr/>
        </p:nvSpPr>
        <p:spPr>
          <a:xfrm>
            <a:off x="9997411" y="1446182"/>
            <a:ext cx="2018488" cy="562213"/>
          </a:xfrm>
          <a:prstGeom prst="rect">
            <a:avLst/>
          </a:prstGeom>
          <a:noFill/>
          <a:ln/>
        </p:spPr>
        <p:txBody>
          <a:bodyPr wrap="square" lIns="0" tIns="0" rIns="0" bIns="0" rtlCol="0" anchor="ctr">
            <a:noAutofit/>
          </a:bodyPr>
          <a:lstStyle/>
          <a:p>
            <a:r>
              <a:rPr lang="fr-FR" sz="1100" b="1" dirty="0"/>
              <a:t>8 sources de données publiques</a:t>
            </a:r>
            <a:r>
              <a:rPr lang="fr-FR" sz="1100" dirty="0"/>
              <a:t> utilisées pour compléter les ventes</a:t>
            </a:r>
            <a:endParaRPr lang="en-US" sz="1100" dirty="0"/>
          </a:p>
        </p:txBody>
      </p:sp>
      <p:sp>
        <p:nvSpPr>
          <p:cNvPr id="27" name="Text 25"/>
          <p:cNvSpPr/>
          <p:nvPr/>
        </p:nvSpPr>
        <p:spPr>
          <a:xfrm>
            <a:off x="9997411" y="1829276"/>
            <a:ext cx="566426" cy="246145"/>
          </a:xfrm>
          <a:prstGeom prst="rect">
            <a:avLst/>
          </a:prstGeom>
          <a:noFill/>
          <a:ln/>
        </p:spPr>
        <p:txBody>
          <a:bodyPr wrap="square" lIns="0" tIns="0" rIns="0" bIns="0" rtlCol="0" anchor="ctr">
            <a:normAutofit/>
          </a:bodyPr>
          <a:lstStyle/>
          <a:p>
            <a:pPr marL="0" indent="0">
              <a:buNone/>
            </a:pPr>
            <a:endParaRPr lang="en-US" sz="1040" dirty="0"/>
          </a:p>
        </p:txBody>
      </p:sp>
      <p:sp>
        <p:nvSpPr>
          <p:cNvPr id="28" name="Shape 26"/>
          <p:cNvSpPr/>
          <p:nvPr/>
        </p:nvSpPr>
        <p:spPr>
          <a:xfrm>
            <a:off x="658368" y="2578608"/>
            <a:ext cx="2770632" cy="2944368"/>
          </a:xfrm>
          <a:prstGeom prst="roundRect">
            <a:avLst>
              <a:gd name="adj" fmla="val 2640"/>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29" name="Shape 27"/>
          <p:cNvSpPr/>
          <p:nvPr/>
        </p:nvSpPr>
        <p:spPr>
          <a:xfrm>
            <a:off x="658368" y="2578608"/>
            <a:ext cx="64008" cy="2944368"/>
          </a:xfrm>
          <a:prstGeom prst="rect">
            <a:avLst/>
          </a:prstGeom>
          <a:solidFill>
            <a:srgbClr val="3F7FC4"/>
          </a:solidFill>
          <a:ln w="12700">
            <a:solidFill>
              <a:srgbClr val="3F7FC4"/>
            </a:solidFill>
            <a:prstDash val="solid"/>
          </a:ln>
        </p:spPr>
        <p:txBody>
          <a:bodyPr/>
          <a:lstStyle/>
          <a:p>
            <a:endParaRPr lang="fr-FR"/>
          </a:p>
        </p:txBody>
      </p:sp>
      <p:sp>
        <p:nvSpPr>
          <p:cNvPr id="30" name="Shape 28"/>
          <p:cNvSpPr/>
          <p:nvPr/>
        </p:nvSpPr>
        <p:spPr>
          <a:xfrm>
            <a:off x="859536" y="2743200"/>
            <a:ext cx="786384" cy="292608"/>
          </a:xfrm>
          <a:prstGeom prst="roundRect">
            <a:avLst>
              <a:gd name="adj" fmla="val 25000"/>
            </a:avLst>
          </a:prstGeom>
          <a:solidFill>
            <a:srgbClr val="DDF4F3"/>
          </a:solidFill>
          <a:ln w="12700">
            <a:solidFill>
              <a:srgbClr val="DDF4F3"/>
            </a:solidFill>
            <a:prstDash val="solid"/>
          </a:ln>
        </p:spPr>
        <p:txBody>
          <a:bodyPr/>
          <a:lstStyle/>
          <a:p>
            <a:endParaRPr lang="fr-FR"/>
          </a:p>
        </p:txBody>
      </p:sp>
      <p:sp>
        <p:nvSpPr>
          <p:cNvPr id="31" name="Text 29"/>
          <p:cNvSpPr/>
          <p:nvPr/>
        </p:nvSpPr>
        <p:spPr>
          <a:xfrm>
            <a:off x="950976" y="2811780"/>
            <a:ext cx="603504" cy="146304"/>
          </a:xfrm>
          <a:prstGeom prst="rect">
            <a:avLst/>
          </a:prstGeom>
          <a:noFill/>
          <a:ln/>
        </p:spPr>
        <p:txBody>
          <a:bodyPr wrap="square" lIns="0" tIns="0" rIns="0" bIns="0" rtlCol="0" anchor="ctr">
            <a:normAutofit/>
          </a:bodyPr>
          <a:lstStyle/>
          <a:p>
            <a:pPr marL="0" indent="0" algn="ctr">
              <a:buNone/>
            </a:pPr>
            <a:r>
              <a:rPr lang="en-US" sz="850" b="1" dirty="0">
                <a:solidFill>
                  <a:srgbClr val="3F7FC4"/>
                </a:solidFill>
                <a:latin typeface="Aptos" pitchFamily="34" charset="0"/>
                <a:ea typeface="Aptos" pitchFamily="34" charset="-122"/>
                <a:cs typeface="Aptos" pitchFamily="34" charset="-120"/>
              </a:rPr>
              <a:t>CLIENT</a:t>
            </a:r>
            <a:endParaRPr lang="en-US" sz="850" dirty="0"/>
          </a:p>
        </p:txBody>
      </p:sp>
      <p:sp>
        <p:nvSpPr>
          <p:cNvPr id="32" name="Text 30"/>
          <p:cNvSpPr/>
          <p:nvPr/>
        </p:nvSpPr>
        <p:spPr>
          <a:xfrm>
            <a:off x="859536" y="3090672"/>
            <a:ext cx="2368296" cy="310896"/>
          </a:xfrm>
          <a:prstGeom prst="rect">
            <a:avLst/>
          </a:prstGeom>
          <a:noFill/>
          <a:ln/>
        </p:spPr>
        <p:txBody>
          <a:bodyPr wrap="square" lIns="0" tIns="0" rIns="0" bIns="0" rtlCol="0" anchor="ctr">
            <a:normAutofit/>
          </a:bodyPr>
          <a:lstStyle/>
          <a:p>
            <a:pPr marL="0" indent="0">
              <a:buNone/>
            </a:pPr>
            <a:r>
              <a:rPr lang="en-US" sz="1350" b="1" dirty="0">
                <a:solidFill>
                  <a:srgbClr val="0B1F3A"/>
                </a:solidFill>
                <a:latin typeface="Aptos Display" pitchFamily="34" charset="0"/>
                <a:ea typeface="Aptos Display" pitchFamily="34" charset="-122"/>
                <a:cs typeface="Aptos Display" pitchFamily="34" charset="-120"/>
              </a:rPr>
              <a:t>Données internes</a:t>
            </a:r>
            <a:endParaRPr lang="en-US" sz="1350" dirty="0"/>
          </a:p>
        </p:txBody>
      </p:sp>
      <p:sp>
        <p:nvSpPr>
          <p:cNvPr id="33" name="Text 31"/>
          <p:cNvSpPr/>
          <p:nvPr/>
        </p:nvSpPr>
        <p:spPr>
          <a:xfrm>
            <a:off x="859536" y="3474720"/>
            <a:ext cx="2368296" cy="1892808"/>
          </a:xfrm>
          <a:prstGeom prst="rect">
            <a:avLst/>
          </a:prstGeom>
          <a:noFill/>
          <a:ln/>
        </p:spPr>
        <p:txBody>
          <a:bodyPr wrap="square" lIns="0" tIns="0" rIns="0" bIns="0" rtlCol="0" anchor="t">
            <a:normAutofit/>
          </a:bodyPr>
          <a:lstStyle/>
          <a:p>
            <a:r>
              <a:rPr lang="fr-FR" sz="1100" dirty="0"/>
              <a:t>les anciennes factures de l’entreprise pour connaître les ventes réalisées dans le passé.</a:t>
            </a:r>
          </a:p>
          <a:p>
            <a:endParaRPr lang="fr-FR" sz="1100" dirty="0"/>
          </a:p>
          <a:p>
            <a:r>
              <a:rPr lang="fr-FR" sz="1100" dirty="0"/>
              <a:t>la date, le produit, la quantité vendue, le montant de la vente, la région et le pays.</a:t>
            </a:r>
          </a:p>
          <a:p>
            <a:endParaRPr lang="fr-FR" sz="1100" dirty="0"/>
          </a:p>
          <a:p>
            <a:r>
              <a:rPr lang="fr-FR" sz="1100" dirty="0"/>
              <a:t>les produits agricoles vendus aux </a:t>
            </a:r>
            <a:r>
              <a:rPr lang="fr-FR" sz="1100" b="1" dirty="0"/>
              <a:t>États-Unis et au Canada</a:t>
            </a:r>
            <a:r>
              <a:rPr lang="fr-FR" sz="1100" dirty="0"/>
              <a:t>.</a:t>
            </a:r>
            <a:endParaRPr lang="en-US" sz="1060" dirty="0"/>
          </a:p>
        </p:txBody>
      </p:sp>
      <p:sp>
        <p:nvSpPr>
          <p:cNvPr id="34" name="Shape 32"/>
          <p:cNvSpPr/>
          <p:nvPr/>
        </p:nvSpPr>
        <p:spPr>
          <a:xfrm>
            <a:off x="3621024" y="2578608"/>
            <a:ext cx="2542032" cy="2944368"/>
          </a:xfrm>
          <a:prstGeom prst="roundRect">
            <a:avLst>
              <a:gd name="adj" fmla="val 2878"/>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35" name="Shape 33"/>
          <p:cNvSpPr/>
          <p:nvPr/>
        </p:nvSpPr>
        <p:spPr>
          <a:xfrm>
            <a:off x="3621024" y="2578608"/>
            <a:ext cx="64008" cy="2944368"/>
          </a:xfrm>
          <a:prstGeom prst="rect">
            <a:avLst/>
          </a:prstGeom>
          <a:solidFill>
            <a:srgbClr val="00A8A8"/>
          </a:solidFill>
          <a:ln w="12700">
            <a:solidFill>
              <a:srgbClr val="00A8A8"/>
            </a:solidFill>
            <a:prstDash val="solid"/>
          </a:ln>
        </p:spPr>
        <p:txBody>
          <a:bodyPr/>
          <a:lstStyle/>
          <a:p>
            <a:endParaRPr lang="fr-FR"/>
          </a:p>
        </p:txBody>
      </p:sp>
      <p:sp>
        <p:nvSpPr>
          <p:cNvPr id="36" name="Shape 34"/>
          <p:cNvSpPr/>
          <p:nvPr/>
        </p:nvSpPr>
        <p:spPr>
          <a:xfrm>
            <a:off x="3822192" y="2743200"/>
            <a:ext cx="1115568" cy="292608"/>
          </a:xfrm>
          <a:prstGeom prst="roundRect">
            <a:avLst>
              <a:gd name="adj" fmla="val 25000"/>
            </a:avLst>
          </a:prstGeom>
          <a:solidFill>
            <a:srgbClr val="DDF4F3"/>
          </a:solidFill>
          <a:ln w="12700">
            <a:solidFill>
              <a:srgbClr val="DDF4F3"/>
            </a:solidFill>
            <a:prstDash val="solid"/>
          </a:ln>
        </p:spPr>
        <p:txBody>
          <a:bodyPr/>
          <a:lstStyle/>
          <a:p>
            <a:endParaRPr lang="fr-FR"/>
          </a:p>
        </p:txBody>
      </p:sp>
      <p:sp>
        <p:nvSpPr>
          <p:cNvPr id="37" name="Text 35"/>
          <p:cNvSpPr/>
          <p:nvPr/>
        </p:nvSpPr>
        <p:spPr>
          <a:xfrm>
            <a:off x="3913632" y="2811780"/>
            <a:ext cx="932688" cy="146304"/>
          </a:xfrm>
          <a:prstGeom prst="rect">
            <a:avLst/>
          </a:prstGeom>
          <a:noFill/>
          <a:ln/>
        </p:spPr>
        <p:txBody>
          <a:bodyPr wrap="square" lIns="0" tIns="0" rIns="0" bIns="0" rtlCol="0" anchor="ctr">
            <a:normAutofit/>
          </a:bodyPr>
          <a:lstStyle/>
          <a:p>
            <a:pPr algn="ctr"/>
            <a:r>
              <a:rPr lang="en-US" sz="850" b="1" dirty="0">
                <a:solidFill>
                  <a:srgbClr val="00A8A8"/>
                </a:solidFill>
                <a:latin typeface="Aptos" pitchFamily="34" charset="0"/>
              </a:rPr>
              <a:t>D</a:t>
            </a:r>
            <a:r>
              <a:rPr lang="fr-FR" sz="900" b="1" dirty="0" err="1">
                <a:solidFill>
                  <a:srgbClr val="00A8A8"/>
                </a:solidFill>
                <a:latin typeface="Aptos" pitchFamily="34" charset="0"/>
              </a:rPr>
              <a:t>onnées</a:t>
            </a:r>
            <a:r>
              <a:rPr lang="fr-FR" sz="900" b="1" dirty="0">
                <a:solidFill>
                  <a:srgbClr val="00A8A8"/>
                </a:solidFill>
                <a:latin typeface="Aptos" pitchFamily="34" charset="0"/>
              </a:rPr>
              <a:t> météo</a:t>
            </a:r>
            <a:endParaRPr lang="en-US" sz="850" dirty="0"/>
          </a:p>
        </p:txBody>
      </p:sp>
      <p:sp>
        <p:nvSpPr>
          <p:cNvPr id="38" name="Text 36"/>
          <p:cNvSpPr/>
          <p:nvPr/>
        </p:nvSpPr>
        <p:spPr>
          <a:xfrm>
            <a:off x="3822192" y="3090672"/>
            <a:ext cx="2139696" cy="310896"/>
          </a:xfrm>
          <a:prstGeom prst="rect">
            <a:avLst/>
          </a:prstGeom>
          <a:noFill/>
          <a:ln/>
        </p:spPr>
        <p:txBody>
          <a:bodyPr wrap="square" lIns="0" tIns="0" rIns="0" bIns="0" rtlCol="0" anchor="ctr">
            <a:normAutofit/>
          </a:bodyPr>
          <a:lstStyle/>
          <a:p>
            <a:pPr marL="0" indent="0">
              <a:buNone/>
            </a:pPr>
            <a:r>
              <a:rPr lang="en-US" sz="1350" b="1" dirty="0" err="1">
                <a:solidFill>
                  <a:srgbClr val="0B1F3A"/>
                </a:solidFill>
                <a:latin typeface="Aptos Display" pitchFamily="34" charset="0"/>
              </a:rPr>
              <a:t>Température</a:t>
            </a:r>
            <a:r>
              <a:rPr lang="en-US" sz="1350" b="1" dirty="0">
                <a:solidFill>
                  <a:srgbClr val="0B1F3A"/>
                </a:solidFill>
                <a:latin typeface="Aptos Display" pitchFamily="34" charset="0"/>
              </a:rPr>
              <a:t> et </a:t>
            </a:r>
            <a:r>
              <a:rPr lang="en-US" sz="1350" b="1" dirty="0" err="1">
                <a:solidFill>
                  <a:srgbClr val="0B1F3A"/>
                </a:solidFill>
                <a:latin typeface="Aptos Display" pitchFamily="34" charset="0"/>
              </a:rPr>
              <a:t>pluie</a:t>
            </a:r>
            <a:endParaRPr lang="en-US" sz="1350" dirty="0"/>
          </a:p>
        </p:txBody>
      </p:sp>
      <p:sp>
        <p:nvSpPr>
          <p:cNvPr id="39" name="Text 37"/>
          <p:cNvSpPr/>
          <p:nvPr/>
        </p:nvSpPr>
        <p:spPr>
          <a:xfrm>
            <a:off x="3822192" y="3474720"/>
            <a:ext cx="2139696" cy="1892808"/>
          </a:xfrm>
          <a:prstGeom prst="rect">
            <a:avLst/>
          </a:prstGeom>
          <a:noFill/>
          <a:ln/>
        </p:spPr>
        <p:txBody>
          <a:bodyPr wrap="square" lIns="0" tIns="0" rIns="0" bIns="0" rtlCol="0" anchor="t">
            <a:normAutofit fontScale="92500"/>
          </a:bodyPr>
          <a:lstStyle/>
          <a:p>
            <a:r>
              <a:rPr lang="fr-FR" sz="1100" dirty="0"/>
              <a:t>informations sur la météo grâce à </a:t>
            </a:r>
            <a:r>
              <a:rPr lang="fr-FR" sz="1100" b="1" dirty="0"/>
              <a:t>Open-</a:t>
            </a:r>
            <a:r>
              <a:rPr lang="fr-FR" sz="1100" b="1" dirty="0" err="1"/>
              <a:t>Meteo</a:t>
            </a:r>
            <a:r>
              <a:rPr lang="fr-FR" sz="1100" b="1" dirty="0"/>
              <a:t>.</a:t>
            </a:r>
          </a:p>
          <a:p>
            <a:endParaRPr lang="fr-FR" sz="1100" b="1" dirty="0"/>
          </a:p>
          <a:p>
            <a:r>
              <a:rPr lang="fr-FR" sz="1100" dirty="0"/>
              <a:t>la température moyenne et les précipitations</a:t>
            </a:r>
          </a:p>
          <a:p>
            <a:endParaRPr lang="fr-FR" sz="1100" b="1" dirty="0"/>
          </a:p>
          <a:p>
            <a:r>
              <a:rPr lang="fr-FR" sz="1100" dirty="0"/>
              <a:t>Ces informations ont ensuite été regroupées par mois et par pays.</a:t>
            </a:r>
          </a:p>
          <a:p>
            <a:endParaRPr lang="fr-FR" sz="1100" b="1" dirty="0"/>
          </a:p>
          <a:p>
            <a:r>
              <a:rPr lang="fr-FR" sz="1100" dirty="0"/>
              <a:t>L’objectif est de vérifier si la météo peut avoir une influence sur les ventes de certains produits agricoles.</a:t>
            </a:r>
            <a:endParaRPr lang="fr-FR" sz="1100" b="1" dirty="0"/>
          </a:p>
          <a:p>
            <a:endParaRPr lang="fr-FR" sz="1100" b="1" dirty="0"/>
          </a:p>
          <a:p>
            <a:endParaRPr lang="en-US" sz="1060" dirty="0"/>
          </a:p>
        </p:txBody>
      </p:sp>
      <p:sp>
        <p:nvSpPr>
          <p:cNvPr id="40" name="Shape 38"/>
          <p:cNvSpPr/>
          <p:nvPr/>
        </p:nvSpPr>
        <p:spPr>
          <a:xfrm>
            <a:off x="6364224" y="2578608"/>
            <a:ext cx="2542032" cy="2944368"/>
          </a:xfrm>
          <a:prstGeom prst="roundRect">
            <a:avLst>
              <a:gd name="adj" fmla="val 2878"/>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41" name="Shape 39"/>
          <p:cNvSpPr/>
          <p:nvPr/>
        </p:nvSpPr>
        <p:spPr>
          <a:xfrm>
            <a:off x="6364224" y="2578608"/>
            <a:ext cx="64008" cy="2944368"/>
          </a:xfrm>
          <a:prstGeom prst="rect">
            <a:avLst/>
          </a:prstGeom>
          <a:solidFill>
            <a:srgbClr val="F59E0B"/>
          </a:solidFill>
          <a:ln w="12700">
            <a:solidFill>
              <a:srgbClr val="F59E0B"/>
            </a:solidFill>
            <a:prstDash val="solid"/>
          </a:ln>
        </p:spPr>
        <p:txBody>
          <a:bodyPr/>
          <a:lstStyle/>
          <a:p>
            <a:endParaRPr lang="fr-FR"/>
          </a:p>
        </p:txBody>
      </p:sp>
      <p:sp>
        <p:nvSpPr>
          <p:cNvPr id="42" name="Shape 40"/>
          <p:cNvSpPr/>
          <p:nvPr/>
        </p:nvSpPr>
        <p:spPr>
          <a:xfrm>
            <a:off x="6565392" y="2743200"/>
            <a:ext cx="1527048" cy="292608"/>
          </a:xfrm>
          <a:prstGeom prst="roundRect">
            <a:avLst>
              <a:gd name="adj" fmla="val 25000"/>
            </a:avLst>
          </a:prstGeom>
          <a:solidFill>
            <a:srgbClr val="FFF2D6"/>
          </a:solidFill>
          <a:ln w="12700">
            <a:solidFill>
              <a:srgbClr val="FFF2D6"/>
            </a:solidFill>
            <a:prstDash val="solid"/>
          </a:ln>
        </p:spPr>
        <p:txBody>
          <a:bodyPr/>
          <a:lstStyle/>
          <a:p>
            <a:endParaRPr lang="fr-FR"/>
          </a:p>
        </p:txBody>
      </p:sp>
      <p:sp>
        <p:nvSpPr>
          <p:cNvPr id="43" name="Text 41"/>
          <p:cNvSpPr/>
          <p:nvPr/>
        </p:nvSpPr>
        <p:spPr>
          <a:xfrm>
            <a:off x="6656832" y="2811780"/>
            <a:ext cx="1344168" cy="146304"/>
          </a:xfrm>
          <a:prstGeom prst="rect">
            <a:avLst/>
          </a:prstGeom>
          <a:noFill/>
          <a:ln/>
        </p:spPr>
        <p:txBody>
          <a:bodyPr wrap="square" lIns="0" tIns="0" rIns="0" bIns="0" rtlCol="0" anchor="ctr">
            <a:normAutofit/>
          </a:bodyPr>
          <a:lstStyle/>
          <a:p>
            <a:pPr marL="0" indent="0" algn="ctr">
              <a:buNone/>
            </a:pPr>
            <a:r>
              <a:rPr lang="en-US" sz="850" b="1" dirty="0" err="1">
                <a:solidFill>
                  <a:srgbClr val="F59E0B"/>
                </a:solidFill>
                <a:latin typeface="Aptos" pitchFamily="34" charset="0"/>
                <a:ea typeface="Aptos" pitchFamily="34" charset="-122"/>
                <a:cs typeface="Aptos" pitchFamily="34" charset="-120"/>
              </a:rPr>
              <a:t>Bdonnées</a:t>
            </a:r>
            <a:r>
              <a:rPr lang="en-US" sz="850" b="1" dirty="0">
                <a:solidFill>
                  <a:srgbClr val="F59E0B"/>
                </a:solidFill>
                <a:latin typeface="Aptos" pitchFamily="34" charset="0"/>
                <a:ea typeface="Aptos" pitchFamily="34" charset="-122"/>
                <a:cs typeface="Aptos" pitchFamily="34" charset="-120"/>
              </a:rPr>
              <a:t> </a:t>
            </a:r>
            <a:r>
              <a:rPr lang="en-US" sz="850" b="1" dirty="0" err="1">
                <a:solidFill>
                  <a:srgbClr val="F59E0B"/>
                </a:solidFill>
                <a:latin typeface="Aptos" pitchFamily="34" charset="0"/>
                <a:ea typeface="Aptos" pitchFamily="34" charset="-122"/>
                <a:cs typeface="Aptos" pitchFamily="34" charset="-120"/>
              </a:rPr>
              <a:t>économiques</a:t>
            </a:r>
            <a:endParaRPr lang="en-US" sz="850" dirty="0"/>
          </a:p>
        </p:txBody>
      </p:sp>
      <p:sp>
        <p:nvSpPr>
          <p:cNvPr id="44" name="Text 42"/>
          <p:cNvSpPr/>
          <p:nvPr/>
        </p:nvSpPr>
        <p:spPr>
          <a:xfrm>
            <a:off x="6565392" y="3090672"/>
            <a:ext cx="2139696" cy="310896"/>
          </a:xfrm>
          <a:prstGeom prst="rect">
            <a:avLst/>
          </a:prstGeom>
          <a:noFill/>
          <a:ln/>
        </p:spPr>
        <p:txBody>
          <a:bodyPr wrap="square" lIns="0" tIns="0" rIns="0" bIns="0" rtlCol="0" anchor="ctr">
            <a:normAutofit fontScale="85000" lnSpcReduction="20000"/>
          </a:bodyPr>
          <a:lstStyle/>
          <a:p>
            <a:r>
              <a:rPr lang="fr-FR" sz="1400" b="1" dirty="0"/>
              <a:t>Situation économique des pays</a:t>
            </a:r>
            <a:endParaRPr lang="en-US" sz="1350" b="1" dirty="0"/>
          </a:p>
        </p:txBody>
      </p:sp>
      <p:sp>
        <p:nvSpPr>
          <p:cNvPr id="45" name="Text 43"/>
          <p:cNvSpPr/>
          <p:nvPr/>
        </p:nvSpPr>
        <p:spPr>
          <a:xfrm>
            <a:off x="6565392" y="3474720"/>
            <a:ext cx="2139696" cy="1892808"/>
          </a:xfrm>
          <a:prstGeom prst="rect">
            <a:avLst/>
          </a:prstGeom>
          <a:noFill/>
          <a:ln/>
        </p:spPr>
        <p:txBody>
          <a:bodyPr wrap="square" lIns="0" tIns="0" rIns="0" bIns="0" rtlCol="0" anchor="t">
            <a:normAutofit fontScale="92500"/>
          </a:bodyPr>
          <a:lstStyle/>
          <a:p>
            <a:r>
              <a:rPr lang="fr-FR" sz="1100" dirty="0"/>
              <a:t>Données de la </a:t>
            </a:r>
            <a:r>
              <a:rPr lang="fr-FR" sz="1100" b="1" dirty="0"/>
              <a:t>Banque mondiale (</a:t>
            </a:r>
            <a:r>
              <a:rPr lang="fr-FR" sz="1100" dirty="0"/>
              <a:t>l’inflation et l’évolution de l’économie)</a:t>
            </a:r>
          </a:p>
          <a:p>
            <a:endParaRPr lang="fr-FR" sz="1100" dirty="0"/>
          </a:p>
          <a:p>
            <a:r>
              <a:rPr lang="fr-FR" sz="1100" dirty="0"/>
              <a:t>Ces données permettent de donner au modèle une idée de la situation économique du pays au moment des ventes.</a:t>
            </a:r>
          </a:p>
          <a:p>
            <a:endParaRPr lang="fr-FR" sz="1100" dirty="0"/>
          </a:p>
          <a:p>
            <a:r>
              <a:rPr lang="fr-FR" sz="1100" dirty="0"/>
              <a:t>Par exemple, une période de forte inflation peut avoir un impact sur les prix et sur les achats des clients.</a:t>
            </a:r>
            <a:endParaRPr lang="en-US" sz="1060" dirty="0"/>
          </a:p>
        </p:txBody>
      </p:sp>
      <p:sp>
        <p:nvSpPr>
          <p:cNvPr id="46" name="Shape 44"/>
          <p:cNvSpPr/>
          <p:nvPr/>
        </p:nvSpPr>
        <p:spPr>
          <a:xfrm>
            <a:off x="9107424" y="2578608"/>
            <a:ext cx="2414016" cy="2944368"/>
          </a:xfrm>
          <a:prstGeom prst="roundRect">
            <a:avLst>
              <a:gd name="adj" fmla="val 3030"/>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47" name="Shape 45"/>
          <p:cNvSpPr/>
          <p:nvPr/>
        </p:nvSpPr>
        <p:spPr>
          <a:xfrm>
            <a:off x="9107424" y="2578608"/>
            <a:ext cx="64008" cy="2944368"/>
          </a:xfrm>
          <a:prstGeom prst="rect">
            <a:avLst/>
          </a:prstGeom>
          <a:solidFill>
            <a:srgbClr val="2F9E6D"/>
          </a:solidFill>
          <a:ln w="12700">
            <a:solidFill>
              <a:srgbClr val="2F9E6D"/>
            </a:solidFill>
            <a:prstDash val="solid"/>
          </a:ln>
        </p:spPr>
        <p:txBody>
          <a:bodyPr/>
          <a:lstStyle/>
          <a:p>
            <a:endParaRPr lang="fr-FR"/>
          </a:p>
        </p:txBody>
      </p:sp>
      <p:sp>
        <p:nvSpPr>
          <p:cNvPr id="48" name="Shape 46"/>
          <p:cNvSpPr/>
          <p:nvPr/>
        </p:nvSpPr>
        <p:spPr>
          <a:xfrm>
            <a:off x="9308592" y="2743200"/>
            <a:ext cx="2011680" cy="347472"/>
          </a:xfrm>
          <a:prstGeom prst="roundRect">
            <a:avLst>
              <a:gd name="adj" fmla="val 25000"/>
            </a:avLst>
          </a:prstGeom>
          <a:solidFill>
            <a:srgbClr val="DDF4F3"/>
          </a:solidFill>
          <a:ln w="12700">
            <a:solidFill>
              <a:srgbClr val="DDF4F3"/>
            </a:solidFill>
            <a:prstDash val="solid"/>
          </a:ln>
        </p:spPr>
        <p:txBody>
          <a:bodyPr/>
          <a:lstStyle/>
          <a:p>
            <a:endParaRPr lang="fr-FR"/>
          </a:p>
        </p:txBody>
      </p:sp>
      <p:sp>
        <p:nvSpPr>
          <p:cNvPr id="49" name="Text 47"/>
          <p:cNvSpPr/>
          <p:nvPr/>
        </p:nvSpPr>
        <p:spPr>
          <a:xfrm>
            <a:off x="9400032" y="2811780"/>
            <a:ext cx="1840992" cy="224028"/>
          </a:xfrm>
          <a:prstGeom prst="rect">
            <a:avLst/>
          </a:prstGeom>
          <a:noFill/>
          <a:ln/>
        </p:spPr>
        <p:txBody>
          <a:bodyPr wrap="square" lIns="0" tIns="0" rIns="0" bIns="0" rtlCol="0" anchor="ctr">
            <a:noAutofit/>
          </a:bodyPr>
          <a:lstStyle/>
          <a:p>
            <a:pPr algn="ctr"/>
            <a:r>
              <a:rPr lang="fr-FR" sz="900" dirty="0">
                <a:solidFill>
                  <a:schemeClr val="accent6"/>
                </a:solidFill>
              </a:rPr>
              <a:t>Prix des matières premières et taux d’intérêt</a:t>
            </a:r>
            <a:endParaRPr lang="en-US" sz="900" dirty="0">
              <a:solidFill>
                <a:schemeClr val="accent6"/>
              </a:solidFill>
            </a:endParaRPr>
          </a:p>
        </p:txBody>
      </p:sp>
      <p:sp>
        <p:nvSpPr>
          <p:cNvPr id="50" name="Text 48"/>
          <p:cNvSpPr/>
          <p:nvPr/>
        </p:nvSpPr>
        <p:spPr>
          <a:xfrm>
            <a:off x="9308592" y="3090672"/>
            <a:ext cx="2084832" cy="292608"/>
          </a:xfrm>
          <a:prstGeom prst="rect">
            <a:avLst/>
          </a:prstGeom>
          <a:noFill/>
          <a:ln/>
        </p:spPr>
        <p:txBody>
          <a:bodyPr wrap="square" lIns="0" tIns="0" rIns="0" bIns="0" rtlCol="0" anchor="ctr">
            <a:normAutofit fontScale="85000" lnSpcReduction="10000"/>
          </a:bodyPr>
          <a:lstStyle/>
          <a:p>
            <a:r>
              <a:rPr lang="fr-FR" sz="1400" b="1" dirty="0"/>
              <a:t>Informations sur les marchés</a:t>
            </a:r>
            <a:endParaRPr lang="en-US" sz="1350" b="1" dirty="0"/>
          </a:p>
        </p:txBody>
      </p:sp>
      <p:sp>
        <p:nvSpPr>
          <p:cNvPr id="51" name="Text 49"/>
          <p:cNvSpPr/>
          <p:nvPr/>
        </p:nvSpPr>
        <p:spPr>
          <a:xfrm>
            <a:off x="9308592" y="3474720"/>
            <a:ext cx="2011680" cy="1892808"/>
          </a:xfrm>
          <a:prstGeom prst="rect">
            <a:avLst/>
          </a:prstGeom>
          <a:noFill/>
          <a:ln/>
        </p:spPr>
        <p:txBody>
          <a:bodyPr wrap="square" lIns="0" tIns="0" rIns="0" bIns="0" rtlCol="0" anchor="t">
            <a:normAutofit/>
          </a:bodyPr>
          <a:lstStyle/>
          <a:p>
            <a:r>
              <a:rPr lang="fr-FR" sz="1100" dirty="0"/>
              <a:t>données provenant de </a:t>
            </a:r>
            <a:r>
              <a:rPr lang="fr-FR" sz="1100" b="1" dirty="0"/>
              <a:t>FRED</a:t>
            </a:r>
          </a:p>
          <a:p>
            <a:endParaRPr lang="fr-FR" sz="1100" b="1" dirty="0"/>
          </a:p>
          <a:p>
            <a:r>
              <a:rPr lang="fr-FR" sz="1100" dirty="0"/>
              <a:t>les taux d’intérêt et les prix mondiaux de produits agricoles comme le blé, le maïs et le soja.</a:t>
            </a:r>
          </a:p>
          <a:p>
            <a:endParaRPr lang="fr-FR" sz="1100" dirty="0"/>
          </a:p>
          <a:p>
            <a:r>
              <a:rPr lang="fr-FR" sz="1100" dirty="0"/>
              <a:t>Ces informations peuvent être importantes car une variation du prix des matières premières peut avoir un impact sur les ventes et sur les besoins en stock.</a:t>
            </a:r>
            <a:endParaRPr lang="en-US" sz="1060" dirty="0"/>
          </a:p>
        </p:txBody>
      </p:sp>
      <p:sp>
        <p:nvSpPr>
          <p:cNvPr id="52" name="Text 50"/>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53"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TRANSFORMATION</a:t>
            </a:r>
            <a:endParaRPr lang="en-US" sz="950" dirty="0"/>
          </a:p>
        </p:txBody>
      </p:sp>
      <p:sp>
        <p:nvSpPr>
          <p:cNvPr id="3" name="Text 1"/>
          <p:cNvSpPr/>
          <p:nvPr/>
        </p:nvSpPr>
        <p:spPr>
          <a:xfrm>
            <a:off x="621792" y="612648"/>
            <a:ext cx="10744200" cy="475488"/>
          </a:xfrm>
          <a:prstGeom prst="rect">
            <a:avLst/>
          </a:prstGeom>
          <a:noFill/>
          <a:ln/>
        </p:spPr>
        <p:txBody>
          <a:bodyPr wrap="square" lIns="0" tIns="0" rIns="0" bIns="0" rtlCol="0" anchor="ctr">
            <a:normAutofit/>
          </a:bodyPr>
          <a:lstStyle/>
          <a:p>
            <a:r>
              <a:rPr lang="fr-FR" sz="2800" b="1" dirty="0"/>
              <a:t>Préparation des données pour la prédiction</a:t>
            </a:r>
            <a:endParaRPr lang="en-US" sz="2600" b="1" dirty="0"/>
          </a:p>
        </p:txBody>
      </p:sp>
      <p:sp>
        <p:nvSpPr>
          <p:cNvPr id="4" name="Shape 2"/>
          <p:cNvSpPr/>
          <p:nvPr/>
        </p:nvSpPr>
        <p:spPr>
          <a:xfrm>
            <a:off x="658368" y="1298448"/>
            <a:ext cx="2880360" cy="4297680"/>
          </a:xfrm>
          <a:prstGeom prst="roundRect">
            <a:avLst>
              <a:gd name="adj" fmla="val 2540"/>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a:p>
        </p:txBody>
      </p:sp>
      <p:sp>
        <p:nvSpPr>
          <p:cNvPr id="5" name="Text 3"/>
          <p:cNvSpPr/>
          <p:nvPr/>
        </p:nvSpPr>
        <p:spPr>
          <a:xfrm>
            <a:off x="914400" y="1600200"/>
            <a:ext cx="2377440" cy="274320"/>
          </a:xfrm>
          <a:prstGeom prst="rect">
            <a:avLst/>
          </a:prstGeom>
          <a:noFill/>
          <a:ln/>
        </p:spPr>
        <p:txBody>
          <a:bodyPr wrap="square" lIns="0" tIns="0" rIns="0" bIns="0" rtlCol="0" anchor="ctr"/>
          <a:lstStyle/>
          <a:p>
            <a:r>
              <a:rPr lang="en-US" sz="1600" b="1" dirty="0">
                <a:solidFill>
                  <a:srgbClr val="0B1F3A"/>
                </a:solidFill>
                <a:latin typeface="Aptos Display" pitchFamily="34" charset="0"/>
                <a:ea typeface="Aptos Display" pitchFamily="34" charset="-122"/>
                <a:cs typeface="Aptos Display" pitchFamily="34" charset="-120"/>
              </a:rPr>
              <a:t>1. </a:t>
            </a:r>
            <a:r>
              <a:rPr lang="fr-FR" sz="1600" b="1" dirty="0"/>
              <a:t>Nettoyage des données</a:t>
            </a:r>
            <a:endParaRPr lang="en-US" sz="1600" b="1" dirty="0"/>
          </a:p>
        </p:txBody>
      </p:sp>
      <p:sp>
        <p:nvSpPr>
          <p:cNvPr id="6" name="Text 4"/>
          <p:cNvSpPr/>
          <p:nvPr/>
        </p:nvSpPr>
        <p:spPr>
          <a:xfrm>
            <a:off x="914400" y="2011680"/>
            <a:ext cx="2377440" cy="3200400"/>
          </a:xfrm>
          <a:prstGeom prst="rect">
            <a:avLst/>
          </a:prstGeom>
          <a:noFill/>
          <a:ln/>
        </p:spPr>
        <p:txBody>
          <a:bodyPr wrap="square" lIns="254" tIns="254" rIns="254" bIns="254" rtlCol="0" anchor="t">
            <a:normAutofit/>
          </a:bodyPr>
          <a:lstStyle/>
          <a:p>
            <a:r>
              <a:rPr lang="fr-FR" sz="1100" dirty="0"/>
              <a:t>Avant de créer les modèles, </a:t>
            </a:r>
            <a:r>
              <a:rPr lang="fr-FR" sz="1100" dirty="0" err="1"/>
              <a:t>commencér</a:t>
            </a:r>
            <a:r>
              <a:rPr lang="fr-FR" sz="1100" dirty="0"/>
              <a:t> par préparer les données.</a:t>
            </a:r>
          </a:p>
          <a:p>
            <a:endParaRPr lang="fr-FR" sz="1100" dirty="0"/>
          </a:p>
          <a:p>
            <a:pPr marL="171450" lvl="0" indent="-171450">
              <a:buFont typeface="Arial" panose="020B0604020202020204" pitchFamily="34" charset="0"/>
              <a:buChar char="•"/>
            </a:pPr>
            <a:r>
              <a:rPr lang="fr-FR" sz="1100" dirty="0"/>
              <a:t>Vérifier et corriger les dates et les quantités. </a:t>
            </a:r>
          </a:p>
          <a:p>
            <a:pPr marL="171450" lvl="0" indent="-171450">
              <a:buFont typeface="Arial" panose="020B0604020202020204" pitchFamily="34" charset="0"/>
              <a:buChar char="•"/>
            </a:pPr>
            <a:r>
              <a:rPr lang="fr-FR" sz="1100" dirty="0"/>
              <a:t>Regrouper les données météo par mois et par pays. </a:t>
            </a:r>
          </a:p>
          <a:p>
            <a:pPr marL="171450" lvl="0" indent="-171450">
              <a:buFont typeface="Arial" panose="020B0604020202020204" pitchFamily="34" charset="0"/>
              <a:buChar char="•"/>
            </a:pPr>
            <a:r>
              <a:rPr lang="fr-FR" sz="1100" dirty="0"/>
              <a:t>Ajouter les données externes aux données de ventes. </a:t>
            </a:r>
          </a:p>
          <a:p>
            <a:pPr marL="171450" lvl="0" indent="-171450">
              <a:buFont typeface="Arial" panose="020B0604020202020204" pitchFamily="34" charset="0"/>
              <a:buChar char="•"/>
            </a:pPr>
            <a:r>
              <a:rPr lang="fr-FR" sz="1100" dirty="0"/>
              <a:t>Vérifier les valeurs manquantes. </a:t>
            </a:r>
          </a:p>
          <a:p>
            <a:pPr marL="171450" lvl="0" indent="-171450">
              <a:buFont typeface="Arial" panose="020B0604020202020204" pitchFamily="34" charset="0"/>
              <a:buChar char="•"/>
            </a:pPr>
            <a:r>
              <a:rPr lang="fr-FR" sz="1100" dirty="0"/>
              <a:t>Garder certaines valeurs très élevées, car elles peuvent correspondre à de vraies grosses commandes. </a:t>
            </a:r>
          </a:p>
          <a:p>
            <a:pPr lvl="0"/>
            <a:endParaRPr lang="fr-FR" sz="1100" dirty="0"/>
          </a:p>
          <a:p>
            <a:r>
              <a:rPr lang="fr-FR" sz="1100" dirty="0"/>
              <a:t>L’objectif est d’avoir des données </a:t>
            </a:r>
            <a:r>
              <a:rPr lang="fr-FR" sz="1100" b="1" dirty="0"/>
              <a:t>propres, cohérentes et prêtes à être utilisées</a:t>
            </a:r>
            <a:r>
              <a:rPr lang="fr-FR" sz="1100" dirty="0"/>
              <a:t> par les modèles.</a:t>
            </a:r>
          </a:p>
          <a:p>
            <a:pPr marL="152400" indent="-152400">
              <a:buSzPct val="100000"/>
              <a:buChar char="•"/>
            </a:pPr>
            <a:endParaRPr lang="en-US" sz="1100" dirty="0"/>
          </a:p>
        </p:txBody>
      </p:sp>
      <p:sp>
        <p:nvSpPr>
          <p:cNvPr id="7" name="Shape 5"/>
          <p:cNvSpPr/>
          <p:nvPr/>
        </p:nvSpPr>
        <p:spPr>
          <a:xfrm>
            <a:off x="3712464" y="2944368"/>
            <a:ext cx="420624" cy="530352"/>
          </a:xfrm>
          <a:prstGeom prst="chevron">
            <a:avLst/>
          </a:prstGeom>
          <a:solidFill>
            <a:srgbClr val="C7D0DC"/>
          </a:solidFill>
          <a:ln w="12700">
            <a:solidFill>
              <a:srgbClr val="C7D0DC"/>
            </a:solidFill>
            <a:prstDash val="solid"/>
          </a:ln>
        </p:spPr>
        <p:txBody>
          <a:bodyPr/>
          <a:lstStyle/>
          <a:p>
            <a:endParaRPr lang="fr-FR"/>
          </a:p>
        </p:txBody>
      </p:sp>
      <p:sp>
        <p:nvSpPr>
          <p:cNvPr id="8" name="Shape 6"/>
          <p:cNvSpPr/>
          <p:nvPr/>
        </p:nvSpPr>
        <p:spPr>
          <a:xfrm>
            <a:off x="4297680" y="1298448"/>
            <a:ext cx="3108960" cy="4297680"/>
          </a:xfrm>
          <a:prstGeom prst="roundRect">
            <a:avLst>
              <a:gd name="adj" fmla="val 2353"/>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dirty="0"/>
          </a:p>
        </p:txBody>
      </p:sp>
      <p:sp>
        <p:nvSpPr>
          <p:cNvPr id="9" name="Text 7"/>
          <p:cNvSpPr/>
          <p:nvPr/>
        </p:nvSpPr>
        <p:spPr>
          <a:xfrm>
            <a:off x="4553712" y="1600200"/>
            <a:ext cx="2504036" cy="201168"/>
          </a:xfrm>
          <a:prstGeom prst="rect">
            <a:avLst/>
          </a:prstGeom>
          <a:noFill/>
          <a:ln/>
        </p:spPr>
        <p:txBody>
          <a:bodyPr wrap="square" lIns="0" tIns="0" rIns="0" bIns="0" rtlCol="0" anchor="ctr"/>
          <a:lstStyle/>
          <a:p>
            <a:r>
              <a:rPr lang="fr-FR" sz="1600" b="1" dirty="0"/>
              <a:t>2. Organisation des ventes par mois</a:t>
            </a:r>
            <a:endParaRPr lang="en-US" sz="1600" b="1" dirty="0"/>
          </a:p>
        </p:txBody>
      </p:sp>
      <p:sp>
        <p:nvSpPr>
          <p:cNvPr id="10" name="Text 8"/>
          <p:cNvSpPr/>
          <p:nvPr/>
        </p:nvSpPr>
        <p:spPr>
          <a:xfrm>
            <a:off x="4553712" y="2121408"/>
            <a:ext cx="2606040" cy="3246120"/>
          </a:xfrm>
          <a:prstGeom prst="rect">
            <a:avLst/>
          </a:prstGeom>
          <a:noFill/>
          <a:ln/>
        </p:spPr>
        <p:txBody>
          <a:bodyPr wrap="square" lIns="254" tIns="254" rIns="254" bIns="254" rtlCol="0" anchor="t">
            <a:normAutofit/>
          </a:bodyPr>
          <a:lstStyle/>
          <a:p>
            <a:r>
              <a:rPr lang="fr-FR" sz="1100" dirty="0"/>
              <a:t>organiser les données pour avoir une ligne par : </a:t>
            </a:r>
            <a:r>
              <a:rPr lang="fr-FR" sz="1100" b="1" dirty="0"/>
              <a:t>produit + pays + mois</a:t>
            </a:r>
          </a:p>
          <a:p>
            <a:endParaRPr lang="fr-FR" sz="1100" b="1" dirty="0"/>
          </a:p>
          <a:p>
            <a:r>
              <a:rPr lang="fr-FR" sz="1100" dirty="0"/>
              <a:t>Pour chaque mois, </a:t>
            </a:r>
            <a:r>
              <a:rPr lang="fr-FR" sz="1100" dirty="0" err="1"/>
              <a:t>caluler</a:t>
            </a:r>
            <a:r>
              <a:rPr lang="fr-FR" sz="1100" dirty="0"/>
              <a:t> la quantité vendue</a:t>
            </a:r>
          </a:p>
          <a:p>
            <a:endParaRPr lang="fr-FR" sz="1100" dirty="0"/>
          </a:p>
          <a:p>
            <a:r>
              <a:rPr lang="fr-FR" sz="1100" dirty="0"/>
              <a:t>Quand un produit n’a aucune vente pendant un mois, je mets simplement la valeur à </a:t>
            </a:r>
            <a:r>
              <a:rPr lang="fr-FR" sz="1100" b="1" dirty="0"/>
              <a:t>0</a:t>
            </a:r>
            <a:r>
              <a:rPr lang="fr-FR" sz="1100" dirty="0"/>
              <a:t>.</a:t>
            </a:r>
          </a:p>
          <a:p>
            <a:endParaRPr lang="fr-FR" sz="1100" dirty="0"/>
          </a:p>
          <a:p>
            <a:r>
              <a:rPr lang="fr-FR" sz="1100" dirty="0"/>
              <a:t>compléter certaines données externes manquantes pour éviter d’avoir des trous dans les informations.</a:t>
            </a:r>
          </a:p>
          <a:p>
            <a:endParaRPr lang="fr-FR" sz="1100" dirty="0"/>
          </a:p>
          <a:p>
            <a:r>
              <a:rPr lang="fr-FR" sz="1100" dirty="0"/>
              <a:t>Enfin, pour les données externes, utiliser les informations du </a:t>
            </a:r>
            <a:r>
              <a:rPr lang="fr-FR" sz="1100" b="1" dirty="0"/>
              <a:t>mois précédent</a:t>
            </a:r>
            <a:r>
              <a:rPr lang="fr-FR" sz="1100" dirty="0"/>
              <a:t>. Cela permet d’éviter d’utiliser une information du futur pour prédire le passé.</a:t>
            </a:r>
          </a:p>
          <a:p>
            <a:endParaRPr lang="fr-FR" sz="1100" dirty="0"/>
          </a:p>
          <a:p>
            <a:pPr marL="152400" indent="-152400">
              <a:buSzPct val="100000"/>
              <a:buChar char="•"/>
            </a:pPr>
            <a:endParaRPr lang="en-US" sz="1080" dirty="0"/>
          </a:p>
        </p:txBody>
      </p:sp>
      <p:sp>
        <p:nvSpPr>
          <p:cNvPr id="11" name="Shape 9"/>
          <p:cNvSpPr/>
          <p:nvPr/>
        </p:nvSpPr>
        <p:spPr>
          <a:xfrm>
            <a:off x="7589520" y="2944368"/>
            <a:ext cx="420624" cy="530352"/>
          </a:xfrm>
          <a:prstGeom prst="chevron">
            <a:avLst/>
          </a:prstGeom>
          <a:solidFill>
            <a:srgbClr val="C7D0DC"/>
          </a:solidFill>
          <a:ln w="12700">
            <a:solidFill>
              <a:srgbClr val="C7D0DC"/>
            </a:solidFill>
            <a:prstDash val="solid"/>
          </a:ln>
        </p:spPr>
        <p:txBody>
          <a:bodyPr/>
          <a:lstStyle/>
          <a:p>
            <a:endParaRPr lang="fr-FR"/>
          </a:p>
        </p:txBody>
      </p:sp>
      <p:sp>
        <p:nvSpPr>
          <p:cNvPr id="12" name="Shape 10"/>
          <p:cNvSpPr/>
          <p:nvPr/>
        </p:nvSpPr>
        <p:spPr>
          <a:xfrm>
            <a:off x="8193024" y="1298448"/>
            <a:ext cx="3328416" cy="4297680"/>
          </a:xfrm>
          <a:prstGeom prst="roundRect">
            <a:avLst>
              <a:gd name="adj" fmla="val 2198"/>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a:p>
        </p:txBody>
      </p:sp>
      <p:sp>
        <p:nvSpPr>
          <p:cNvPr id="13" name="Text 11"/>
          <p:cNvSpPr/>
          <p:nvPr/>
        </p:nvSpPr>
        <p:spPr>
          <a:xfrm>
            <a:off x="8449056" y="1600200"/>
            <a:ext cx="2916936" cy="274320"/>
          </a:xfrm>
          <a:prstGeom prst="rect">
            <a:avLst/>
          </a:prstGeom>
          <a:noFill/>
          <a:ln/>
        </p:spPr>
        <p:txBody>
          <a:bodyPr wrap="square" lIns="0" tIns="0" rIns="0" bIns="0" rtlCol="0" anchor="ctr"/>
          <a:lstStyle/>
          <a:p>
            <a:r>
              <a:rPr lang="fr-FR" sz="1600" b="1" dirty="0"/>
              <a:t>3. Informations utilisées par le modèle</a:t>
            </a:r>
            <a:endParaRPr lang="en-US" sz="1600" b="1" dirty="0"/>
          </a:p>
        </p:txBody>
      </p:sp>
      <p:sp>
        <p:nvSpPr>
          <p:cNvPr id="33" name="Text 31"/>
          <p:cNvSpPr/>
          <p:nvPr/>
        </p:nvSpPr>
        <p:spPr>
          <a:xfrm>
            <a:off x="8449056" y="3474720"/>
            <a:ext cx="2828544" cy="1892808"/>
          </a:xfrm>
          <a:prstGeom prst="rect">
            <a:avLst/>
          </a:prstGeom>
          <a:noFill/>
          <a:ln/>
        </p:spPr>
        <p:txBody>
          <a:bodyPr wrap="square" lIns="0" tIns="0" rIns="0" bIns="0" rtlCol="0" anchor="ctr">
            <a:noAutofit/>
          </a:bodyPr>
          <a:lstStyle/>
          <a:p>
            <a:endParaRPr lang="fr-FR" sz="900" dirty="0"/>
          </a:p>
          <a:p>
            <a:endParaRPr lang="fr-FR" sz="900" dirty="0"/>
          </a:p>
          <a:p>
            <a:endParaRPr lang="fr-FR" sz="900" dirty="0"/>
          </a:p>
          <a:p>
            <a:endParaRPr lang="fr-FR" sz="900" dirty="0"/>
          </a:p>
          <a:p>
            <a:r>
              <a:rPr lang="fr-FR" sz="900" dirty="0"/>
              <a:t>Pour aider le modèle à prévoir les ventes, on lui donne plusieurs informations.</a:t>
            </a:r>
          </a:p>
          <a:p>
            <a:endParaRPr lang="fr-FR" sz="900" dirty="0"/>
          </a:p>
          <a:p>
            <a:r>
              <a:rPr lang="fr-FR" sz="900" b="1" dirty="0"/>
              <a:t>Ventes précédentes</a:t>
            </a:r>
            <a:endParaRPr lang="fr-FR" sz="900" dirty="0"/>
          </a:p>
          <a:p>
            <a:pPr lvl="0"/>
            <a:endParaRPr lang="fr-FR" sz="900" dirty="0"/>
          </a:p>
          <a:p>
            <a:pPr lvl="0"/>
            <a:r>
              <a:rPr lang="fr-FR" sz="900" dirty="0"/>
              <a:t>Cela permet au modèle de regarder l’historique des ventes.</a:t>
            </a:r>
          </a:p>
          <a:p>
            <a:pPr lvl="0"/>
            <a:endParaRPr lang="fr-FR" sz="900" dirty="0"/>
          </a:p>
          <a:p>
            <a:r>
              <a:rPr lang="fr-FR" sz="900" b="1" dirty="0"/>
              <a:t>Moyenne des ventes récentes</a:t>
            </a:r>
            <a:endParaRPr lang="fr-FR" sz="900" dirty="0"/>
          </a:p>
          <a:p>
            <a:pPr lvl="0"/>
            <a:r>
              <a:rPr lang="fr-FR" sz="900" dirty="0"/>
              <a:t>moyenne des ventes des 3 derniers mois. </a:t>
            </a:r>
          </a:p>
          <a:p>
            <a:pPr lvl="0"/>
            <a:endParaRPr lang="fr-FR" sz="900" dirty="0"/>
          </a:p>
          <a:p>
            <a:r>
              <a:rPr lang="fr-FR" sz="900" b="1" dirty="0"/>
              <a:t>Données extérieures</a:t>
            </a:r>
            <a:endParaRPr lang="fr-FR" sz="900" dirty="0"/>
          </a:p>
          <a:p>
            <a:pPr lvl="0"/>
            <a:r>
              <a:rPr lang="fr-FR" sz="900" dirty="0"/>
              <a:t>Météo, données économiques,  prix des matières premières,</a:t>
            </a:r>
          </a:p>
          <a:p>
            <a:pPr lvl="0"/>
            <a:r>
              <a:rPr lang="fr-FR" sz="900" dirty="0"/>
              <a:t>taux d’intérêt. </a:t>
            </a:r>
          </a:p>
          <a:p>
            <a:pPr lvl="0"/>
            <a:endParaRPr lang="fr-FR" sz="900" dirty="0"/>
          </a:p>
          <a:p>
            <a:r>
              <a:rPr lang="fr-FR" sz="900" dirty="0"/>
              <a:t>utiliser les informations connues avant le mois que je cherche à prévoir.</a:t>
            </a:r>
          </a:p>
          <a:p>
            <a:endParaRPr lang="fr-FR" sz="900" dirty="0"/>
          </a:p>
          <a:p>
            <a:r>
              <a:rPr lang="fr-FR" sz="900" b="1" dirty="0"/>
              <a:t>Informations sur le temps et le produit</a:t>
            </a:r>
            <a:endParaRPr lang="fr-FR" sz="900" dirty="0"/>
          </a:p>
          <a:p>
            <a:pPr lvl="0"/>
            <a:r>
              <a:rPr lang="fr-FR" sz="900" dirty="0"/>
              <a:t>Mois, année,  produit, pays. </a:t>
            </a:r>
          </a:p>
          <a:p>
            <a:pPr lvl="0"/>
            <a:endParaRPr lang="fr-FR" sz="900" dirty="0"/>
          </a:p>
          <a:p>
            <a:r>
              <a:rPr lang="fr-FR" sz="900" dirty="0"/>
              <a:t>Cela aide le modèle à comprendre, par exemple, qu’un produit peut se vendre différemment selon le pays ou selon la période de l’année.</a:t>
            </a:r>
          </a:p>
          <a:p>
            <a:endParaRPr lang="fr-FR" sz="900" dirty="0"/>
          </a:p>
          <a:p>
            <a:endParaRPr lang="fr-FR" sz="900" dirty="0"/>
          </a:p>
          <a:p>
            <a:endParaRPr lang="fr-FR" sz="900" dirty="0"/>
          </a:p>
          <a:p>
            <a:endParaRPr lang="fr-FR" sz="900" dirty="0"/>
          </a:p>
          <a:p>
            <a:endParaRPr lang="fr-FR" sz="900" dirty="0"/>
          </a:p>
          <a:p>
            <a:endParaRPr lang="fr-FR" sz="900" dirty="0"/>
          </a:p>
          <a:p>
            <a:endParaRPr lang="fr-FR" sz="900" dirty="0"/>
          </a:p>
          <a:p>
            <a:endParaRPr lang="fr-FR" sz="900" dirty="0"/>
          </a:p>
          <a:p>
            <a:endParaRPr lang="fr-FR" sz="900" dirty="0"/>
          </a:p>
          <a:p>
            <a:endParaRPr lang="fr-FR" sz="900" dirty="0"/>
          </a:p>
          <a:p>
            <a:endParaRPr lang="fr-FR" sz="900" dirty="0"/>
          </a:p>
          <a:p>
            <a:endParaRPr lang="fr-FR" sz="900" dirty="0"/>
          </a:p>
          <a:p>
            <a:endParaRPr lang="fr-FR" sz="900" dirty="0"/>
          </a:p>
          <a:p>
            <a:endParaRPr lang="en-US" sz="900" dirty="0"/>
          </a:p>
        </p:txBody>
      </p:sp>
      <p:sp>
        <p:nvSpPr>
          <p:cNvPr id="34" name="Text 32"/>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35"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5</a:t>
            </a:fld>
            <a:endParaRPr lang="en-US"/>
          </a:p>
        </p:txBody>
      </p:sp>
      <p:sp>
        <p:nvSpPr>
          <p:cNvPr id="37" name="Shape 60">
            <a:extLst>
              <a:ext uri="{FF2B5EF4-FFF2-40B4-BE49-F238E27FC236}">
                <a16:creationId xmlns:a16="http://schemas.microsoft.com/office/drawing/2014/main" id="{B7512302-B44F-5F7B-F313-7FB1BF43C296}"/>
              </a:ext>
            </a:extLst>
          </p:cNvPr>
          <p:cNvSpPr/>
          <p:nvPr/>
        </p:nvSpPr>
        <p:spPr>
          <a:xfrm>
            <a:off x="621792" y="5605272"/>
            <a:ext cx="10844784" cy="640080"/>
          </a:xfrm>
          <a:prstGeom prst="roundRect">
            <a:avLst>
              <a:gd name="adj" fmla="val 8571"/>
            </a:avLst>
          </a:prstGeom>
          <a:solidFill>
            <a:srgbClr val="EDF3F8"/>
          </a:solidFill>
          <a:ln w="12700">
            <a:solidFill>
              <a:srgbClr val="DDE6EF"/>
            </a:solidFill>
            <a:prstDash val="solid"/>
          </a:ln>
        </p:spPr>
        <p:txBody>
          <a:bodyPr/>
          <a:lstStyle/>
          <a:p>
            <a:endParaRPr lang="fr-FR"/>
          </a:p>
        </p:txBody>
      </p:sp>
      <p:sp>
        <p:nvSpPr>
          <p:cNvPr id="39" name="Text 61">
            <a:extLst>
              <a:ext uri="{FF2B5EF4-FFF2-40B4-BE49-F238E27FC236}">
                <a16:creationId xmlns:a16="http://schemas.microsoft.com/office/drawing/2014/main" id="{666C9418-FA42-A3F4-DAE5-58D651F5D1B9}"/>
              </a:ext>
            </a:extLst>
          </p:cNvPr>
          <p:cNvSpPr/>
          <p:nvPr/>
        </p:nvSpPr>
        <p:spPr>
          <a:xfrm>
            <a:off x="859536" y="5797296"/>
            <a:ext cx="1234440" cy="201168"/>
          </a:xfrm>
          <a:prstGeom prst="rect">
            <a:avLst/>
          </a:prstGeom>
          <a:noFill/>
          <a:ln/>
        </p:spPr>
        <p:txBody>
          <a:bodyPr wrap="square" lIns="0" tIns="0" rIns="0" bIns="0" rtlCol="0" anchor="ctr"/>
          <a:lstStyle/>
          <a:p>
            <a:pPr algn="ctr"/>
            <a:r>
              <a:rPr lang="fr-FR" sz="1400" b="1" dirty="0"/>
              <a:t>Jeu de données final</a:t>
            </a:r>
            <a:endParaRPr lang="en-US" sz="1400" b="1" dirty="0"/>
          </a:p>
        </p:txBody>
      </p:sp>
      <p:sp>
        <p:nvSpPr>
          <p:cNvPr id="41" name="Text 62">
            <a:extLst>
              <a:ext uri="{FF2B5EF4-FFF2-40B4-BE49-F238E27FC236}">
                <a16:creationId xmlns:a16="http://schemas.microsoft.com/office/drawing/2014/main" id="{D1314C10-E1CC-DE43-8548-32594FA840C2}"/>
              </a:ext>
            </a:extLst>
          </p:cNvPr>
          <p:cNvSpPr/>
          <p:nvPr/>
        </p:nvSpPr>
        <p:spPr>
          <a:xfrm>
            <a:off x="2295144" y="5797296"/>
            <a:ext cx="9070848" cy="348093"/>
          </a:xfrm>
          <a:prstGeom prst="rect">
            <a:avLst/>
          </a:prstGeom>
          <a:noFill/>
          <a:ln/>
        </p:spPr>
        <p:txBody>
          <a:bodyPr wrap="square" lIns="0" tIns="0" rIns="0" bIns="0" rtlCol="0" anchor="ctr">
            <a:normAutofit fontScale="92500"/>
          </a:bodyPr>
          <a:lstStyle/>
          <a:p>
            <a:r>
              <a:rPr lang="fr-FR" sz="1200" dirty="0"/>
              <a:t>Après toutes ces étapes, j’obtiens le fichier qui sera utilisé pour entraîner les modèles de prédiction Il contient environ (</a:t>
            </a:r>
            <a:r>
              <a:rPr lang="fr-FR" sz="1200" b="1" dirty="0"/>
              <a:t>2 157 lignes, 29 produits)</a:t>
            </a:r>
            <a:endParaRPr lang="fr-FR" sz="1200" dirty="0"/>
          </a:p>
          <a:p>
            <a:r>
              <a:rPr lang="fr-FR" sz="1200" dirty="0"/>
              <a:t>Environ </a:t>
            </a:r>
            <a:r>
              <a:rPr lang="fr-FR" sz="1200" b="1" dirty="0"/>
              <a:t>53 % des mois n’ont aucune vente</a:t>
            </a:r>
            <a:r>
              <a:rPr lang="fr-FR" sz="1200" dirty="0"/>
              <a:t> pour certains produits</a:t>
            </a:r>
          </a:p>
          <a:p>
            <a:endParaRPr lang="en-US" sz="11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EDA</a:t>
            </a:r>
            <a:endParaRPr lang="en-US" sz="950" dirty="0"/>
          </a:p>
        </p:txBody>
      </p:sp>
      <p:sp>
        <p:nvSpPr>
          <p:cNvPr id="3" name="Text 1"/>
          <p:cNvSpPr/>
          <p:nvPr/>
        </p:nvSpPr>
        <p:spPr>
          <a:xfrm>
            <a:off x="621792" y="612648"/>
            <a:ext cx="10744200" cy="475488"/>
          </a:xfrm>
          <a:prstGeom prst="rect">
            <a:avLst/>
          </a:prstGeom>
          <a:noFill/>
          <a:ln/>
        </p:spPr>
        <p:txBody>
          <a:bodyPr wrap="square" lIns="0" tIns="0" rIns="0" bIns="0" rtlCol="0" anchor="ctr">
            <a:normAutofit/>
          </a:bodyPr>
          <a:lstStyle/>
          <a:p>
            <a:r>
              <a:rPr lang="fr-FR" sz="2800" b="1" dirty="0"/>
              <a:t>Ce que l’analyse des ventes nous montre</a:t>
            </a:r>
            <a:endParaRPr lang="en-US" sz="2600" b="1" dirty="0"/>
          </a:p>
        </p:txBody>
      </p:sp>
      <p:sp>
        <p:nvSpPr>
          <p:cNvPr id="4" name="Shape 2"/>
          <p:cNvSpPr/>
          <p:nvPr/>
        </p:nvSpPr>
        <p:spPr>
          <a:xfrm>
            <a:off x="658368" y="1261872"/>
            <a:ext cx="7498080" cy="4462272"/>
          </a:xfrm>
          <a:prstGeom prst="roundRect">
            <a:avLst>
              <a:gd name="adj" fmla="val 1230"/>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a:p>
        </p:txBody>
      </p:sp>
      <p:pic>
        <p:nvPicPr>
          <p:cNvPr id="5" name="Image 0" descr="/mnt/data/proj1/prediction-stock-machine-learning/reports/figures/eda/evolution_quantite_mensuelle.png"/>
          <p:cNvPicPr>
            <a:picLocks noChangeAspect="1"/>
          </p:cNvPicPr>
          <p:nvPr/>
        </p:nvPicPr>
        <p:blipFill>
          <a:blip r:embed="rId3"/>
          <a:stretch>
            <a:fillRect/>
          </a:stretch>
        </p:blipFill>
        <p:spPr>
          <a:xfrm>
            <a:off x="841248" y="1964654"/>
            <a:ext cx="7132320" cy="3056709"/>
          </a:xfrm>
          <a:prstGeom prst="rect">
            <a:avLst/>
          </a:prstGeom>
        </p:spPr>
      </p:pic>
      <p:sp>
        <p:nvSpPr>
          <p:cNvPr id="6" name="Shape 3"/>
          <p:cNvSpPr/>
          <p:nvPr/>
        </p:nvSpPr>
        <p:spPr>
          <a:xfrm>
            <a:off x="8394192" y="1261872"/>
            <a:ext cx="3127248" cy="932688"/>
          </a:xfrm>
          <a:prstGeom prst="roundRect">
            <a:avLst>
              <a:gd name="adj" fmla="val 7843"/>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7" name="Shape 4"/>
          <p:cNvSpPr/>
          <p:nvPr/>
        </p:nvSpPr>
        <p:spPr>
          <a:xfrm>
            <a:off x="8394192" y="1261872"/>
            <a:ext cx="54864" cy="932688"/>
          </a:xfrm>
          <a:prstGeom prst="rect">
            <a:avLst/>
          </a:prstGeom>
          <a:solidFill>
            <a:srgbClr val="00A8A8"/>
          </a:solidFill>
          <a:ln w="12700">
            <a:solidFill>
              <a:srgbClr val="00A8A8"/>
            </a:solidFill>
            <a:prstDash val="solid"/>
          </a:ln>
        </p:spPr>
        <p:txBody>
          <a:bodyPr/>
          <a:lstStyle/>
          <a:p>
            <a:endParaRPr lang="fr-FR"/>
          </a:p>
        </p:txBody>
      </p:sp>
      <p:sp>
        <p:nvSpPr>
          <p:cNvPr id="8" name="Text 5"/>
          <p:cNvSpPr/>
          <p:nvPr/>
        </p:nvSpPr>
        <p:spPr>
          <a:xfrm>
            <a:off x="8613648" y="1417320"/>
            <a:ext cx="2761488" cy="329184"/>
          </a:xfrm>
          <a:prstGeom prst="rect">
            <a:avLst/>
          </a:prstGeom>
          <a:noFill/>
          <a:ln/>
        </p:spPr>
        <p:txBody>
          <a:bodyPr wrap="square" lIns="0" tIns="0" rIns="0" bIns="0" rtlCol="0" anchor="ctr">
            <a:normAutofit/>
          </a:bodyPr>
          <a:lstStyle/>
          <a:p>
            <a:pPr marL="0" indent="0">
              <a:buNone/>
            </a:pPr>
            <a:r>
              <a:rPr lang="en-US" sz="2100" b="1" dirty="0">
                <a:solidFill>
                  <a:srgbClr val="0B1F3A"/>
                </a:solidFill>
                <a:latin typeface="Aptos Display" pitchFamily="34" charset="0"/>
                <a:ea typeface="Aptos Display" pitchFamily="34" charset="-122"/>
                <a:cs typeface="Aptos Display" pitchFamily="34" charset="-120"/>
              </a:rPr>
              <a:t>142 628</a:t>
            </a:r>
            <a:endParaRPr lang="en-US" sz="2100" dirty="0"/>
          </a:p>
        </p:txBody>
      </p:sp>
      <p:sp>
        <p:nvSpPr>
          <p:cNvPr id="9" name="Text 6"/>
          <p:cNvSpPr/>
          <p:nvPr/>
        </p:nvSpPr>
        <p:spPr>
          <a:xfrm>
            <a:off x="8613648" y="1801368"/>
            <a:ext cx="2779776" cy="246888"/>
          </a:xfrm>
          <a:prstGeom prst="rect">
            <a:avLst/>
          </a:prstGeom>
          <a:noFill/>
          <a:ln/>
        </p:spPr>
        <p:txBody>
          <a:bodyPr wrap="square" lIns="0" tIns="0" rIns="0" bIns="0" rtlCol="0" anchor="ctr">
            <a:normAutofit/>
          </a:bodyPr>
          <a:lstStyle/>
          <a:p>
            <a:pPr marL="0" indent="0">
              <a:buNone/>
            </a:pPr>
            <a:r>
              <a:rPr lang="en-US" sz="1040" dirty="0">
                <a:solidFill>
                  <a:srgbClr val="657389"/>
                </a:solidFill>
                <a:latin typeface="Aptos" pitchFamily="34" charset="0"/>
                <a:ea typeface="Aptos" pitchFamily="34" charset="-122"/>
                <a:cs typeface="Aptos" pitchFamily="34" charset="-120"/>
              </a:rPr>
              <a:t>unités vendues sur 10 ans</a:t>
            </a:r>
            <a:endParaRPr lang="en-US" sz="1040" dirty="0"/>
          </a:p>
        </p:txBody>
      </p:sp>
      <p:sp>
        <p:nvSpPr>
          <p:cNvPr id="10" name="Shape 7"/>
          <p:cNvSpPr/>
          <p:nvPr/>
        </p:nvSpPr>
        <p:spPr>
          <a:xfrm>
            <a:off x="8394192" y="2377440"/>
            <a:ext cx="3127248" cy="932688"/>
          </a:xfrm>
          <a:prstGeom prst="roundRect">
            <a:avLst>
              <a:gd name="adj" fmla="val 7843"/>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11" name="Shape 8"/>
          <p:cNvSpPr/>
          <p:nvPr/>
        </p:nvSpPr>
        <p:spPr>
          <a:xfrm>
            <a:off x="8394192" y="2377440"/>
            <a:ext cx="54864" cy="932688"/>
          </a:xfrm>
          <a:prstGeom prst="rect">
            <a:avLst/>
          </a:prstGeom>
          <a:solidFill>
            <a:srgbClr val="3F7FC4"/>
          </a:solidFill>
          <a:ln w="12700">
            <a:solidFill>
              <a:srgbClr val="3F7FC4"/>
            </a:solidFill>
            <a:prstDash val="solid"/>
          </a:ln>
        </p:spPr>
        <p:txBody>
          <a:bodyPr/>
          <a:lstStyle/>
          <a:p>
            <a:endParaRPr lang="fr-FR"/>
          </a:p>
        </p:txBody>
      </p:sp>
      <p:sp>
        <p:nvSpPr>
          <p:cNvPr id="12" name="Text 9"/>
          <p:cNvSpPr/>
          <p:nvPr/>
        </p:nvSpPr>
        <p:spPr>
          <a:xfrm>
            <a:off x="8613648" y="2532888"/>
            <a:ext cx="2761488" cy="329184"/>
          </a:xfrm>
          <a:prstGeom prst="rect">
            <a:avLst/>
          </a:prstGeom>
          <a:noFill/>
          <a:ln/>
        </p:spPr>
        <p:txBody>
          <a:bodyPr wrap="square" lIns="0" tIns="0" rIns="0" bIns="0" rtlCol="0" anchor="ctr">
            <a:normAutofit/>
          </a:bodyPr>
          <a:lstStyle/>
          <a:p>
            <a:pPr marL="0" indent="0">
              <a:buNone/>
            </a:pPr>
            <a:r>
              <a:rPr lang="en-US" sz="2100" b="1" dirty="0">
                <a:solidFill>
                  <a:srgbClr val="0B1F3A"/>
                </a:solidFill>
                <a:latin typeface="Aptos Display" pitchFamily="34" charset="0"/>
                <a:ea typeface="Aptos Display" pitchFamily="34" charset="-122"/>
                <a:cs typeface="Aptos Display" pitchFamily="34" charset="-120"/>
              </a:rPr>
              <a:t>67 %</a:t>
            </a:r>
            <a:endParaRPr lang="en-US" sz="2100" dirty="0"/>
          </a:p>
        </p:txBody>
      </p:sp>
      <p:sp>
        <p:nvSpPr>
          <p:cNvPr id="13" name="Text 10"/>
          <p:cNvSpPr/>
          <p:nvPr/>
        </p:nvSpPr>
        <p:spPr>
          <a:xfrm>
            <a:off x="8613648" y="2916936"/>
            <a:ext cx="2779776" cy="246888"/>
          </a:xfrm>
          <a:prstGeom prst="rect">
            <a:avLst/>
          </a:prstGeom>
          <a:noFill/>
          <a:ln/>
        </p:spPr>
        <p:txBody>
          <a:bodyPr wrap="square" lIns="0" tIns="0" rIns="0" bIns="0" rtlCol="0" anchor="ctr">
            <a:normAutofit/>
          </a:bodyPr>
          <a:lstStyle/>
          <a:p>
            <a:r>
              <a:rPr lang="fr-FR" sz="1050" dirty="0">
                <a:solidFill>
                  <a:schemeClr val="tx1">
                    <a:lumMod val="50000"/>
                    <a:lumOff val="50000"/>
                  </a:schemeClr>
                </a:solidFill>
              </a:rPr>
              <a:t>ventes viennent d’un seul produit</a:t>
            </a:r>
            <a:endParaRPr lang="en-US" sz="1040" dirty="0">
              <a:solidFill>
                <a:schemeClr val="tx1">
                  <a:lumMod val="50000"/>
                  <a:lumOff val="50000"/>
                </a:schemeClr>
              </a:solidFill>
            </a:endParaRPr>
          </a:p>
        </p:txBody>
      </p:sp>
      <p:sp>
        <p:nvSpPr>
          <p:cNvPr id="14" name="Shape 11"/>
          <p:cNvSpPr/>
          <p:nvPr/>
        </p:nvSpPr>
        <p:spPr>
          <a:xfrm>
            <a:off x="8394192" y="3493008"/>
            <a:ext cx="3127248" cy="932688"/>
          </a:xfrm>
          <a:prstGeom prst="roundRect">
            <a:avLst>
              <a:gd name="adj" fmla="val 7843"/>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15" name="Shape 12"/>
          <p:cNvSpPr/>
          <p:nvPr/>
        </p:nvSpPr>
        <p:spPr>
          <a:xfrm>
            <a:off x="8394192" y="3493008"/>
            <a:ext cx="54864" cy="932688"/>
          </a:xfrm>
          <a:prstGeom prst="rect">
            <a:avLst/>
          </a:prstGeom>
          <a:solidFill>
            <a:srgbClr val="F59E0B"/>
          </a:solidFill>
          <a:ln w="12700">
            <a:solidFill>
              <a:srgbClr val="F59E0B"/>
            </a:solidFill>
            <a:prstDash val="solid"/>
          </a:ln>
        </p:spPr>
        <p:txBody>
          <a:bodyPr/>
          <a:lstStyle/>
          <a:p>
            <a:endParaRPr lang="fr-FR"/>
          </a:p>
        </p:txBody>
      </p:sp>
      <p:sp>
        <p:nvSpPr>
          <p:cNvPr id="16" name="Text 13"/>
          <p:cNvSpPr/>
          <p:nvPr/>
        </p:nvSpPr>
        <p:spPr>
          <a:xfrm>
            <a:off x="8613648" y="3648456"/>
            <a:ext cx="2761488" cy="329184"/>
          </a:xfrm>
          <a:prstGeom prst="rect">
            <a:avLst/>
          </a:prstGeom>
          <a:noFill/>
          <a:ln/>
        </p:spPr>
        <p:txBody>
          <a:bodyPr wrap="square" lIns="0" tIns="0" rIns="0" bIns="0" rtlCol="0" anchor="ctr">
            <a:normAutofit/>
          </a:bodyPr>
          <a:lstStyle/>
          <a:p>
            <a:pPr marL="0" indent="0">
              <a:buNone/>
            </a:pPr>
            <a:r>
              <a:rPr lang="en-US" sz="2100" b="1" dirty="0">
                <a:solidFill>
                  <a:srgbClr val="0B1F3A"/>
                </a:solidFill>
                <a:latin typeface="Aptos Display" pitchFamily="34" charset="0"/>
                <a:ea typeface="Aptos Display" pitchFamily="34" charset="-122"/>
                <a:cs typeface="Aptos Display" pitchFamily="34" charset="-120"/>
              </a:rPr>
              <a:t>6,78 %</a:t>
            </a:r>
            <a:endParaRPr lang="en-US" sz="2100" dirty="0"/>
          </a:p>
        </p:txBody>
      </p:sp>
      <p:sp>
        <p:nvSpPr>
          <p:cNvPr id="17" name="Text 14"/>
          <p:cNvSpPr/>
          <p:nvPr/>
        </p:nvSpPr>
        <p:spPr>
          <a:xfrm>
            <a:off x="8613648" y="4032504"/>
            <a:ext cx="2779776" cy="246888"/>
          </a:xfrm>
          <a:prstGeom prst="rect">
            <a:avLst/>
          </a:prstGeom>
          <a:noFill/>
          <a:ln/>
        </p:spPr>
        <p:txBody>
          <a:bodyPr wrap="square" lIns="0" tIns="0" rIns="0" bIns="0" rtlCol="0" anchor="ctr">
            <a:normAutofit fontScale="85000" lnSpcReduction="20000"/>
          </a:bodyPr>
          <a:lstStyle/>
          <a:p>
            <a:r>
              <a:rPr lang="fr-FR" sz="1050" dirty="0">
                <a:solidFill>
                  <a:schemeClr val="tx1">
                    <a:lumMod val="50000"/>
                    <a:lumOff val="50000"/>
                  </a:schemeClr>
                </a:solidFill>
              </a:rPr>
              <a:t>ventes beaucoup plus élevées ou plus faibles que d’habitude</a:t>
            </a:r>
            <a:endParaRPr lang="en-US" sz="1040" dirty="0">
              <a:solidFill>
                <a:schemeClr val="tx1">
                  <a:lumMod val="50000"/>
                  <a:lumOff val="50000"/>
                </a:schemeClr>
              </a:solidFill>
            </a:endParaRPr>
          </a:p>
        </p:txBody>
      </p:sp>
      <p:sp>
        <p:nvSpPr>
          <p:cNvPr id="18" name="Shape 15"/>
          <p:cNvSpPr/>
          <p:nvPr/>
        </p:nvSpPr>
        <p:spPr>
          <a:xfrm>
            <a:off x="8394192" y="4626864"/>
            <a:ext cx="3127248" cy="1097280"/>
          </a:xfrm>
          <a:prstGeom prst="roundRect">
            <a:avLst>
              <a:gd name="adj" fmla="val 5000"/>
            </a:avLst>
          </a:prstGeom>
          <a:solidFill>
            <a:srgbClr val="DDF4F3"/>
          </a:solidFill>
          <a:ln w="12700">
            <a:solidFill>
              <a:srgbClr val="CDEAE8"/>
            </a:solidFill>
            <a:prstDash val="solid"/>
          </a:ln>
        </p:spPr>
        <p:txBody>
          <a:bodyPr/>
          <a:lstStyle/>
          <a:p>
            <a:endParaRPr lang="fr-FR"/>
          </a:p>
        </p:txBody>
      </p:sp>
      <p:sp>
        <p:nvSpPr>
          <p:cNvPr id="19" name="Text 16"/>
          <p:cNvSpPr/>
          <p:nvPr/>
        </p:nvSpPr>
        <p:spPr>
          <a:xfrm>
            <a:off x="8613648" y="4809744"/>
            <a:ext cx="1005840" cy="219456"/>
          </a:xfrm>
          <a:prstGeom prst="rect">
            <a:avLst/>
          </a:prstGeom>
          <a:noFill/>
          <a:ln/>
        </p:spPr>
        <p:txBody>
          <a:bodyPr wrap="square" lIns="0" tIns="0" rIns="0" bIns="0" rtlCol="0" anchor="ctr"/>
          <a:lstStyle/>
          <a:p>
            <a:pPr marL="0" indent="0">
              <a:buNone/>
            </a:pPr>
            <a:endParaRPr lang="en-US" sz="1250" dirty="0"/>
          </a:p>
        </p:txBody>
      </p:sp>
      <p:sp>
        <p:nvSpPr>
          <p:cNvPr id="20" name="Text 17"/>
          <p:cNvSpPr/>
          <p:nvPr/>
        </p:nvSpPr>
        <p:spPr>
          <a:xfrm>
            <a:off x="8449056" y="4722920"/>
            <a:ext cx="2944368" cy="873208"/>
          </a:xfrm>
          <a:prstGeom prst="rect">
            <a:avLst/>
          </a:prstGeom>
          <a:noFill/>
          <a:ln/>
        </p:spPr>
        <p:txBody>
          <a:bodyPr wrap="square" lIns="0" tIns="0" rIns="0" bIns="0" rtlCol="0" anchor="ctr">
            <a:normAutofit/>
          </a:bodyPr>
          <a:lstStyle/>
          <a:p>
            <a:pPr algn="just"/>
            <a:r>
              <a:rPr lang="fr-FR" sz="1050" dirty="0"/>
              <a:t>Les ventes changent beaucoup d’un mois à l’autre et certains produits sont beaucoup plus vendus que d’autres. Le modèle doit donc être capable de gérer les fortes variations, les mois sans vente et les grosses commandes occasionnelles.</a:t>
            </a:r>
            <a:endParaRPr lang="en-US" sz="1020" dirty="0"/>
          </a:p>
        </p:txBody>
      </p:sp>
      <p:sp>
        <p:nvSpPr>
          <p:cNvPr id="21" name="Text 18"/>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25"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6</a:t>
            </a:fld>
            <a:endParaRPr lang="en-US"/>
          </a:p>
        </p:txBody>
      </p:sp>
      <p:sp>
        <p:nvSpPr>
          <p:cNvPr id="23" name="Text 17">
            <a:extLst>
              <a:ext uri="{FF2B5EF4-FFF2-40B4-BE49-F238E27FC236}">
                <a16:creationId xmlns:a16="http://schemas.microsoft.com/office/drawing/2014/main" id="{76186F68-D257-3ED5-6F58-ABED1483C8F9}"/>
              </a:ext>
            </a:extLst>
          </p:cNvPr>
          <p:cNvSpPr/>
          <p:nvPr/>
        </p:nvSpPr>
        <p:spPr>
          <a:xfrm>
            <a:off x="941832" y="1352006"/>
            <a:ext cx="5609888" cy="394498"/>
          </a:xfrm>
          <a:prstGeom prst="rect">
            <a:avLst/>
          </a:prstGeom>
          <a:noFill/>
          <a:ln/>
        </p:spPr>
        <p:txBody>
          <a:bodyPr wrap="square" lIns="0" tIns="0" rIns="0" bIns="0" rtlCol="0" anchor="ctr">
            <a:normAutofit/>
          </a:bodyPr>
          <a:lstStyle/>
          <a:p>
            <a:r>
              <a:rPr lang="fr-FR" sz="1050" b="1" dirty="0"/>
              <a:t>Le graphique montre comment les ventes ont évolué entre 2007 et 2016.</a:t>
            </a:r>
            <a:endParaRPr lang="en-US" sz="102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MACHINE LEARNING</a:t>
            </a:r>
            <a:endParaRPr lang="en-US" sz="950" dirty="0"/>
          </a:p>
        </p:txBody>
      </p:sp>
      <p:sp>
        <p:nvSpPr>
          <p:cNvPr id="3" name="Text 1"/>
          <p:cNvSpPr/>
          <p:nvPr/>
        </p:nvSpPr>
        <p:spPr>
          <a:xfrm>
            <a:off x="621792" y="612648"/>
            <a:ext cx="10744200" cy="475488"/>
          </a:xfrm>
          <a:prstGeom prst="rect">
            <a:avLst/>
          </a:prstGeom>
          <a:noFill/>
          <a:ln/>
        </p:spPr>
        <p:txBody>
          <a:bodyPr wrap="square" lIns="0" tIns="0" rIns="0" bIns="0" rtlCol="0" anchor="ctr">
            <a:normAutofit/>
          </a:bodyPr>
          <a:lstStyle/>
          <a:p>
            <a:r>
              <a:rPr lang="fr-FR" sz="2800" b="1" dirty="0"/>
              <a:t>Création et test des modèles de prédiction</a:t>
            </a:r>
            <a:endParaRPr lang="en-US" sz="2600" b="1" dirty="0"/>
          </a:p>
        </p:txBody>
      </p:sp>
      <p:sp>
        <p:nvSpPr>
          <p:cNvPr id="4" name="Text 2"/>
          <p:cNvSpPr/>
          <p:nvPr/>
        </p:nvSpPr>
        <p:spPr>
          <a:xfrm>
            <a:off x="658368" y="1243584"/>
            <a:ext cx="3255264" cy="292608"/>
          </a:xfrm>
          <a:prstGeom prst="rect">
            <a:avLst/>
          </a:prstGeom>
          <a:noFill/>
          <a:ln/>
        </p:spPr>
        <p:txBody>
          <a:bodyPr wrap="square" lIns="0" tIns="0" rIns="0" bIns="0" rtlCol="0" anchor="ctr"/>
          <a:lstStyle/>
          <a:p>
            <a:r>
              <a:rPr lang="fr-FR" sz="1400" b="1" dirty="0"/>
              <a:t>Séparer les données en deux périodes</a:t>
            </a:r>
            <a:endParaRPr lang="en-US" sz="1400" b="1" dirty="0"/>
          </a:p>
        </p:txBody>
      </p:sp>
      <p:sp>
        <p:nvSpPr>
          <p:cNvPr id="6" name="Shape 4"/>
          <p:cNvSpPr/>
          <p:nvPr/>
        </p:nvSpPr>
        <p:spPr>
          <a:xfrm>
            <a:off x="658368" y="1783080"/>
            <a:ext cx="4937760" cy="1207008"/>
          </a:xfrm>
          <a:prstGeom prst="roundRect">
            <a:avLst>
              <a:gd name="adj" fmla="val 4545"/>
            </a:avLst>
          </a:prstGeom>
          <a:solidFill>
            <a:srgbClr val="E8F0FA"/>
          </a:solidFill>
          <a:ln w="12700">
            <a:solidFill>
              <a:srgbClr val="D7E4F4"/>
            </a:solidFill>
            <a:prstDash val="solid"/>
          </a:ln>
        </p:spPr>
        <p:txBody>
          <a:bodyPr/>
          <a:lstStyle/>
          <a:p>
            <a:endParaRPr lang="fr-FR"/>
          </a:p>
        </p:txBody>
      </p:sp>
      <p:sp>
        <p:nvSpPr>
          <p:cNvPr id="7" name="Text 5"/>
          <p:cNvSpPr/>
          <p:nvPr/>
        </p:nvSpPr>
        <p:spPr>
          <a:xfrm>
            <a:off x="896112" y="1993392"/>
            <a:ext cx="768096" cy="201168"/>
          </a:xfrm>
          <a:prstGeom prst="rect">
            <a:avLst/>
          </a:prstGeom>
          <a:noFill/>
          <a:ln/>
        </p:spPr>
        <p:txBody>
          <a:bodyPr wrap="square" lIns="0" tIns="0" rIns="0" bIns="0" rtlCol="0" anchor="ctr"/>
          <a:lstStyle/>
          <a:p>
            <a:pPr marL="0" indent="0">
              <a:buNone/>
            </a:pPr>
            <a:r>
              <a:rPr lang="en-US" sz="950" b="1" dirty="0">
                <a:solidFill>
                  <a:srgbClr val="3F7FC4"/>
                </a:solidFill>
                <a:latin typeface="Aptos" pitchFamily="34" charset="0"/>
                <a:ea typeface="Aptos" pitchFamily="34" charset="-122"/>
                <a:cs typeface="Aptos" pitchFamily="34" charset="-120"/>
              </a:rPr>
              <a:t>TRAIN</a:t>
            </a:r>
            <a:endParaRPr lang="en-US" sz="950" dirty="0"/>
          </a:p>
        </p:txBody>
      </p:sp>
      <p:sp>
        <p:nvSpPr>
          <p:cNvPr id="8" name="Text 6"/>
          <p:cNvSpPr/>
          <p:nvPr/>
        </p:nvSpPr>
        <p:spPr>
          <a:xfrm>
            <a:off x="896112" y="2267712"/>
            <a:ext cx="2514600" cy="310896"/>
          </a:xfrm>
          <a:prstGeom prst="rect">
            <a:avLst/>
          </a:prstGeom>
          <a:noFill/>
          <a:ln/>
        </p:spPr>
        <p:txBody>
          <a:bodyPr wrap="square" lIns="0" tIns="0" rIns="0" bIns="0" rtlCol="0" anchor="ctr">
            <a:noAutofit/>
          </a:bodyPr>
          <a:lstStyle/>
          <a:p>
            <a:r>
              <a:rPr lang="fr-FR" sz="1600" b="1" dirty="0"/>
              <a:t>Période d’apprentissage : 2008 à 2014</a:t>
            </a:r>
            <a:endParaRPr lang="en-US" sz="1600" b="1" dirty="0"/>
          </a:p>
        </p:txBody>
      </p:sp>
      <p:sp>
        <p:nvSpPr>
          <p:cNvPr id="9" name="Text 7"/>
          <p:cNvSpPr/>
          <p:nvPr/>
        </p:nvSpPr>
        <p:spPr>
          <a:xfrm>
            <a:off x="3547872" y="2231136"/>
            <a:ext cx="1831996" cy="502920"/>
          </a:xfrm>
          <a:prstGeom prst="rect">
            <a:avLst/>
          </a:prstGeom>
          <a:noFill/>
          <a:ln/>
        </p:spPr>
        <p:txBody>
          <a:bodyPr wrap="square" lIns="0" tIns="0" rIns="0" bIns="0" rtlCol="0" anchor="ctr">
            <a:normAutofit/>
          </a:bodyPr>
          <a:lstStyle/>
          <a:p>
            <a:pPr algn="just"/>
            <a:r>
              <a:rPr lang="fr-FR" sz="1200" dirty="0"/>
              <a:t>Données utilisées pour apprendre au modèle</a:t>
            </a:r>
            <a:endParaRPr lang="en-US" sz="1150" dirty="0"/>
          </a:p>
        </p:txBody>
      </p:sp>
      <p:sp>
        <p:nvSpPr>
          <p:cNvPr id="10" name="Shape 8"/>
          <p:cNvSpPr/>
          <p:nvPr/>
        </p:nvSpPr>
        <p:spPr>
          <a:xfrm>
            <a:off x="658368" y="3154680"/>
            <a:ext cx="4937760" cy="1207008"/>
          </a:xfrm>
          <a:prstGeom prst="roundRect">
            <a:avLst>
              <a:gd name="adj" fmla="val 4545"/>
            </a:avLst>
          </a:prstGeom>
          <a:solidFill>
            <a:srgbClr val="FFF2D6"/>
          </a:solidFill>
          <a:ln w="12700">
            <a:solidFill>
              <a:srgbClr val="F6DFC0"/>
            </a:solidFill>
            <a:prstDash val="solid"/>
          </a:ln>
        </p:spPr>
        <p:txBody>
          <a:bodyPr/>
          <a:lstStyle/>
          <a:p>
            <a:endParaRPr lang="fr-FR"/>
          </a:p>
        </p:txBody>
      </p:sp>
      <p:sp>
        <p:nvSpPr>
          <p:cNvPr id="11" name="Text 9"/>
          <p:cNvSpPr/>
          <p:nvPr/>
        </p:nvSpPr>
        <p:spPr>
          <a:xfrm>
            <a:off x="896112" y="3364992"/>
            <a:ext cx="768096" cy="201168"/>
          </a:xfrm>
          <a:prstGeom prst="rect">
            <a:avLst/>
          </a:prstGeom>
          <a:noFill/>
          <a:ln/>
        </p:spPr>
        <p:txBody>
          <a:bodyPr wrap="square" lIns="0" tIns="0" rIns="0" bIns="0" rtlCol="0" anchor="ctr"/>
          <a:lstStyle/>
          <a:p>
            <a:pPr marL="0" indent="0">
              <a:buNone/>
            </a:pPr>
            <a:r>
              <a:rPr lang="en-US" sz="950" b="1" dirty="0">
                <a:solidFill>
                  <a:srgbClr val="F59E0B"/>
                </a:solidFill>
                <a:latin typeface="Aptos" pitchFamily="34" charset="0"/>
                <a:ea typeface="Aptos" pitchFamily="34" charset="-122"/>
                <a:cs typeface="Aptos" pitchFamily="34" charset="-120"/>
              </a:rPr>
              <a:t>TEST</a:t>
            </a:r>
            <a:endParaRPr lang="en-US" sz="950" dirty="0"/>
          </a:p>
        </p:txBody>
      </p:sp>
      <p:sp>
        <p:nvSpPr>
          <p:cNvPr id="12" name="Text 10"/>
          <p:cNvSpPr/>
          <p:nvPr/>
        </p:nvSpPr>
        <p:spPr>
          <a:xfrm>
            <a:off x="896112" y="3639312"/>
            <a:ext cx="2514600" cy="310896"/>
          </a:xfrm>
          <a:prstGeom prst="rect">
            <a:avLst/>
          </a:prstGeom>
          <a:noFill/>
          <a:ln/>
        </p:spPr>
        <p:txBody>
          <a:bodyPr wrap="square" lIns="0" tIns="0" rIns="0" bIns="0" rtlCol="0" anchor="ctr">
            <a:normAutofit fontScale="85000" lnSpcReduction="10000"/>
          </a:bodyPr>
          <a:lstStyle/>
          <a:p>
            <a:r>
              <a:rPr lang="fr-FR" b="1" dirty="0"/>
              <a:t>Période de test : 2015 à 2016</a:t>
            </a:r>
            <a:endParaRPr lang="en-US" sz="1800" b="1" dirty="0"/>
          </a:p>
        </p:txBody>
      </p:sp>
      <p:sp>
        <p:nvSpPr>
          <p:cNvPr id="13" name="Text 11"/>
          <p:cNvSpPr/>
          <p:nvPr/>
        </p:nvSpPr>
        <p:spPr>
          <a:xfrm>
            <a:off x="3547872" y="3630168"/>
            <a:ext cx="1831996" cy="320040"/>
          </a:xfrm>
          <a:prstGeom prst="rect">
            <a:avLst/>
          </a:prstGeom>
          <a:noFill/>
          <a:ln/>
        </p:spPr>
        <p:txBody>
          <a:bodyPr wrap="square" lIns="0" tIns="0" rIns="0" bIns="0" rtlCol="0" anchor="ctr">
            <a:noAutofit/>
          </a:bodyPr>
          <a:lstStyle/>
          <a:p>
            <a:pPr algn="just"/>
            <a:r>
              <a:rPr lang="fr-FR" sz="1000" dirty="0"/>
              <a:t>utilisées pour vérifier les prévisions</a:t>
            </a:r>
            <a:endParaRPr lang="en-US" sz="1000" dirty="0"/>
          </a:p>
        </p:txBody>
      </p:sp>
      <p:sp>
        <p:nvSpPr>
          <p:cNvPr id="14" name="Shape 12"/>
          <p:cNvSpPr/>
          <p:nvPr/>
        </p:nvSpPr>
        <p:spPr>
          <a:xfrm>
            <a:off x="658368" y="4645152"/>
            <a:ext cx="4937760" cy="1097280"/>
          </a:xfrm>
          <a:prstGeom prst="roundRect">
            <a:avLst>
              <a:gd name="adj" fmla="val 5000"/>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a:p>
        </p:txBody>
      </p:sp>
      <p:sp>
        <p:nvSpPr>
          <p:cNvPr id="15" name="Text 13"/>
          <p:cNvSpPr/>
          <p:nvPr/>
        </p:nvSpPr>
        <p:spPr>
          <a:xfrm>
            <a:off x="896112" y="4864608"/>
            <a:ext cx="1298448" cy="566928"/>
          </a:xfrm>
          <a:prstGeom prst="rect">
            <a:avLst/>
          </a:prstGeom>
          <a:noFill/>
          <a:ln/>
        </p:spPr>
        <p:txBody>
          <a:bodyPr wrap="square" lIns="0" tIns="0" rIns="0" bIns="0" rtlCol="0" anchor="ctr"/>
          <a:lstStyle/>
          <a:p>
            <a:r>
              <a:rPr lang="fr-FR" sz="1400" b="1" dirty="0"/>
              <a:t>Préparer les informations pour les modèles</a:t>
            </a:r>
            <a:endParaRPr lang="en-US" sz="1250" b="1" dirty="0"/>
          </a:p>
        </p:txBody>
      </p:sp>
      <p:sp>
        <p:nvSpPr>
          <p:cNvPr id="16" name="Text 14"/>
          <p:cNvSpPr/>
          <p:nvPr/>
        </p:nvSpPr>
        <p:spPr>
          <a:xfrm>
            <a:off x="2331719" y="4800600"/>
            <a:ext cx="3128047" cy="813816"/>
          </a:xfrm>
          <a:prstGeom prst="rect">
            <a:avLst/>
          </a:prstGeom>
          <a:noFill/>
          <a:ln/>
        </p:spPr>
        <p:txBody>
          <a:bodyPr wrap="square" lIns="0" tIns="0" rIns="0" bIns="0" rtlCol="0" anchor="ctr">
            <a:normAutofit lnSpcReduction="10000"/>
          </a:bodyPr>
          <a:lstStyle/>
          <a:p>
            <a:pPr marL="171450" indent="-171450">
              <a:buFont typeface="Arial" panose="020B0604020202020204" pitchFamily="34" charset="0"/>
              <a:buChar char="•"/>
            </a:pPr>
            <a:r>
              <a:rPr lang="fr-FR" sz="1100" dirty="0"/>
              <a:t>13 variables numériques, comme les ventes précédentes, la météo ou certaines données économiques</a:t>
            </a:r>
          </a:p>
          <a:p>
            <a:pPr marL="171450" indent="-171450">
              <a:buFont typeface="Arial" panose="020B0604020202020204" pitchFamily="34" charset="0"/>
              <a:buChar char="•"/>
            </a:pPr>
            <a:r>
              <a:rPr lang="fr-FR" sz="1100" dirty="0"/>
              <a:t>4 variables de catégorie, comme le produit, le pays ou le mois</a:t>
            </a:r>
            <a:endParaRPr lang="en-US" sz="1080" dirty="0"/>
          </a:p>
        </p:txBody>
      </p:sp>
      <p:sp>
        <p:nvSpPr>
          <p:cNvPr id="17" name="Text 15"/>
          <p:cNvSpPr/>
          <p:nvPr/>
        </p:nvSpPr>
        <p:spPr>
          <a:xfrm>
            <a:off x="6144768" y="1243584"/>
            <a:ext cx="2057400" cy="274320"/>
          </a:xfrm>
          <a:prstGeom prst="rect">
            <a:avLst/>
          </a:prstGeom>
          <a:noFill/>
          <a:ln/>
        </p:spPr>
        <p:txBody>
          <a:bodyPr wrap="square" lIns="0" tIns="0" rIns="0" bIns="0" rtlCol="0" anchor="ctr"/>
          <a:lstStyle/>
          <a:p>
            <a:pPr marL="0" indent="0">
              <a:buNone/>
            </a:pPr>
            <a:r>
              <a:rPr lang="en-US" sz="1400" dirty="0">
                <a:solidFill>
                  <a:srgbClr val="172234"/>
                </a:solidFill>
                <a:latin typeface="Aptos" pitchFamily="34" charset="0"/>
                <a:ea typeface="Aptos" pitchFamily="34" charset="-122"/>
                <a:cs typeface="Aptos" pitchFamily="34" charset="-120"/>
              </a:rPr>
              <a:t>Modèles comparés</a:t>
            </a:r>
            <a:endParaRPr lang="en-US" sz="1400" dirty="0"/>
          </a:p>
        </p:txBody>
      </p:sp>
      <p:sp>
        <p:nvSpPr>
          <p:cNvPr id="18" name="Shape 16"/>
          <p:cNvSpPr/>
          <p:nvPr/>
        </p:nvSpPr>
        <p:spPr>
          <a:xfrm>
            <a:off x="6053328" y="1755648"/>
            <a:ext cx="5468112" cy="841248"/>
          </a:xfrm>
          <a:prstGeom prst="roundRect">
            <a:avLst>
              <a:gd name="adj" fmla="val 8696"/>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dirty="0"/>
          </a:p>
        </p:txBody>
      </p:sp>
      <p:sp>
        <p:nvSpPr>
          <p:cNvPr id="19" name="Shape 17"/>
          <p:cNvSpPr/>
          <p:nvPr/>
        </p:nvSpPr>
        <p:spPr>
          <a:xfrm>
            <a:off x="6053328" y="1755648"/>
            <a:ext cx="64008" cy="841248"/>
          </a:xfrm>
          <a:prstGeom prst="rect">
            <a:avLst/>
          </a:prstGeom>
          <a:solidFill>
            <a:srgbClr val="657389"/>
          </a:solidFill>
          <a:ln w="12700">
            <a:solidFill>
              <a:srgbClr val="657389"/>
            </a:solidFill>
            <a:prstDash val="solid"/>
          </a:ln>
        </p:spPr>
        <p:txBody>
          <a:bodyPr/>
          <a:lstStyle/>
          <a:p>
            <a:endParaRPr lang="fr-FR"/>
          </a:p>
        </p:txBody>
      </p:sp>
      <p:sp>
        <p:nvSpPr>
          <p:cNvPr id="20" name="Text 18"/>
          <p:cNvSpPr/>
          <p:nvPr/>
        </p:nvSpPr>
        <p:spPr>
          <a:xfrm>
            <a:off x="6254496" y="1938528"/>
            <a:ext cx="5065776" cy="310896"/>
          </a:xfrm>
          <a:prstGeom prst="rect">
            <a:avLst/>
          </a:prstGeom>
          <a:noFill/>
          <a:ln/>
        </p:spPr>
        <p:txBody>
          <a:bodyPr wrap="square" lIns="0" tIns="0" rIns="0" bIns="0" rtlCol="0" anchor="ctr">
            <a:normAutofit/>
          </a:bodyPr>
          <a:lstStyle/>
          <a:p>
            <a:r>
              <a:rPr lang="en-US" sz="1350" b="1" dirty="0">
                <a:solidFill>
                  <a:srgbClr val="0B1F3A"/>
                </a:solidFill>
                <a:latin typeface="Aptos Display" pitchFamily="34" charset="0"/>
                <a:ea typeface="Aptos Display" pitchFamily="34" charset="-122"/>
                <a:cs typeface="Aptos Display" pitchFamily="34" charset="-120"/>
              </a:rPr>
              <a:t>Naive M1 : </a:t>
            </a:r>
            <a:r>
              <a:rPr lang="fr-FR" sz="1400" dirty="0"/>
              <a:t>Méthode simple : ventes du mois précédent</a:t>
            </a:r>
            <a:endParaRPr lang="en-US" sz="1350" dirty="0"/>
          </a:p>
        </p:txBody>
      </p:sp>
      <p:sp>
        <p:nvSpPr>
          <p:cNvPr id="22" name="Shape 20"/>
          <p:cNvSpPr/>
          <p:nvPr/>
        </p:nvSpPr>
        <p:spPr>
          <a:xfrm>
            <a:off x="6053328" y="2761488"/>
            <a:ext cx="5468112" cy="841248"/>
          </a:xfrm>
          <a:prstGeom prst="roundRect">
            <a:avLst>
              <a:gd name="adj" fmla="val 8696"/>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23" name="Shape 21"/>
          <p:cNvSpPr/>
          <p:nvPr/>
        </p:nvSpPr>
        <p:spPr>
          <a:xfrm>
            <a:off x="6053328" y="2761488"/>
            <a:ext cx="64008" cy="841248"/>
          </a:xfrm>
          <a:prstGeom prst="rect">
            <a:avLst/>
          </a:prstGeom>
          <a:solidFill>
            <a:srgbClr val="2F9E6D"/>
          </a:solidFill>
          <a:ln w="12700">
            <a:solidFill>
              <a:srgbClr val="2F9E6D"/>
            </a:solidFill>
            <a:prstDash val="solid"/>
          </a:ln>
        </p:spPr>
        <p:txBody>
          <a:bodyPr/>
          <a:lstStyle/>
          <a:p>
            <a:endParaRPr lang="fr-FR"/>
          </a:p>
        </p:txBody>
      </p:sp>
      <p:sp>
        <p:nvSpPr>
          <p:cNvPr id="24" name="Text 22"/>
          <p:cNvSpPr/>
          <p:nvPr/>
        </p:nvSpPr>
        <p:spPr>
          <a:xfrm>
            <a:off x="6254496" y="2944368"/>
            <a:ext cx="5065776" cy="310896"/>
          </a:xfrm>
          <a:prstGeom prst="rect">
            <a:avLst/>
          </a:prstGeom>
          <a:noFill/>
          <a:ln/>
        </p:spPr>
        <p:txBody>
          <a:bodyPr wrap="square" lIns="0" tIns="0" rIns="0" bIns="0" rtlCol="0" anchor="ctr">
            <a:normAutofit fontScale="85000" lnSpcReduction="20000"/>
          </a:bodyPr>
          <a:lstStyle/>
          <a:p>
            <a:r>
              <a:rPr lang="en-US" sz="1350" b="1" dirty="0">
                <a:solidFill>
                  <a:srgbClr val="0B1F3A"/>
                </a:solidFill>
                <a:latin typeface="Aptos Display" pitchFamily="34" charset="0"/>
                <a:ea typeface="Aptos Display" pitchFamily="34" charset="-122"/>
                <a:cs typeface="Aptos Display" pitchFamily="34" charset="-120"/>
              </a:rPr>
              <a:t>Ridge Regression : </a:t>
            </a:r>
            <a:r>
              <a:rPr lang="fr-FR" sz="1400" dirty="0"/>
              <a:t>C’est un modèle assez simple qui cherche des relations entre les différentes informations et les ventes.</a:t>
            </a:r>
            <a:endParaRPr lang="en-US" sz="1350" dirty="0"/>
          </a:p>
        </p:txBody>
      </p:sp>
      <p:sp>
        <p:nvSpPr>
          <p:cNvPr id="26" name="Shape 24"/>
          <p:cNvSpPr/>
          <p:nvPr/>
        </p:nvSpPr>
        <p:spPr>
          <a:xfrm>
            <a:off x="6053328" y="3767328"/>
            <a:ext cx="5468112" cy="841248"/>
          </a:xfrm>
          <a:prstGeom prst="roundRect">
            <a:avLst>
              <a:gd name="adj" fmla="val 8696"/>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27" name="Shape 25"/>
          <p:cNvSpPr/>
          <p:nvPr/>
        </p:nvSpPr>
        <p:spPr>
          <a:xfrm>
            <a:off x="6053328" y="3767328"/>
            <a:ext cx="64008" cy="841248"/>
          </a:xfrm>
          <a:prstGeom prst="rect">
            <a:avLst/>
          </a:prstGeom>
          <a:solidFill>
            <a:srgbClr val="3F7FC4"/>
          </a:solidFill>
          <a:ln w="12700">
            <a:solidFill>
              <a:srgbClr val="3F7FC4"/>
            </a:solidFill>
            <a:prstDash val="solid"/>
          </a:ln>
        </p:spPr>
        <p:txBody>
          <a:bodyPr/>
          <a:lstStyle/>
          <a:p>
            <a:endParaRPr lang="fr-FR"/>
          </a:p>
        </p:txBody>
      </p:sp>
      <p:sp>
        <p:nvSpPr>
          <p:cNvPr id="28" name="Text 26"/>
          <p:cNvSpPr/>
          <p:nvPr/>
        </p:nvSpPr>
        <p:spPr>
          <a:xfrm>
            <a:off x="6254496" y="3950208"/>
            <a:ext cx="5111496" cy="524138"/>
          </a:xfrm>
          <a:prstGeom prst="rect">
            <a:avLst/>
          </a:prstGeom>
          <a:noFill/>
          <a:ln/>
        </p:spPr>
        <p:txBody>
          <a:bodyPr wrap="square" lIns="0" tIns="0" rIns="0" bIns="0" rtlCol="0" anchor="ctr">
            <a:normAutofit fontScale="92500" lnSpcReduction="20000"/>
          </a:bodyPr>
          <a:lstStyle/>
          <a:p>
            <a:r>
              <a:rPr lang="en-US" sz="1350" b="1" dirty="0">
                <a:solidFill>
                  <a:srgbClr val="0B1F3A"/>
                </a:solidFill>
                <a:latin typeface="Aptos Display" pitchFamily="34" charset="0"/>
                <a:ea typeface="Aptos Display" pitchFamily="34" charset="-122"/>
                <a:cs typeface="Aptos Display" pitchFamily="34" charset="-120"/>
              </a:rPr>
              <a:t>Random Forest : </a:t>
            </a:r>
            <a:r>
              <a:rPr lang="fr-FR" sz="1400" dirty="0"/>
              <a:t>utilise plusieurs arbres de décision</a:t>
            </a:r>
          </a:p>
          <a:p>
            <a:r>
              <a:rPr lang="fr-FR" sz="1400" dirty="0"/>
              <a:t>Chaque arbre fait une estimation, puis les différentes estimations sont regroupées pour produire une prévision finale</a:t>
            </a:r>
            <a:endParaRPr lang="en-US" sz="1350" dirty="0"/>
          </a:p>
        </p:txBody>
      </p:sp>
      <p:sp>
        <p:nvSpPr>
          <p:cNvPr id="30" name="Shape 28"/>
          <p:cNvSpPr/>
          <p:nvPr/>
        </p:nvSpPr>
        <p:spPr>
          <a:xfrm>
            <a:off x="6053328" y="4773168"/>
            <a:ext cx="5468112" cy="841248"/>
          </a:xfrm>
          <a:prstGeom prst="roundRect">
            <a:avLst>
              <a:gd name="adj" fmla="val 8696"/>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31" name="Shape 29"/>
          <p:cNvSpPr/>
          <p:nvPr/>
        </p:nvSpPr>
        <p:spPr>
          <a:xfrm>
            <a:off x="6053328" y="4773168"/>
            <a:ext cx="64008" cy="841248"/>
          </a:xfrm>
          <a:prstGeom prst="rect">
            <a:avLst/>
          </a:prstGeom>
          <a:solidFill>
            <a:srgbClr val="00A8A8"/>
          </a:solidFill>
          <a:ln w="12700">
            <a:solidFill>
              <a:srgbClr val="00A8A8"/>
            </a:solidFill>
            <a:prstDash val="solid"/>
          </a:ln>
        </p:spPr>
        <p:txBody>
          <a:bodyPr/>
          <a:lstStyle/>
          <a:p>
            <a:endParaRPr lang="fr-FR"/>
          </a:p>
        </p:txBody>
      </p:sp>
      <p:sp>
        <p:nvSpPr>
          <p:cNvPr id="32" name="Text 30"/>
          <p:cNvSpPr/>
          <p:nvPr/>
        </p:nvSpPr>
        <p:spPr>
          <a:xfrm>
            <a:off x="6254496" y="4956048"/>
            <a:ext cx="5705856" cy="786384"/>
          </a:xfrm>
          <a:prstGeom prst="rect">
            <a:avLst/>
          </a:prstGeom>
          <a:noFill/>
          <a:ln/>
        </p:spPr>
        <p:txBody>
          <a:bodyPr wrap="square" lIns="0" tIns="0" rIns="0" bIns="0" rtlCol="0" anchor="ctr">
            <a:normAutofit fontScale="92500" lnSpcReduction="10000"/>
          </a:bodyPr>
          <a:lstStyle/>
          <a:p>
            <a:r>
              <a:rPr lang="en-US" sz="1400" b="1" dirty="0">
                <a:solidFill>
                  <a:srgbClr val="0B1F3A"/>
                </a:solidFill>
                <a:latin typeface="Aptos Display" pitchFamily="34" charset="0"/>
                <a:ea typeface="Aptos Display" pitchFamily="34" charset="-122"/>
                <a:cs typeface="Aptos Display" pitchFamily="34" charset="-120"/>
              </a:rPr>
              <a:t>Gradient Boosting </a:t>
            </a:r>
            <a:r>
              <a:rPr lang="en-US" sz="1350" b="1" dirty="0">
                <a:solidFill>
                  <a:srgbClr val="0B1F3A"/>
                </a:solidFill>
                <a:latin typeface="Aptos Display" pitchFamily="34" charset="0"/>
                <a:ea typeface="Aptos Display" pitchFamily="34" charset="-122"/>
                <a:cs typeface="Aptos Display" pitchFamily="34" charset="-120"/>
              </a:rPr>
              <a:t>: </a:t>
            </a:r>
            <a:r>
              <a:rPr lang="fr-FR" sz="1400" dirty="0"/>
              <a:t>Gradient </a:t>
            </a:r>
            <a:r>
              <a:rPr lang="fr-FR" sz="1400" dirty="0" err="1"/>
              <a:t>Boosting</a:t>
            </a:r>
            <a:r>
              <a:rPr lang="fr-FR" sz="1400" dirty="0"/>
              <a:t> utilise également plusieurs arbres.</a:t>
            </a:r>
          </a:p>
          <a:p>
            <a:r>
              <a:rPr lang="fr-FR" sz="1400" dirty="0"/>
              <a:t>les arbres sont construits les uns après les autres.</a:t>
            </a:r>
          </a:p>
          <a:p>
            <a:r>
              <a:rPr lang="fr-FR" sz="1400" dirty="0"/>
              <a:t>Chaque nouvel arbre essaie de </a:t>
            </a:r>
            <a:r>
              <a:rPr lang="fr-FR" sz="1400" b="1" dirty="0"/>
              <a:t>corriger les erreurs du précédent</a:t>
            </a:r>
            <a:r>
              <a:rPr lang="fr-FR" sz="1400" dirty="0"/>
              <a:t>.</a:t>
            </a:r>
          </a:p>
          <a:p>
            <a:r>
              <a:rPr lang="fr-FR" sz="1400" dirty="0"/>
              <a:t>Le but est donc d’améliorer progressivement la qualité des prévisions.</a:t>
            </a:r>
          </a:p>
          <a:p>
            <a:endParaRPr lang="fr-FR" sz="1400" dirty="0"/>
          </a:p>
          <a:p>
            <a:endParaRPr lang="en-US" sz="1350" dirty="0"/>
          </a:p>
        </p:txBody>
      </p:sp>
      <p:sp>
        <p:nvSpPr>
          <p:cNvPr id="34" name="Text 32"/>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35"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ÉVALUATION</a:t>
            </a:r>
            <a:endParaRPr lang="en-US" sz="950" dirty="0"/>
          </a:p>
        </p:txBody>
      </p:sp>
      <p:sp>
        <p:nvSpPr>
          <p:cNvPr id="3" name="Text 1"/>
          <p:cNvSpPr/>
          <p:nvPr/>
        </p:nvSpPr>
        <p:spPr>
          <a:xfrm>
            <a:off x="621792" y="612648"/>
            <a:ext cx="10744200" cy="475488"/>
          </a:xfrm>
          <a:prstGeom prst="rect">
            <a:avLst/>
          </a:prstGeom>
          <a:noFill/>
          <a:ln/>
        </p:spPr>
        <p:txBody>
          <a:bodyPr wrap="square" lIns="0" tIns="0" rIns="0" bIns="0" rtlCol="0" anchor="ctr">
            <a:normAutofit/>
          </a:bodyPr>
          <a:lstStyle/>
          <a:p>
            <a:r>
              <a:rPr lang="fr-FR" sz="2800" b="1" dirty="0"/>
              <a:t>Gradient </a:t>
            </a:r>
            <a:r>
              <a:rPr lang="fr-FR" sz="2800" b="1" dirty="0" err="1"/>
              <a:t>Boosting</a:t>
            </a:r>
            <a:r>
              <a:rPr lang="fr-FR" sz="2800" b="1" dirty="0"/>
              <a:t> donne les meilleures prévisions</a:t>
            </a:r>
            <a:endParaRPr lang="en-US" sz="2600" b="1" dirty="0"/>
          </a:p>
        </p:txBody>
      </p:sp>
      <p:sp>
        <p:nvSpPr>
          <p:cNvPr id="4" name="Shape 2"/>
          <p:cNvSpPr/>
          <p:nvPr/>
        </p:nvSpPr>
        <p:spPr>
          <a:xfrm>
            <a:off x="658368" y="1243584"/>
            <a:ext cx="6784848" cy="4553712"/>
          </a:xfrm>
          <a:prstGeom prst="roundRect">
            <a:avLst>
              <a:gd name="adj" fmla="val 1205"/>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a:p>
        </p:txBody>
      </p:sp>
      <p:pic>
        <p:nvPicPr>
          <p:cNvPr id="5" name="Image 0" descr="/mnt/data/proj1/prediction-stock-machine-learning/reports/figures/ml/model_comparison_rmse.png"/>
          <p:cNvPicPr>
            <a:picLocks noChangeAspect="1"/>
          </p:cNvPicPr>
          <p:nvPr/>
        </p:nvPicPr>
        <p:blipFill>
          <a:blip r:embed="rId3"/>
          <a:stretch>
            <a:fillRect/>
          </a:stretch>
        </p:blipFill>
        <p:spPr>
          <a:xfrm>
            <a:off x="914400" y="1656893"/>
            <a:ext cx="6272784" cy="3763670"/>
          </a:xfrm>
          <a:prstGeom prst="rect">
            <a:avLst/>
          </a:prstGeom>
        </p:spPr>
      </p:pic>
      <p:sp>
        <p:nvSpPr>
          <p:cNvPr id="6" name="Shape 3"/>
          <p:cNvSpPr/>
          <p:nvPr/>
        </p:nvSpPr>
        <p:spPr>
          <a:xfrm>
            <a:off x="7699248" y="1243584"/>
            <a:ext cx="1847088" cy="960120"/>
          </a:xfrm>
          <a:prstGeom prst="roundRect">
            <a:avLst>
              <a:gd name="adj" fmla="val 7619"/>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7" name="Shape 4"/>
          <p:cNvSpPr/>
          <p:nvPr/>
        </p:nvSpPr>
        <p:spPr>
          <a:xfrm>
            <a:off x="7699248" y="1243584"/>
            <a:ext cx="54864" cy="960120"/>
          </a:xfrm>
          <a:prstGeom prst="rect">
            <a:avLst/>
          </a:prstGeom>
          <a:solidFill>
            <a:srgbClr val="00A8A8"/>
          </a:solidFill>
          <a:ln w="12700">
            <a:solidFill>
              <a:srgbClr val="00A8A8"/>
            </a:solidFill>
            <a:prstDash val="solid"/>
          </a:ln>
        </p:spPr>
        <p:txBody>
          <a:bodyPr/>
          <a:lstStyle/>
          <a:p>
            <a:endParaRPr lang="fr-FR"/>
          </a:p>
        </p:txBody>
      </p:sp>
      <p:sp>
        <p:nvSpPr>
          <p:cNvPr id="8" name="Text 5"/>
          <p:cNvSpPr/>
          <p:nvPr/>
        </p:nvSpPr>
        <p:spPr>
          <a:xfrm>
            <a:off x="7918704" y="1399032"/>
            <a:ext cx="1481328" cy="329184"/>
          </a:xfrm>
          <a:prstGeom prst="rect">
            <a:avLst/>
          </a:prstGeom>
          <a:noFill/>
          <a:ln/>
        </p:spPr>
        <p:txBody>
          <a:bodyPr wrap="square" lIns="0" tIns="0" rIns="0" bIns="0" rtlCol="0" anchor="ctr">
            <a:normAutofit/>
          </a:bodyPr>
          <a:lstStyle/>
          <a:p>
            <a:pPr marL="0" indent="0">
              <a:buNone/>
            </a:pPr>
            <a:r>
              <a:rPr lang="en-US" sz="2100" b="1" dirty="0">
                <a:solidFill>
                  <a:srgbClr val="0B1F3A"/>
                </a:solidFill>
                <a:latin typeface="Aptos Display" pitchFamily="34" charset="0"/>
                <a:ea typeface="Aptos Display" pitchFamily="34" charset="-122"/>
                <a:cs typeface="Aptos Display" pitchFamily="34" charset="-120"/>
              </a:rPr>
              <a:t>77,5</a:t>
            </a:r>
            <a:endParaRPr lang="en-US" sz="2100" dirty="0"/>
          </a:p>
        </p:txBody>
      </p:sp>
      <p:sp>
        <p:nvSpPr>
          <p:cNvPr id="9" name="Text 6"/>
          <p:cNvSpPr/>
          <p:nvPr/>
        </p:nvSpPr>
        <p:spPr>
          <a:xfrm>
            <a:off x="7918704" y="1783080"/>
            <a:ext cx="1499616" cy="246888"/>
          </a:xfrm>
          <a:prstGeom prst="rect">
            <a:avLst/>
          </a:prstGeom>
          <a:noFill/>
          <a:ln/>
        </p:spPr>
        <p:txBody>
          <a:bodyPr wrap="square" lIns="0" tIns="0" rIns="0" bIns="0" rtlCol="0" anchor="ctr">
            <a:normAutofit/>
          </a:bodyPr>
          <a:lstStyle/>
          <a:p>
            <a:pPr marL="0" indent="0">
              <a:buNone/>
            </a:pPr>
            <a:r>
              <a:rPr lang="en-US" sz="1040" dirty="0">
                <a:solidFill>
                  <a:srgbClr val="657389"/>
                </a:solidFill>
                <a:latin typeface="Aptos" pitchFamily="34" charset="0"/>
                <a:ea typeface="Aptos" pitchFamily="34" charset="-122"/>
                <a:cs typeface="Aptos" pitchFamily="34" charset="-120"/>
              </a:rPr>
              <a:t>RMSE</a:t>
            </a:r>
            <a:endParaRPr lang="en-US" sz="1040" dirty="0"/>
          </a:p>
        </p:txBody>
      </p:sp>
      <p:sp>
        <p:nvSpPr>
          <p:cNvPr id="10" name="Shape 7"/>
          <p:cNvSpPr/>
          <p:nvPr/>
        </p:nvSpPr>
        <p:spPr>
          <a:xfrm>
            <a:off x="9674352" y="1243584"/>
            <a:ext cx="1847088" cy="960120"/>
          </a:xfrm>
          <a:prstGeom prst="roundRect">
            <a:avLst>
              <a:gd name="adj" fmla="val 7619"/>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11" name="Shape 8"/>
          <p:cNvSpPr/>
          <p:nvPr/>
        </p:nvSpPr>
        <p:spPr>
          <a:xfrm>
            <a:off x="9674352" y="1243584"/>
            <a:ext cx="54864" cy="960120"/>
          </a:xfrm>
          <a:prstGeom prst="rect">
            <a:avLst/>
          </a:prstGeom>
          <a:solidFill>
            <a:srgbClr val="3F7FC4"/>
          </a:solidFill>
          <a:ln w="12700">
            <a:solidFill>
              <a:srgbClr val="3F7FC4"/>
            </a:solidFill>
            <a:prstDash val="solid"/>
          </a:ln>
        </p:spPr>
        <p:txBody>
          <a:bodyPr/>
          <a:lstStyle/>
          <a:p>
            <a:endParaRPr lang="fr-FR"/>
          </a:p>
        </p:txBody>
      </p:sp>
      <p:sp>
        <p:nvSpPr>
          <p:cNvPr id="12" name="Text 9"/>
          <p:cNvSpPr/>
          <p:nvPr/>
        </p:nvSpPr>
        <p:spPr>
          <a:xfrm>
            <a:off x="9893808" y="1399032"/>
            <a:ext cx="1481328" cy="329184"/>
          </a:xfrm>
          <a:prstGeom prst="rect">
            <a:avLst/>
          </a:prstGeom>
          <a:noFill/>
          <a:ln/>
        </p:spPr>
        <p:txBody>
          <a:bodyPr wrap="square" lIns="0" tIns="0" rIns="0" bIns="0" rtlCol="0" anchor="ctr">
            <a:normAutofit/>
          </a:bodyPr>
          <a:lstStyle/>
          <a:p>
            <a:pPr marL="0" indent="0">
              <a:buNone/>
            </a:pPr>
            <a:r>
              <a:rPr lang="en-US" sz="2100" b="1" dirty="0">
                <a:solidFill>
                  <a:srgbClr val="0B1F3A"/>
                </a:solidFill>
                <a:latin typeface="Aptos Display" pitchFamily="34" charset="0"/>
                <a:ea typeface="Aptos Display" pitchFamily="34" charset="-122"/>
                <a:cs typeface="Aptos Display" pitchFamily="34" charset="-120"/>
              </a:rPr>
              <a:t>19,7</a:t>
            </a:r>
            <a:endParaRPr lang="en-US" sz="2100" dirty="0"/>
          </a:p>
        </p:txBody>
      </p:sp>
      <p:sp>
        <p:nvSpPr>
          <p:cNvPr id="13" name="Text 10"/>
          <p:cNvSpPr/>
          <p:nvPr/>
        </p:nvSpPr>
        <p:spPr>
          <a:xfrm>
            <a:off x="9893808" y="1783080"/>
            <a:ext cx="1499616" cy="246888"/>
          </a:xfrm>
          <a:prstGeom prst="rect">
            <a:avLst/>
          </a:prstGeom>
          <a:noFill/>
          <a:ln/>
        </p:spPr>
        <p:txBody>
          <a:bodyPr wrap="square" lIns="0" tIns="0" rIns="0" bIns="0" rtlCol="0" anchor="ctr">
            <a:normAutofit/>
          </a:bodyPr>
          <a:lstStyle/>
          <a:p>
            <a:pPr marL="0" indent="0">
              <a:buNone/>
            </a:pPr>
            <a:r>
              <a:rPr lang="en-US" sz="1040" dirty="0">
                <a:solidFill>
                  <a:srgbClr val="657389"/>
                </a:solidFill>
                <a:latin typeface="Aptos" pitchFamily="34" charset="0"/>
                <a:ea typeface="Aptos" pitchFamily="34" charset="-122"/>
                <a:cs typeface="Aptos" pitchFamily="34" charset="-120"/>
              </a:rPr>
              <a:t>MAE</a:t>
            </a:r>
            <a:endParaRPr lang="en-US" sz="1040" dirty="0"/>
          </a:p>
        </p:txBody>
      </p:sp>
      <p:sp>
        <p:nvSpPr>
          <p:cNvPr id="14" name="Shape 11"/>
          <p:cNvSpPr/>
          <p:nvPr/>
        </p:nvSpPr>
        <p:spPr>
          <a:xfrm>
            <a:off x="7699248" y="2395728"/>
            <a:ext cx="1847088" cy="960120"/>
          </a:xfrm>
          <a:prstGeom prst="roundRect">
            <a:avLst>
              <a:gd name="adj" fmla="val 7619"/>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15" name="Shape 12"/>
          <p:cNvSpPr/>
          <p:nvPr/>
        </p:nvSpPr>
        <p:spPr>
          <a:xfrm>
            <a:off x="7699248" y="2395728"/>
            <a:ext cx="54864" cy="960120"/>
          </a:xfrm>
          <a:prstGeom prst="rect">
            <a:avLst/>
          </a:prstGeom>
          <a:solidFill>
            <a:srgbClr val="2F9E6D"/>
          </a:solidFill>
          <a:ln w="12700">
            <a:solidFill>
              <a:srgbClr val="2F9E6D"/>
            </a:solidFill>
            <a:prstDash val="solid"/>
          </a:ln>
        </p:spPr>
        <p:txBody>
          <a:bodyPr/>
          <a:lstStyle/>
          <a:p>
            <a:endParaRPr lang="fr-FR"/>
          </a:p>
        </p:txBody>
      </p:sp>
      <p:sp>
        <p:nvSpPr>
          <p:cNvPr id="16" name="Text 13"/>
          <p:cNvSpPr/>
          <p:nvPr/>
        </p:nvSpPr>
        <p:spPr>
          <a:xfrm>
            <a:off x="7918704" y="2551176"/>
            <a:ext cx="1481328" cy="329184"/>
          </a:xfrm>
          <a:prstGeom prst="rect">
            <a:avLst/>
          </a:prstGeom>
          <a:noFill/>
          <a:ln/>
        </p:spPr>
        <p:txBody>
          <a:bodyPr wrap="square" lIns="0" tIns="0" rIns="0" bIns="0" rtlCol="0" anchor="ctr">
            <a:normAutofit/>
          </a:bodyPr>
          <a:lstStyle/>
          <a:p>
            <a:pPr marL="0" indent="0">
              <a:buNone/>
            </a:pPr>
            <a:r>
              <a:rPr lang="en-US" sz="2100" b="1" dirty="0">
                <a:solidFill>
                  <a:srgbClr val="0B1F3A"/>
                </a:solidFill>
                <a:latin typeface="Aptos Display" pitchFamily="34" charset="0"/>
                <a:ea typeface="Aptos Display" pitchFamily="34" charset="-122"/>
                <a:cs typeface="Aptos Display" pitchFamily="34" charset="-120"/>
              </a:rPr>
              <a:t>0,874</a:t>
            </a:r>
            <a:endParaRPr lang="en-US" sz="2100" dirty="0"/>
          </a:p>
        </p:txBody>
      </p:sp>
      <p:sp>
        <p:nvSpPr>
          <p:cNvPr id="17" name="Text 14"/>
          <p:cNvSpPr/>
          <p:nvPr/>
        </p:nvSpPr>
        <p:spPr>
          <a:xfrm>
            <a:off x="7918704" y="2935224"/>
            <a:ext cx="1499616" cy="246888"/>
          </a:xfrm>
          <a:prstGeom prst="rect">
            <a:avLst/>
          </a:prstGeom>
          <a:noFill/>
          <a:ln/>
        </p:spPr>
        <p:txBody>
          <a:bodyPr wrap="square" lIns="0" tIns="0" rIns="0" bIns="0" rtlCol="0" anchor="ctr">
            <a:normAutofit/>
          </a:bodyPr>
          <a:lstStyle/>
          <a:p>
            <a:pPr marL="0" indent="0">
              <a:buNone/>
            </a:pPr>
            <a:r>
              <a:rPr lang="en-US" sz="1040" dirty="0">
                <a:solidFill>
                  <a:srgbClr val="657389"/>
                </a:solidFill>
                <a:latin typeface="Aptos" pitchFamily="34" charset="0"/>
                <a:ea typeface="Aptos" pitchFamily="34" charset="-122"/>
                <a:cs typeface="Aptos" pitchFamily="34" charset="-120"/>
              </a:rPr>
              <a:t>R²</a:t>
            </a:r>
            <a:endParaRPr lang="en-US" sz="1040" dirty="0"/>
          </a:p>
        </p:txBody>
      </p:sp>
      <p:sp>
        <p:nvSpPr>
          <p:cNvPr id="18" name="Shape 15"/>
          <p:cNvSpPr/>
          <p:nvPr/>
        </p:nvSpPr>
        <p:spPr>
          <a:xfrm>
            <a:off x="9674352" y="2395728"/>
            <a:ext cx="1847088" cy="960120"/>
          </a:xfrm>
          <a:prstGeom prst="roundRect">
            <a:avLst>
              <a:gd name="adj" fmla="val 7619"/>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19" name="Shape 16"/>
          <p:cNvSpPr/>
          <p:nvPr/>
        </p:nvSpPr>
        <p:spPr>
          <a:xfrm>
            <a:off x="9674352" y="2395728"/>
            <a:ext cx="54864" cy="960120"/>
          </a:xfrm>
          <a:prstGeom prst="rect">
            <a:avLst/>
          </a:prstGeom>
          <a:solidFill>
            <a:srgbClr val="F59E0B"/>
          </a:solidFill>
          <a:ln w="12700">
            <a:solidFill>
              <a:srgbClr val="F59E0B"/>
            </a:solidFill>
            <a:prstDash val="solid"/>
          </a:ln>
        </p:spPr>
        <p:txBody>
          <a:bodyPr/>
          <a:lstStyle/>
          <a:p>
            <a:endParaRPr lang="fr-FR"/>
          </a:p>
        </p:txBody>
      </p:sp>
      <p:sp>
        <p:nvSpPr>
          <p:cNvPr id="20" name="Text 17"/>
          <p:cNvSpPr/>
          <p:nvPr/>
        </p:nvSpPr>
        <p:spPr>
          <a:xfrm>
            <a:off x="9893808" y="2551176"/>
            <a:ext cx="1481328" cy="329184"/>
          </a:xfrm>
          <a:prstGeom prst="rect">
            <a:avLst/>
          </a:prstGeom>
          <a:noFill/>
          <a:ln/>
        </p:spPr>
        <p:txBody>
          <a:bodyPr wrap="square" lIns="0" tIns="0" rIns="0" bIns="0" rtlCol="0" anchor="ctr">
            <a:normAutofit/>
          </a:bodyPr>
          <a:lstStyle/>
          <a:p>
            <a:pPr marL="0" indent="0">
              <a:buNone/>
            </a:pPr>
            <a:r>
              <a:rPr lang="en-US" sz="1800" b="1" dirty="0">
                <a:solidFill>
                  <a:srgbClr val="0B1F3A"/>
                </a:solidFill>
                <a:latin typeface="Aptos Display" pitchFamily="34" charset="0"/>
                <a:ea typeface="Aptos Display" pitchFamily="34" charset="-122"/>
                <a:cs typeface="Aptos Display" pitchFamily="34" charset="-120"/>
              </a:rPr>
              <a:t>35,85 %</a:t>
            </a:r>
            <a:endParaRPr lang="en-US" sz="1800" dirty="0"/>
          </a:p>
        </p:txBody>
      </p:sp>
      <p:sp>
        <p:nvSpPr>
          <p:cNvPr id="21" name="Text 18"/>
          <p:cNvSpPr/>
          <p:nvPr/>
        </p:nvSpPr>
        <p:spPr>
          <a:xfrm>
            <a:off x="9893808" y="2935224"/>
            <a:ext cx="1499616" cy="246888"/>
          </a:xfrm>
          <a:prstGeom prst="rect">
            <a:avLst/>
          </a:prstGeom>
          <a:noFill/>
          <a:ln/>
        </p:spPr>
        <p:txBody>
          <a:bodyPr wrap="square" lIns="0" tIns="0" rIns="0" bIns="0" rtlCol="0" anchor="ctr">
            <a:normAutofit/>
          </a:bodyPr>
          <a:lstStyle/>
          <a:p>
            <a:pPr marL="0" indent="0">
              <a:buNone/>
            </a:pPr>
            <a:r>
              <a:rPr lang="en-US" sz="1040" dirty="0">
                <a:solidFill>
                  <a:srgbClr val="657389"/>
                </a:solidFill>
                <a:latin typeface="Aptos" pitchFamily="34" charset="0"/>
                <a:ea typeface="Aptos" pitchFamily="34" charset="-122"/>
                <a:cs typeface="Aptos" pitchFamily="34" charset="-120"/>
              </a:rPr>
              <a:t>WAPE</a:t>
            </a:r>
            <a:endParaRPr lang="en-US" sz="1040" dirty="0"/>
          </a:p>
        </p:txBody>
      </p:sp>
      <p:sp>
        <p:nvSpPr>
          <p:cNvPr id="22" name="Shape 19"/>
          <p:cNvSpPr/>
          <p:nvPr/>
        </p:nvSpPr>
        <p:spPr>
          <a:xfrm>
            <a:off x="7699248" y="3547872"/>
            <a:ext cx="1847088" cy="960120"/>
          </a:xfrm>
          <a:prstGeom prst="roundRect">
            <a:avLst>
              <a:gd name="adj" fmla="val 7619"/>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23" name="Shape 20"/>
          <p:cNvSpPr/>
          <p:nvPr/>
        </p:nvSpPr>
        <p:spPr>
          <a:xfrm>
            <a:off x="7699248" y="3547872"/>
            <a:ext cx="54864" cy="960120"/>
          </a:xfrm>
          <a:prstGeom prst="rect">
            <a:avLst/>
          </a:prstGeom>
          <a:solidFill>
            <a:srgbClr val="00A8A8"/>
          </a:solidFill>
          <a:ln w="12700">
            <a:solidFill>
              <a:srgbClr val="00A8A8"/>
            </a:solidFill>
            <a:prstDash val="solid"/>
          </a:ln>
        </p:spPr>
        <p:txBody>
          <a:bodyPr/>
          <a:lstStyle/>
          <a:p>
            <a:endParaRPr lang="fr-FR"/>
          </a:p>
        </p:txBody>
      </p:sp>
      <p:sp>
        <p:nvSpPr>
          <p:cNvPr id="24" name="Text 21"/>
          <p:cNvSpPr/>
          <p:nvPr/>
        </p:nvSpPr>
        <p:spPr>
          <a:xfrm>
            <a:off x="7918704" y="3703320"/>
            <a:ext cx="1481328" cy="329184"/>
          </a:xfrm>
          <a:prstGeom prst="rect">
            <a:avLst/>
          </a:prstGeom>
          <a:noFill/>
          <a:ln/>
        </p:spPr>
        <p:txBody>
          <a:bodyPr wrap="square" lIns="0" tIns="0" rIns="0" bIns="0" rtlCol="0" anchor="ctr">
            <a:normAutofit/>
          </a:bodyPr>
          <a:lstStyle/>
          <a:p>
            <a:pPr marL="0" indent="0">
              <a:buNone/>
            </a:pPr>
            <a:r>
              <a:rPr lang="en-US" sz="1750" b="1" dirty="0">
                <a:solidFill>
                  <a:srgbClr val="0B1F3A"/>
                </a:solidFill>
                <a:latin typeface="Aptos Display" pitchFamily="34" charset="0"/>
                <a:ea typeface="Aptos Display" pitchFamily="34" charset="-122"/>
                <a:cs typeface="Aptos Display" pitchFamily="34" charset="-120"/>
              </a:rPr>
              <a:t>+10,92 %</a:t>
            </a:r>
            <a:endParaRPr lang="en-US" sz="1750" dirty="0"/>
          </a:p>
        </p:txBody>
      </p:sp>
      <p:sp>
        <p:nvSpPr>
          <p:cNvPr id="25" name="Text 22"/>
          <p:cNvSpPr/>
          <p:nvPr/>
        </p:nvSpPr>
        <p:spPr>
          <a:xfrm>
            <a:off x="7918704" y="4087368"/>
            <a:ext cx="1499616" cy="246888"/>
          </a:xfrm>
          <a:prstGeom prst="rect">
            <a:avLst/>
          </a:prstGeom>
          <a:noFill/>
          <a:ln/>
        </p:spPr>
        <p:txBody>
          <a:bodyPr wrap="square" lIns="0" tIns="0" rIns="0" bIns="0" rtlCol="0" anchor="ctr">
            <a:normAutofit/>
          </a:bodyPr>
          <a:lstStyle/>
          <a:p>
            <a:pPr marL="0" indent="0">
              <a:buNone/>
            </a:pPr>
            <a:r>
              <a:rPr lang="en-US" sz="1040" dirty="0">
                <a:solidFill>
                  <a:srgbClr val="657389"/>
                </a:solidFill>
                <a:latin typeface="Aptos" pitchFamily="34" charset="0"/>
                <a:ea typeface="Aptos" pitchFamily="34" charset="-122"/>
                <a:cs typeface="Aptos" pitchFamily="34" charset="-120"/>
              </a:rPr>
              <a:t>gain RMSE vs naïf</a:t>
            </a:r>
            <a:endParaRPr lang="en-US" sz="1040" dirty="0"/>
          </a:p>
        </p:txBody>
      </p:sp>
      <p:sp>
        <p:nvSpPr>
          <p:cNvPr id="26" name="Shape 23"/>
          <p:cNvSpPr/>
          <p:nvPr/>
        </p:nvSpPr>
        <p:spPr>
          <a:xfrm>
            <a:off x="9674352" y="3547872"/>
            <a:ext cx="1847088" cy="960120"/>
          </a:xfrm>
          <a:prstGeom prst="roundRect">
            <a:avLst>
              <a:gd name="adj" fmla="val 7619"/>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27" name="Shape 24"/>
          <p:cNvSpPr/>
          <p:nvPr/>
        </p:nvSpPr>
        <p:spPr>
          <a:xfrm>
            <a:off x="9674352" y="3547872"/>
            <a:ext cx="54864" cy="960120"/>
          </a:xfrm>
          <a:prstGeom prst="rect">
            <a:avLst/>
          </a:prstGeom>
          <a:solidFill>
            <a:srgbClr val="E15B64"/>
          </a:solidFill>
          <a:ln w="12700">
            <a:solidFill>
              <a:srgbClr val="E15B64"/>
            </a:solidFill>
            <a:prstDash val="solid"/>
          </a:ln>
        </p:spPr>
        <p:txBody>
          <a:bodyPr/>
          <a:lstStyle/>
          <a:p>
            <a:endParaRPr lang="fr-FR"/>
          </a:p>
        </p:txBody>
      </p:sp>
      <p:sp>
        <p:nvSpPr>
          <p:cNvPr id="28" name="Text 25"/>
          <p:cNvSpPr/>
          <p:nvPr/>
        </p:nvSpPr>
        <p:spPr>
          <a:xfrm>
            <a:off x="9893808" y="3703320"/>
            <a:ext cx="1481328" cy="329184"/>
          </a:xfrm>
          <a:prstGeom prst="rect">
            <a:avLst/>
          </a:prstGeom>
          <a:noFill/>
          <a:ln/>
        </p:spPr>
        <p:txBody>
          <a:bodyPr wrap="square" lIns="0" tIns="0" rIns="0" bIns="0" rtlCol="0" anchor="ctr">
            <a:normAutofit/>
          </a:bodyPr>
          <a:lstStyle/>
          <a:p>
            <a:pPr marL="0" indent="0">
              <a:buNone/>
            </a:pPr>
            <a:r>
              <a:rPr lang="en-US" sz="1800" b="1" dirty="0">
                <a:solidFill>
                  <a:srgbClr val="0B1F3A"/>
                </a:solidFill>
                <a:latin typeface="Aptos Display" pitchFamily="34" charset="0"/>
                <a:ea typeface="Aptos Display" pitchFamily="34" charset="-122"/>
                <a:cs typeface="Aptos Display" pitchFamily="34" charset="-120"/>
              </a:rPr>
              <a:t>-2,61 %</a:t>
            </a:r>
            <a:endParaRPr lang="en-US" sz="1800" dirty="0"/>
          </a:p>
        </p:txBody>
      </p:sp>
      <p:sp>
        <p:nvSpPr>
          <p:cNvPr id="29" name="Text 26"/>
          <p:cNvSpPr/>
          <p:nvPr/>
        </p:nvSpPr>
        <p:spPr>
          <a:xfrm>
            <a:off x="9893808" y="4087368"/>
            <a:ext cx="1499616" cy="246888"/>
          </a:xfrm>
          <a:prstGeom prst="rect">
            <a:avLst/>
          </a:prstGeom>
          <a:noFill/>
          <a:ln/>
        </p:spPr>
        <p:txBody>
          <a:bodyPr wrap="square" lIns="0" tIns="0" rIns="0" bIns="0" rtlCol="0" anchor="ctr">
            <a:normAutofit/>
          </a:bodyPr>
          <a:lstStyle/>
          <a:p>
            <a:pPr marL="0" indent="0">
              <a:buNone/>
            </a:pPr>
            <a:r>
              <a:rPr lang="en-US" sz="1040" dirty="0">
                <a:solidFill>
                  <a:srgbClr val="657389"/>
                </a:solidFill>
                <a:latin typeface="Aptos" pitchFamily="34" charset="0"/>
                <a:ea typeface="Aptos" pitchFamily="34" charset="-122"/>
                <a:cs typeface="Aptos" pitchFamily="34" charset="-120"/>
              </a:rPr>
              <a:t>biais global</a:t>
            </a:r>
            <a:endParaRPr lang="en-US" sz="1040" dirty="0"/>
          </a:p>
        </p:txBody>
      </p:sp>
      <p:sp>
        <p:nvSpPr>
          <p:cNvPr id="30" name="Shape 27"/>
          <p:cNvSpPr/>
          <p:nvPr/>
        </p:nvSpPr>
        <p:spPr>
          <a:xfrm>
            <a:off x="7699248" y="4754880"/>
            <a:ext cx="3822192" cy="1042416"/>
          </a:xfrm>
          <a:prstGeom prst="roundRect">
            <a:avLst>
              <a:gd name="adj" fmla="val 5263"/>
            </a:avLst>
          </a:prstGeom>
          <a:solidFill>
            <a:srgbClr val="FFF2D6"/>
          </a:solidFill>
          <a:ln w="12700">
            <a:solidFill>
              <a:srgbClr val="F5DCB8"/>
            </a:solidFill>
            <a:prstDash val="solid"/>
          </a:ln>
        </p:spPr>
        <p:txBody>
          <a:bodyPr/>
          <a:lstStyle/>
          <a:p>
            <a:endParaRPr lang="fr-FR"/>
          </a:p>
        </p:txBody>
      </p:sp>
      <p:sp>
        <p:nvSpPr>
          <p:cNvPr id="31" name="Text 28"/>
          <p:cNvSpPr/>
          <p:nvPr/>
        </p:nvSpPr>
        <p:spPr>
          <a:xfrm>
            <a:off x="7936992" y="4956048"/>
            <a:ext cx="1325880" cy="201168"/>
          </a:xfrm>
          <a:prstGeom prst="rect">
            <a:avLst/>
          </a:prstGeom>
          <a:noFill/>
          <a:ln/>
        </p:spPr>
        <p:txBody>
          <a:bodyPr wrap="square" lIns="0" tIns="0" rIns="0" bIns="0" rtlCol="0" anchor="ctr"/>
          <a:lstStyle/>
          <a:p>
            <a:pPr marL="0" indent="0">
              <a:buNone/>
            </a:pPr>
            <a:r>
              <a:rPr lang="en-US" sz="1200" b="1" dirty="0" err="1">
                <a:solidFill>
                  <a:srgbClr val="F59E0B"/>
                </a:solidFill>
                <a:latin typeface="Aptos Display" pitchFamily="34" charset="0"/>
                <a:ea typeface="Aptos Display" pitchFamily="34" charset="-122"/>
                <a:cs typeface="Aptos Display" pitchFamily="34" charset="-120"/>
              </a:rPr>
              <a:t>Pourquoi</a:t>
            </a:r>
            <a:r>
              <a:rPr lang="en-US" sz="1200" b="1" dirty="0">
                <a:solidFill>
                  <a:srgbClr val="F59E0B"/>
                </a:solidFill>
                <a:latin typeface="Aptos Display" pitchFamily="34" charset="0"/>
                <a:ea typeface="Aptos Display" pitchFamily="34" charset="-122"/>
                <a:cs typeface="Aptos Display" pitchFamily="34" charset="-120"/>
              </a:rPr>
              <a:t> WAPE ?</a:t>
            </a:r>
            <a:endParaRPr lang="en-US" sz="1200" dirty="0"/>
          </a:p>
        </p:txBody>
      </p:sp>
      <p:sp>
        <p:nvSpPr>
          <p:cNvPr id="32" name="Text 29"/>
          <p:cNvSpPr/>
          <p:nvPr/>
        </p:nvSpPr>
        <p:spPr>
          <a:xfrm>
            <a:off x="7936992" y="5212080"/>
            <a:ext cx="3246120" cy="365760"/>
          </a:xfrm>
          <a:prstGeom prst="rect">
            <a:avLst/>
          </a:prstGeom>
          <a:noFill/>
          <a:ln/>
        </p:spPr>
        <p:txBody>
          <a:bodyPr wrap="square" lIns="0" tIns="0" rIns="0" bIns="0" rtlCol="0" anchor="ctr">
            <a:normAutofit/>
          </a:bodyPr>
          <a:lstStyle/>
          <a:p>
            <a:r>
              <a:rPr lang="fr-FR" sz="1000" dirty="0"/>
              <a:t>Le WAPE permet de regarder l’erreur du modèle par rapport à l’ensemble des ventes.</a:t>
            </a:r>
            <a:endParaRPr lang="en-US" sz="1000" dirty="0"/>
          </a:p>
        </p:txBody>
      </p:sp>
      <p:sp>
        <p:nvSpPr>
          <p:cNvPr id="33" name="Text 30"/>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34"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VARIABLES IMPORTANTES</a:t>
            </a:r>
            <a:endParaRPr lang="en-US" sz="950" dirty="0"/>
          </a:p>
        </p:txBody>
      </p:sp>
      <p:sp>
        <p:nvSpPr>
          <p:cNvPr id="3" name="Text 1"/>
          <p:cNvSpPr/>
          <p:nvPr/>
        </p:nvSpPr>
        <p:spPr>
          <a:xfrm>
            <a:off x="666182" y="612648"/>
            <a:ext cx="10744200" cy="475488"/>
          </a:xfrm>
          <a:prstGeom prst="rect">
            <a:avLst/>
          </a:prstGeom>
          <a:noFill/>
          <a:ln/>
        </p:spPr>
        <p:txBody>
          <a:bodyPr wrap="square" lIns="0" tIns="0" rIns="0" bIns="0" rtlCol="0" anchor="ctr">
            <a:normAutofit/>
          </a:bodyPr>
          <a:lstStyle/>
          <a:p>
            <a:r>
              <a:rPr lang="fr-FR" sz="2800" b="1" dirty="0"/>
              <a:t>Quelles informations influencent le plus les prévisions ?</a:t>
            </a:r>
            <a:endParaRPr lang="en-US" sz="2600" b="1" dirty="0"/>
          </a:p>
        </p:txBody>
      </p:sp>
      <p:sp>
        <p:nvSpPr>
          <p:cNvPr id="4" name="Shape 2"/>
          <p:cNvSpPr/>
          <p:nvPr/>
        </p:nvSpPr>
        <p:spPr>
          <a:xfrm>
            <a:off x="658368" y="1325880"/>
            <a:ext cx="6903720" cy="4526280"/>
          </a:xfrm>
          <a:prstGeom prst="roundRect">
            <a:avLst>
              <a:gd name="adj" fmla="val 1212"/>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dirty="0"/>
          </a:p>
        </p:txBody>
      </p:sp>
      <p:sp>
        <p:nvSpPr>
          <p:cNvPr id="5" name="Text 3"/>
          <p:cNvSpPr/>
          <p:nvPr/>
        </p:nvSpPr>
        <p:spPr>
          <a:xfrm>
            <a:off x="932688" y="1627632"/>
            <a:ext cx="3931920" cy="274320"/>
          </a:xfrm>
          <a:prstGeom prst="rect">
            <a:avLst/>
          </a:prstGeom>
          <a:noFill/>
          <a:ln/>
        </p:spPr>
        <p:txBody>
          <a:bodyPr wrap="square" lIns="0" tIns="0" rIns="0" bIns="0" rtlCol="0" anchor="ctr"/>
          <a:lstStyle/>
          <a:p>
            <a:pPr marL="0" indent="0">
              <a:buNone/>
            </a:pPr>
            <a:r>
              <a:rPr lang="en-US" sz="1450" b="1" dirty="0">
                <a:solidFill>
                  <a:srgbClr val="0B1F3A"/>
                </a:solidFill>
                <a:latin typeface="Aptos Display" pitchFamily="34" charset="0"/>
                <a:ea typeface="Aptos Display" pitchFamily="34" charset="-122"/>
                <a:cs typeface="Aptos Display" pitchFamily="34" charset="-120"/>
              </a:rPr>
              <a:t>Top 6 des importances du Gradient Boosting</a:t>
            </a:r>
            <a:endParaRPr lang="en-US" sz="1450" dirty="0"/>
          </a:p>
        </p:txBody>
      </p:sp>
      <p:sp>
        <p:nvSpPr>
          <p:cNvPr id="6" name="Text 4"/>
          <p:cNvSpPr/>
          <p:nvPr/>
        </p:nvSpPr>
        <p:spPr>
          <a:xfrm>
            <a:off x="932688" y="2167128"/>
            <a:ext cx="1554480" cy="219456"/>
          </a:xfrm>
          <a:prstGeom prst="rect">
            <a:avLst/>
          </a:prstGeom>
          <a:noFill/>
          <a:ln/>
        </p:spPr>
        <p:txBody>
          <a:bodyPr wrap="square" lIns="0" tIns="0" rIns="0" bIns="0" rtlCol="0" anchor="ctr">
            <a:noAutofit/>
          </a:bodyPr>
          <a:lstStyle/>
          <a:p>
            <a:pPr algn="r"/>
            <a:r>
              <a:rPr lang="fr-FR" sz="1100" dirty="0"/>
              <a:t>Ventes du mois précédent</a:t>
            </a:r>
            <a:endParaRPr lang="en-US" sz="1100" dirty="0"/>
          </a:p>
        </p:txBody>
      </p:sp>
      <p:sp>
        <p:nvSpPr>
          <p:cNvPr id="7" name="Shape 5"/>
          <p:cNvSpPr/>
          <p:nvPr/>
        </p:nvSpPr>
        <p:spPr>
          <a:xfrm>
            <a:off x="2651760" y="2148840"/>
            <a:ext cx="4389120" cy="292608"/>
          </a:xfrm>
          <a:prstGeom prst="roundRect">
            <a:avLst>
              <a:gd name="adj" fmla="val 12500"/>
            </a:avLst>
          </a:prstGeom>
          <a:solidFill>
            <a:srgbClr val="EEF2F7"/>
          </a:solidFill>
          <a:ln w="12700">
            <a:solidFill>
              <a:srgbClr val="EEF2F7"/>
            </a:solidFill>
            <a:prstDash val="solid"/>
          </a:ln>
        </p:spPr>
        <p:txBody>
          <a:bodyPr/>
          <a:lstStyle/>
          <a:p>
            <a:endParaRPr lang="fr-FR"/>
          </a:p>
        </p:txBody>
      </p:sp>
      <p:sp>
        <p:nvSpPr>
          <p:cNvPr id="8" name="Shape 6"/>
          <p:cNvSpPr/>
          <p:nvPr/>
        </p:nvSpPr>
        <p:spPr>
          <a:xfrm>
            <a:off x="2651760" y="2148840"/>
            <a:ext cx="4317431" cy="292608"/>
          </a:xfrm>
          <a:prstGeom prst="roundRect">
            <a:avLst>
              <a:gd name="adj" fmla="val 12500"/>
            </a:avLst>
          </a:prstGeom>
          <a:solidFill>
            <a:srgbClr val="00A8A8"/>
          </a:solidFill>
          <a:ln w="12700">
            <a:solidFill>
              <a:srgbClr val="00A8A8"/>
            </a:solidFill>
            <a:prstDash val="solid"/>
          </a:ln>
        </p:spPr>
        <p:txBody>
          <a:bodyPr/>
          <a:lstStyle/>
          <a:p>
            <a:endParaRPr lang="fr-FR"/>
          </a:p>
        </p:txBody>
      </p:sp>
      <p:sp>
        <p:nvSpPr>
          <p:cNvPr id="9" name="Text 7"/>
          <p:cNvSpPr/>
          <p:nvPr/>
        </p:nvSpPr>
        <p:spPr>
          <a:xfrm>
            <a:off x="7114032" y="2167128"/>
            <a:ext cx="347472" cy="201168"/>
          </a:xfrm>
          <a:prstGeom prst="rect">
            <a:avLst/>
          </a:prstGeom>
          <a:noFill/>
          <a:ln/>
        </p:spPr>
        <p:txBody>
          <a:bodyPr wrap="square" lIns="0" tIns="0" rIns="0" bIns="0" rtlCol="0" anchor="ctr"/>
          <a:lstStyle/>
          <a:p>
            <a:pPr marL="0" indent="0" algn="r">
              <a:buNone/>
            </a:pPr>
            <a:r>
              <a:rPr lang="en-US" sz="970" b="1" dirty="0">
                <a:solidFill>
                  <a:srgbClr val="0B1F3A"/>
                </a:solidFill>
                <a:latin typeface="Aptos" pitchFamily="34" charset="0"/>
                <a:ea typeface="Aptos" pitchFamily="34" charset="-122"/>
                <a:cs typeface="Aptos" pitchFamily="34" charset="-120"/>
              </a:rPr>
              <a:t>88,53 %</a:t>
            </a:r>
            <a:endParaRPr lang="en-US" sz="970" dirty="0"/>
          </a:p>
        </p:txBody>
      </p:sp>
      <p:sp>
        <p:nvSpPr>
          <p:cNvPr id="10" name="Text 8"/>
          <p:cNvSpPr/>
          <p:nvPr/>
        </p:nvSpPr>
        <p:spPr>
          <a:xfrm>
            <a:off x="932688" y="2724912"/>
            <a:ext cx="1554480" cy="219456"/>
          </a:xfrm>
          <a:prstGeom prst="rect">
            <a:avLst/>
          </a:prstGeom>
          <a:noFill/>
          <a:ln/>
        </p:spPr>
        <p:txBody>
          <a:bodyPr wrap="square" lIns="0" tIns="0" rIns="0" bIns="0" rtlCol="0" anchor="ctr">
            <a:normAutofit/>
          </a:bodyPr>
          <a:lstStyle/>
          <a:p>
            <a:pPr algn="r"/>
            <a:r>
              <a:rPr lang="fr-FR" sz="1100" dirty="0"/>
              <a:t>Le prix du soja</a:t>
            </a:r>
            <a:endParaRPr lang="en-US" sz="1080" dirty="0"/>
          </a:p>
        </p:txBody>
      </p:sp>
      <p:sp>
        <p:nvSpPr>
          <p:cNvPr id="11" name="Shape 9"/>
          <p:cNvSpPr/>
          <p:nvPr/>
        </p:nvSpPr>
        <p:spPr>
          <a:xfrm>
            <a:off x="2651760" y="2706624"/>
            <a:ext cx="4389120" cy="292608"/>
          </a:xfrm>
          <a:prstGeom prst="roundRect">
            <a:avLst>
              <a:gd name="adj" fmla="val 12500"/>
            </a:avLst>
          </a:prstGeom>
          <a:solidFill>
            <a:srgbClr val="EEF2F7"/>
          </a:solidFill>
          <a:ln w="12700">
            <a:solidFill>
              <a:srgbClr val="EEF2F7"/>
            </a:solidFill>
            <a:prstDash val="solid"/>
          </a:ln>
        </p:spPr>
        <p:txBody>
          <a:bodyPr/>
          <a:lstStyle/>
          <a:p>
            <a:endParaRPr lang="fr-FR"/>
          </a:p>
        </p:txBody>
      </p:sp>
      <p:sp>
        <p:nvSpPr>
          <p:cNvPr id="12" name="Shape 10"/>
          <p:cNvSpPr/>
          <p:nvPr/>
        </p:nvSpPr>
        <p:spPr>
          <a:xfrm>
            <a:off x="2651760" y="2706624"/>
            <a:ext cx="127284" cy="292608"/>
          </a:xfrm>
          <a:prstGeom prst="roundRect">
            <a:avLst>
              <a:gd name="adj" fmla="val 28736"/>
            </a:avLst>
          </a:prstGeom>
          <a:solidFill>
            <a:srgbClr val="3F7FC4"/>
          </a:solidFill>
          <a:ln w="12700">
            <a:solidFill>
              <a:srgbClr val="3F7FC4"/>
            </a:solidFill>
            <a:prstDash val="solid"/>
          </a:ln>
        </p:spPr>
        <p:txBody>
          <a:bodyPr/>
          <a:lstStyle/>
          <a:p>
            <a:endParaRPr lang="fr-FR"/>
          </a:p>
        </p:txBody>
      </p:sp>
      <p:sp>
        <p:nvSpPr>
          <p:cNvPr id="13" name="Text 11"/>
          <p:cNvSpPr/>
          <p:nvPr/>
        </p:nvSpPr>
        <p:spPr>
          <a:xfrm>
            <a:off x="7114032" y="2724912"/>
            <a:ext cx="347472" cy="201168"/>
          </a:xfrm>
          <a:prstGeom prst="rect">
            <a:avLst/>
          </a:prstGeom>
          <a:noFill/>
          <a:ln/>
        </p:spPr>
        <p:txBody>
          <a:bodyPr wrap="square" lIns="0" tIns="0" rIns="0" bIns="0" rtlCol="0" anchor="ctr"/>
          <a:lstStyle/>
          <a:p>
            <a:pPr marL="0" indent="0" algn="r">
              <a:buNone/>
            </a:pPr>
            <a:r>
              <a:rPr lang="en-US" sz="970" b="1" dirty="0">
                <a:solidFill>
                  <a:srgbClr val="0B1F3A"/>
                </a:solidFill>
                <a:latin typeface="Aptos" pitchFamily="34" charset="0"/>
                <a:ea typeface="Aptos" pitchFamily="34" charset="-122"/>
                <a:cs typeface="Aptos" pitchFamily="34" charset="-120"/>
              </a:rPr>
              <a:t>2,61 %</a:t>
            </a:r>
            <a:endParaRPr lang="en-US" sz="970" dirty="0"/>
          </a:p>
        </p:txBody>
      </p:sp>
      <p:sp>
        <p:nvSpPr>
          <p:cNvPr id="14" name="Text 12"/>
          <p:cNvSpPr/>
          <p:nvPr/>
        </p:nvSpPr>
        <p:spPr>
          <a:xfrm>
            <a:off x="932688" y="3282696"/>
            <a:ext cx="1554480" cy="219456"/>
          </a:xfrm>
          <a:prstGeom prst="rect">
            <a:avLst/>
          </a:prstGeom>
          <a:noFill/>
          <a:ln/>
        </p:spPr>
        <p:txBody>
          <a:bodyPr wrap="square" lIns="0" tIns="0" rIns="0" bIns="0" rtlCol="0" anchor="ctr">
            <a:noAutofit/>
          </a:bodyPr>
          <a:lstStyle/>
          <a:p>
            <a:pPr algn="r"/>
            <a:r>
              <a:rPr lang="fr-FR" sz="1100" dirty="0"/>
              <a:t>La moyenne des 3 derniers mois </a:t>
            </a:r>
            <a:endParaRPr lang="en-US" sz="1100" dirty="0"/>
          </a:p>
        </p:txBody>
      </p:sp>
      <p:sp>
        <p:nvSpPr>
          <p:cNvPr id="15" name="Shape 13"/>
          <p:cNvSpPr/>
          <p:nvPr/>
        </p:nvSpPr>
        <p:spPr>
          <a:xfrm>
            <a:off x="2651760" y="3264408"/>
            <a:ext cx="4389120" cy="292608"/>
          </a:xfrm>
          <a:prstGeom prst="roundRect">
            <a:avLst>
              <a:gd name="adj" fmla="val 12500"/>
            </a:avLst>
          </a:prstGeom>
          <a:solidFill>
            <a:srgbClr val="EEF2F7"/>
          </a:solidFill>
          <a:ln w="12700">
            <a:solidFill>
              <a:srgbClr val="EEF2F7"/>
            </a:solidFill>
            <a:prstDash val="solid"/>
          </a:ln>
        </p:spPr>
        <p:txBody>
          <a:bodyPr/>
          <a:lstStyle/>
          <a:p>
            <a:endParaRPr lang="fr-FR"/>
          </a:p>
        </p:txBody>
      </p:sp>
      <p:sp>
        <p:nvSpPr>
          <p:cNvPr id="16" name="Shape 14"/>
          <p:cNvSpPr/>
          <p:nvPr/>
        </p:nvSpPr>
        <p:spPr>
          <a:xfrm>
            <a:off x="2651760" y="3264408"/>
            <a:ext cx="99487" cy="292608"/>
          </a:xfrm>
          <a:prstGeom prst="roundRect">
            <a:avLst>
              <a:gd name="adj" fmla="val 36765"/>
            </a:avLst>
          </a:prstGeom>
          <a:solidFill>
            <a:srgbClr val="3F7FC4"/>
          </a:solidFill>
          <a:ln w="12700">
            <a:solidFill>
              <a:srgbClr val="3F7FC4"/>
            </a:solidFill>
            <a:prstDash val="solid"/>
          </a:ln>
        </p:spPr>
        <p:txBody>
          <a:bodyPr/>
          <a:lstStyle/>
          <a:p>
            <a:endParaRPr lang="fr-FR"/>
          </a:p>
        </p:txBody>
      </p:sp>
      <p:sp>
        <p:nvSpPr>
          <p:cNvPr id="17" name="Text 15"/>
          <p:cNvSpPr/>
          <p:nvPr/>
        </p:nvSpPr>
        <p:spPr>
          <a:xfrm>
            <a:off x="7114032" y="3282696"/>
            <a:ext cx="347472" cy="201168"/>
          </a:xfrm>
          <a:prstGeom prst="rect">
            <a:avLst/>
          </a:prstGeom>
          <a:noFill/>
          <a:ln/>
        </p:spPr>
        <p:txBody>
          <a:bodyPr wrap="square" lIns="0" tIns="0" rIns="0" bIns="0" rtlCol="0" anchor="ctr"/>
          <a:lstStyle/>
          <a:p>
            <a:pPr marL="0" indent="0" algn="r">
              <a:buNone/>
            </a:pPr>
            <a:r>
              <a:rPr lang="en-US" sz="970" b="1" dirty="0">
                <a:solidFill>
                  <a:srgbClr val="0B1F3A"/>
                </a:solidFill>
                <a:latin typeface="Aptos" pitchFamily="34" charset="0"/>
                <a:ea typeface="Aptos" pitchFamily="34" charset="-122"/>
                <a:cs typeface="Aptos" pitchFamily="34" charset="-120"/>
              </a:rPr>
              <a:t>2,04 %</a:t>
            </a:r>
            <a:endParaRPr lang="en-US" sz="970" dirty="0"/>
          </a:p>
        </p:txBody>
      </p:sp>
      <p:sp>
        <p:nvSpPr>
          <p:cNvPr id="18" name="Text 16"/>
          <p:cNvSpPr/>
          <p:nvPr/>
        </p:nvSpPr>
        <p:spPr>
          <a:xfrm>
            <a:off x="932688" y="3840480"/>
            <a:ext cx="1554480" cy="219456"/>
          </a:xfrm>
          <a:prstGeom prst="rect">
            <a:avLst/>
          </a:prstGeom>
          <a:noFill/>
          <a:ln/>
        </p:spPr>
        <p:txBody>
          <a:bodyPr wrap="square" lIns="0" tIns="0" rIns="0" bIns="0" rtlCol="0" anchor="ctr">
            <a:noAutofit/>
          </a:bodyPr>
          <a:lstStyle/>
          <a:p>
            <a:pPr algn="r"/>
            <a:r>
              <a:rPr lang="fr-FR" sz="1100" dirty="0"/>
              <a:t>Les ventes d’il y a un an </a:t>
            </a:r>
            <a:endParaRPr lang="en-US" sz="1100" dirty="0"/>
          </a:p>
        </p:txBody>
      </p:sp>
      <p:sp>
        <p:nvSpPr>
          <p:cNvPr id="19" name="Shape 17"/>
          <p:cNvSpPr/>
          <p:nvPr/>
        </p:nvSpPr>
        <p:spPr>
          <a:xfrm>
            <a:off x="2651760" y="3822192"/>
            <a:ext cx="4389120" cy="292608"/>
          </a:xfrm>
          <a:prstGeom prst="roundRect">
            <a:avLst>
              <a:gd name="adj" fmla="val 12500"/>
            </a:avLst>
          </a:prstGeom>
          <a:solidFill>
            <a:srgbClr val="EEF2F7"/>
          </a:solidFill>
          <a:ln w="12700">
            <a:solidFill>
              <a:srgbClr val="EEF2F7"/>
            </a:solidFill>
            <a:prstDash val="solid"/>
          </a:ln>
        </p:spPr>
        <p:txBody>
          <a:bodyPr/>
          <a:lstStyle/>
          <a:p>
            <a:endParaRPr lang="fr-FR"/>
          </a:p>
        </p:txBody>
      </p:sp>
      <p:sp>
        <p:nvSpPr>
          <p:cNvPr id="20" name="Shape 18"/>
          <p:cNvSpPr/>
          <p:nvPr/>
        </p:nvSpPr>
        <p:spPr>
          <a:xfrm>
            <a:off x="2651760" y="3822192"/>
            <a:ext cx="55596" cy="292608"/>
          </a:xfrm>
          <a:prstGeom prst="roundRect">
            <a:avLst>
              <a:gd name="adj" fmla="val 65789"/>
            </a:avLst>
          </a:prstGeom>
          <a:solidFill>
            <a:srgbClr val="2F9E6D"/>
          </a:solidFill>
          <a:ln w="12700">
            <a:solidFill>
              <a:srgbClr val="2F9E6D"/>
            </a:solidFill>
            <a:prstDash val="solid"/>
          </a:ln>
        </p:spPr>
        <p:txBody>
          <a:bodyPr/>
          <a:lstStyle/>
          <a:p>
            <a:endParaRPr lang="fr-FR"/>
          </a:p>
        </p:txBody>
      </p:sp>
      <p:sp>
        <p:nvSpPr>
          <p:cNvPr id="21" name="Text 19"/>
          <p:cNvSpPr/>
          <p:nvPr/>
        </p:nvSpPr>
        <p:spPr>
          <a:xfrm>
            <a:off x="7114032" y="3840480"/>
            <a:ext cx="347472" cy="201168"/>
          </a:xfrm>
          <a:prstGeom prst="rect">
            <a:avLst/>
          </a:prstGeom>
          <a:noFill/>
          <a:ln/>
        </p:spPr>
        <p:txBody>
          <a:bodyPr wrap="square" lIns="0" tIns="0" rIns="0" bIns="0" rtlCol="0" anchor="ctr"/>
          <a:lstStyle/>
          <a:p>
            <a:pPr marL="0" indent="0" algn="r">
              <a:buNone/>
            </a:pPr>
            <a:r>
              <a:rPr lang="en-US" sz="970" b="1" dirty="0">
                <a:solidFill>
                  <a:srgbClr val="0B1F3A"/>
                </a:solidFill>
                <a:latin typeface="Aptos" pitchFamily="34" charset="0"/>
                <a:ea typeface="Aptos" pitchFamily="34" charset="-122"/>
                <a:cs typeface="Aptos" pitchFamily="34" charset="-120"/>
              </a:rPr>
              <a:t>1,14 %</a:t>
            </a:r>
            <a:endParaRPr lang="en-US" sz="970" dirty="0"/>
          </a:p>
        </p:txBody>
      </p:sp>
      <p:sp>
        <p:nvSpPr>
          <p:cNvPr id="22" name="Text 20"/>
          <p:cNvSpPr/>
          <p:nvPr/>
        </p:nvSpPr>
        <p:spPr>
          <a:xfrm>
            <a:off x="932688" y="4398264"/>
            <a:ext cx="1554480" cy="219456"/>
          </a:xfrm>
          <a:prstGeom prst="rect">
            <a:avLst/>
          </a:prstGeom>
          <a:noFill/>
          <a:ln/>
        </p:spPr>
        <p:txBody>
          <a:bodyPr wrap="square" lIns="0" tIns="0" rIns="0" bIns="0" rtlCol="0" anchor="ctr">
            <a:normAutofit/>
          </a:bodyPr>
          <a:lstStyle/>
          <a:p>
            <a:pPr algn="r"/>
            <a:r>
              <a:rPr lang="fr-FR" sz="1100" dirty="0"/>
              <a:t>Le mois d’octobre </a:t>
            </a:r>
            <a:endParaRPr lang="en-US" sz="1080" dirty="0"/>
          </a:p>
        </p:txBody>
      </p:sp>
      <p:sp>
        <p:nvSpPr>
          <p:cNvPr id="23" name="Shape 21"/>
          <p:cNvSpPr/>
          <p:nvPr/>
        </p:nvSpPr>
        <p:spPr>
          <a:xfrm>
            <a:off x="2651760" y="4379976"/>
            <a:ext cx="4389120" cy="292608"/>
          </a:xfrm>
          <a:prstGeom prst="roundRect">
            <a:avLst>
              <a:gd name="adj" fmla="val 12500"/>
            </a:avLst>
          </a:prstGeom>
          <a:solidFill>
            <a:srgbClr val="EEF2F7"/>
          </a:solidFill>
          <a:ln w="12700">
            <a:solidFill>
              <a:srgbClr val="EEF2F7"/>
            </a:solidFill>
            <a:prstDash val="solid"/>
          </a:ln>
        </p:spPr>
        <p:txBody>
          <a:bodyPr/>
          <a:lstStyle/>
          <a:p>
            <a:endParaRPr lang="fr-FR"/>
          </a:p>
        </p:txBody>
      </p:sp>
      <p:sp>
        <p:nvSpPr>
          <p:cNvPr id="24" name="Shape 22"/>
          <p:cNvSpPr/>
          <p:nvPr/>
        </p:nvSpPr>
        <p:spPr>
          <a:xfrm>
            <a:off x="2651760" y="4379976"/>
            <a:ext cx="51206" cy="292608"/>
          </a:xfrm>
          <a:prstGeom prst="roundRect">
            <a:avLst>
              <a:gd name="adj" fmla="val 71429"/>
            </a:avLst>
          </a:prstGeom>
          <a:solidFill>
            <a:srgbClr val="F59E0B"/>
          </a:solidFill>
          <a:ln w="12700">
            <a:solidFill>
              <a:srgbClr val="F59E0B"/>
            </a:solidFill>
            <a:prstDash val="solid"/>
          </a:ln>
        </p:spPr>
        <p:txBody>
          <a:bodyPr/>
          <a:lstStyle/>
          <a:p>
            <a:endParaRPr lang="fr-FR"/>
          </a:p>
        </p:txBody>
      </p:sp>
      <p:sp>
        <p:nvSpPr>
          <p:cNvPr id="25" name="Text 23"/>
          <p:cNvSpPr/>
          <p:nvPr/>
        </p:nvSpPr>
        <p:spPr>
          <a:xfrm>
            <a:off x="7114032" y="4398264"/>
            <a:ext cx="347472" cy="201168"/>
          </a:xfrm>
          <a:prstGeom prst="rect">
            <a:avLst/>
          </a:prstGeom>
          <a:noFill/>
          <a:ln/>
        </p:spPr>
        <p:txBody>
          <a:bodyPr wrap="square" lIns="0" tIns="0" rIns="0" bIns="0" rtlCol="0" anchor="ctr"/>
          <a:lstStyle/>
          <a:p>
            <a:pPr marL="0" indent="0" algn="r">
              <a:buNone/>
            </a:pPr>
            <a:r>
              <a:rPr lang="en-US" sz="970" b="1" dirty="0">
                <a:solidFill>
                  <a:srgbClr val="0B1F3A"/>
                </a:solidFill>
                <a:latin typeface="Aptos" pitchFamily="34" charset="0"/>
                <a:ea typeface="Aptos" pitchFamily="34" charset="-122"/>
                <a:cs typeface="Aptos" pitchFamily="34" charset="-120"/>
              </a:rPr>
              <a:t>1,05 %</a:t>
            </a:r>
            <a:endParaRPr lang="en-US" sz="970" dirty="0"/>
          </a:p>
        </p:txBody>
      </p:sp>
      <p:sp>
        <p:nvSpPr>
          <p:cNvPr id="26" name="Text 24"/>
          <p:cNvSpPr/>
          <p:nvPr/>
        </p:nvSpPr>
        <p:spPr>
          <a:xfrm>
            <a:off x="932688" y="4956048"/>
            <a:ext cx="1554480" cy="219456"/>
          </a:xfrm>
          <a:prstGeom prst="rect">
            <a:avLst/>
          </a:prstGeom>
          <a:noFill/>
          <a:ln/>
        </p:spPr>
        <p:txBody>
          <a:bodyPr wrap="square" lIns="0" tIns="0" rIns="0" bIns="0" rtlCol="0" anchor="ctr">
            <a:normAutofit/>
          </a:bodyPr>
          <a:lstStyle/>
          <a:p>
            <a:pPr marL="0" indent="0" algn="r">
              <a:buNone/>
            </a:pPr>
            <a:r>
              <a:rPr lang="en-US" sz="1080" dirty="0" err="1">
                <a:solidFill>
                  <a:srgbClr val="172234"/>
                </a:solidFill>
                <a:latin typeface="Aptos" pitchFamily="34" charset="0"/>
                <a:ea typeface="Aptos" pitchFamily="34" charset="-122"/>
                <a:cs typeface="Aptos" pitchFamily="34" charset="-120"/>
              </a:rPr>
              <a:t>Précipitation</a:t>
            </a:r>
            <a:endParaRPr lang="en-US" sz="1080" dirty="0"/>
          </a:p>
        </p:txBody>
      </p:sp>
      <p:sp>
        <p:nvSpPr>
          <p:cNvPr id="27" name="Shape 25"/>
          <p:cNvSpPr/>
          <p:nvPr/>
        </p:nvSpPr>
        <p:spPr>
          <a:xfrm>
            <a:off x="2651760" y="4937760"/>
            <a:ext cx="4389120" cy="292608"/>
          </a:xfrm>
          <a:prstGeom prst="roundRect">
            <a:avLst>
              <a:gd name="adj" fmla="val 12500"/>
            </a:avLst>
          </a:prstGeom>
          <a:solidFill>
            <a:srgbClr val="EEF2F7"/>
          </a:solidFill>
          <a:ln w="12700">
            <a:solidFill>
              <a:srgbClr val="EEF2F7"/>
            </a:solidFill>
            <a:prstDash val="solid"/>
          </a:ln>
        </p:spPr>
        <p:txBody>
          <a:bodyPr/>
          <a:lstStyle/>
          <a:p>
            <a:endParaRPr lang="fr-FR"/>
          </a:p>
        </p:txBody>
      </p:sp>
      <p:sp>
        <p:nvSpPr>
          <p:cNvPr id="28" name="Shape 26"/>
          <p:cNvSpPr/>
          <p:nvPr/>
        </p:nvSpPr>
        <p:spPr>
          <a:xfrm>
            <a:off x="2651760" y="4937760"/>
            <a:ext cx="45720" cy="292608"/>
          </a:xfrm>
          <a:prstGeom prst="roundRect">
            <a:avLst>
              <a:gd name="adj" fmla="val 80000"/>
            </a:avLst>
          </a:prstGeom>
          <a:solidFill>
            <a:srgbClr val="3F7FC4"/>
          </a:solidFill>
          <a:ln w="12700">
            <a:solidFill>
              <a:srgbClr val="3F7FC4"/>
            </a:solidFill>
            <a:prstDash val="solid"/>
          </a:ln>
        </p:spPr>
        <p:txBody>
          <a:bodyPr/>
          <a:lstStyle/>
          <a:p>
            <a:endParaRPr lang="fr-FR"/>
          </a:p>
        </p:txBody>
      </p:sp>
      <p:sp>
        <p:nvSpPr>
          <p:cNvPr id="29" name="Text 27"/>
          <p:cNvSpPr/>
          <p:nvPr/>
        </p:nvSpPr>
        <p:spPr>
          <a:xfrm>
            <a:off x="7114032" y="4956048"/>
            <a:ext cx="347472" cy="201168"/>
          </a:xfrm>
          <a:prstGeom prst="rect">
            <a:avLst/>
          </a:prstGeom>
          <a:noFill/>
          <a:ln/>
        </p:spPr>
        <p:txBody>
          <a:bodyPr wrap="square" lIns="0" tIns="0" rIns="0" bIns="0" rtlCol="0" anchor="ctr"/>
          <a:lstStyle/>
          <a:p>
            <a:pPr marL="0" indent="0" algn="r">
              <a:buNone/>
            </a:pPr>
            <a:r>
              <a:rPr lang="en-US" sz="970" b="1" dirty="0">
                <a:solidFill>
                  <a:srgbClr val="0B1F3A"/>
                </a:solidFill>
                <a:latin typeface="Aptos" pitchFamily="34" charset="0"/>
                <a:ea typeface="Aptos" pitchFamily="34" charset="-122"/>
                <a:cs typeface="Aptos" pitchFamily="34" charset="-120"/>
              </a:rPr>
              <a:t>0,93 %</a:t>
            </a:r>
            <a:endParaRPr lang="en-US" sz="970" dirty="0"/>
          </a:p>
        </p:txBody>
      </p:sp>
      <p:sp>
        <p:nvSpPr>
          <p:cNvPr id="30" name="Shape 28"/>
          <p:cNvSpPr/>
          <p:nvPr/>
        </p:nvSpPr>
        <p:spPr>
          <a:xfrm>
            <a:off x="7845552" y="1325880"/>
            <a:ext cx="3675888" cy="1435608"/>
          </a:xfrm>
          <a:prstGeom prst="roundRect">
            <a:avLst>
              <a:gd name="adj" fmla="val 5096"/>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31" name="Shape 29"/>
          <p:cNvSpPr/>
          <p:nvPr/>
        </p:nvSpPr>
        <p:spPr>
          <a:xfrm>
            <a:off x="7845552" y="1325880"/>
            <a:ext cx="64008" cy="1435608"/>
          </a:xfrm>
          <a:prstGeom prst="rect">
            <a:avLst/>
          </a:prstGeom>
          <a:solidFill>
            <a:srgbClr val="00A8A8"/>
          </a:solidFill>
          <a:ln w="12700">
            <a:solidFill>
              <a:srgbClr val="00A8A8"/>
            </a:solidFill>
            <a:prstDash val="solid"/>
          </a:ln>
        </p:spPr>
        <p:txBody>
          <a:bodyPr/>
          <a:lstStyle/>
          <a:p>
            <a:endParaRPr lang="fr-FR"/>
          </a:p>
        </p:txBody>
      </p:sp>
      <p:sp>
        <p:nvSpPr>
          <p:cNvPr id="32" name="Shape 30"/>
          <p:cNvSpPr/>
          <p:nvPr/>
        </p:nvSpPr>
        <p:spPr>
          <a:xfrm>
            <a:off x="8046720" y="1490472"/>
            <a:ext cx="1115568" cy="292608"/>
          </a:xfrm>
          <a:prstGeom prst="roundRect">
            <a:avLst>
              <a:gd name="adj" fmla="val 25000"/>
            </a:avLst>
          </a:prstGeom>
          <a:solidFill>
            <a:srgbClr val="DDF4F3"/>
          </a:solidFill>
          <a:ln w="12700">
            <a:solidFill>
              <a:srgbClr val="DDF4F3"/>
            </a:solidFill>
            <a:prstDash val="solid"/>
          </a:ln>
        </p:spPr>
        <p:txBody>
          <a:bodyPr/>
          <a:lstStyle/>
          <a:p>
            <a:endParaRPr lang="fr-FR"/>
          </a:p>
        </p:txBody>
      </p:sp>
      <p:sp>
        <p:nvSpPr>
          <p:cNvPr id="33" name="Text 31"/>
          <p:cNvSpPr/>
          <p:nvPr/>
        </p:nvSpPr>
        <p:spPr>
          <a:xfrm>
            <a:off x="8138160" y="1559052"/>
            <a:ext cx="932688" cy="146304"/>
          </a:xfrm>
          <a:prstGeom prst="rect">
            <a:avLst/>
          </a:prstGeom>
          <a:noFill/>
          <a:ln/>
        </p:spPr>
        <p:txBody>
          <a:bodyPr wrap="square" lIns="0" tIns="0" rIns="0" bIns="0" rtlCol="0" anchor="ctr">
            <a:normAutofit/>
          </a:bodyPr>
          <a:lstStyle/>
          <a:p>
            <a:pPr marL="0" indent="0" algn="ctr">
              <a:buNone/>
            </a:pPr>
            <a:r>
              <a:rPr lang="en-US" sz="850" b="1" dirty="0">
                <a:solidFill>
                  <a:srgbClr val="00A8A8"/>
                </a:solidFill>
                <a:latin typeface="Aptos" pitchFamily="34" charset="0"/>
                <a:ea typeface="Aptos" pitchFamily="34" charset="-122"/>
                <a:cs typeface="Aptos" pitchFamily="34" charset="-120"/>
              </a:rPr>
              <a:t>HISTORIQUE</a:t>
            </a:r>
            <a:endParaRPr lang="en-US" sz="850" dirty="0"/>
          </a:p>
        </p:txBody>
      </p:sp>
      <p:sp>
        <p:nvSpPr>
          <p:cNvPr id="34" name="Text 32"/>
          <p:cNvSpPr/>
          <p:nvPr/>
        </p:nvSpPr>
        <p:spPr>
          <a:xfrm>
            <a:off x="8046720" y="1837944"/>
            <a:ext cx="3273552" cy="310896"/>
          </a:xfrm>
          <a:prstGeom prst="rect">
            <a:avLst/>
          </a:prstGeom>
          <a:noFill/>
          <a:ln/>
        </p:spPr>
        <p:txBody>
          <a:bodyPr wrap="square" lIns="0" tIns="0" rIns="0" bIns="0" rtlCol="0" anchor="ctr">
            <a:normAutofit fontScale="85000" lnSpcReduction="10000"/>
          </a:bodyPr>
          <a:lstStyle/>
          <a:p>
            <a:r>
              <a:rPr lang="fr-FR" sz="1400" b="1" dirty="0"/>
              <a:t>L’historique des ventes est le plus important</a:t>
            </a:r>
            <a:endParaRPr lang="en-US" sz="1350" b="1" dirty="0"/>
          </a:p>
        </p:txBody>
      </p:sp>
      <p:sp>
        <p:nvSpPr>
          <p:cNvPr id="35" name="Text 33"/>
          <p:cNvSpPr/>
          <p:nvPr/>
        </p:nvSpPr>
        <p:spPr>
          <a:xfrm>
            <a:off x="8046720" y="2221992"/>
            <a:ext cx="3273552" cy="384048"/>
          </a:xfrm>
          <a:prstGeom prst="rect">
            <a:avLst/>
          </a:prstGeom>
          <a:noFill/>
          <a:ln/>
        </p:spPr>
        <p:txBody>
          <a:bodyPr wrap="square" lIns="0" tIns="0" rIns="0" bIns="0" rtlCol="0" anchor="t">
            <a:normAutofit/>
          </a:bodyPr>
          <a:lstStyle/>
          <a:p>
            <a:r>
              <a:rPr lang="fr-FR" sz="1100" dirty="0"/>
              <a:t>Les ventes du mois précédent représentent environ 88,5 % de l’importance du modèle.</a:t>
            </a:r>
            <a:endParaRPr lang="en-US" sz="1060" dirty="0"/>
          </a:p>
        </p:txBody>
      </p:sp>
      <p:sp>
        <p:nvSpPr>
          <p:cNvPr id="36" name="Shape 34"/>
          <p:cNvSpPr/>
          <p:nvPr/>
        </p:nvSpPr>
        <p:spPr>
          <a:xfrm>
            <a:off x="7845552" y="2944368"/>
            <a:ext cx="3675888" cy="1316736"/>
          </a:xfrm>
          <a:prstGeom prst="roundRect">
            <a:avLst>
              <a:gd name="adj" fmla="val 5556"/>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37" name="Shape 35"/>
          <p:cNvSpPr/>
          <p:nvPr/>
        </p:nvSpPr>
        <p:spPr>
          <a:xfrm>
            <a:off x="7845552" y="2944368"/>
            <a:ext cx="64008" cy="1316736"/>
          </a:xfrm>
          <a:prstGeom prst="rect">
            <a:avLst/>
          </a:prstGeom>
          <a:solidFill>
            <a:srgbClr val="3F7FC4"/>
          </a:solidFill>
          <a:ln w="12700">
            <a:solidFill>
              <a:srgbClr val="3F7FC4"/>
            </a:solidFill>
            <a:prstDash val="solid"/>
          </a:ln>
        </p:spPr>
        <p:txBody>
          <a:bodyPr/>
          <a:lstStyle/>
          <a:p>
            <a:endParaRPr lang="fr-FR"/>
          </a:p>
        </p:txBody>
      </p:sp>
      <p:sp>
        <p:nvSpPr>
          <p:cNvPr id="38" name="Shape 36"/>
          <p:cNvSpPr/>
          <p:nvPr/>
        </p:nvSpPr>
        <p:spPr>
          <a:xfrm>
            <a:off x="8046720" y="3108960"/>
            <a:ext cx="868680" cy="292608"/>
          </a:xfrm>
          <a:prstGeom prst="roundRect">
            <a:avLst>
              <a:gd name="adj" fmla="val 25000"/>
            </a:avLst>
          </a:prstGeom>
          <a:solidFill>
            <a:srgbClr val="DDF4F3"/>
          </a:solidFill>
          <a:ln w="12700">
            <a:solidFill>
              <a:srgbClr val="DDF4F3"/>
            </a:solidFill>
            <a:prstDash val="solid"/>
          </a:ln>
        </p:spPr>
        <p:txBody>
          <a:bodyPr/>
          <a:lstStyle/>
          <a:p>
            <a:endParaRPr lang="fr-FR"/>
          </a:p>
        </p:txBody>
      </p:sp>
      <p:sp>
        <p:nvSpPr>
          <p:cNvPr id="39" name="Text 37"/>
          <p:cNvSpPr/>
          <p:nvPr/>
        </p:nvSpPr>
        <p:spPr>
          <a:xfrm>
            <a:off x="8138160" y="3177540"/>
            <a:ext cx="685800" cy="146304"/>
          </a:xfrm>
          <a:prstGeom prst="rect">
            <a:avLst/>
          </a:prstGeom>
          <a:noFill/>
          <a:ln/>
        </p:spPr>
        <p:txBody>
          <a:bodyPr wrap="square" lIns="0" tIns="0" rIns="0" bIns="0" rtlCol="0" anchor="ctr">
            <a:normAutofit/>
          </a:bodyPr>
          <a:lstStyle/>
          <a:p>
            <a:pPr marL="0" indent="0" algn="ctr">
              <a:buNone/>
            </a:pPr>
            <a:r>
              <a:rPr lang="en-US" sz="850" b="1" dirty="0">
                <a:solidFill>
                  <a:srgbClr val="3F7FC4"/>
                </a:solidFill>
                <a:latin typeface="Aptos" pitchFamily="34" charset="0"/>
                <a:ea typeface="Aptos" pitchFamily="34" charset="-122"/>
                <a:cs typeface="Aptos" pitchFamily="34" charset="-120"/>
              </a:rPr>
              <a:t>EXTERNE</a:t>
            </a:r>
            <a:endParaRPr lang="en-US" sz="850" dirty="0"/>
          </a:p>
        </p:txBody>
      </p:sp>
      <p:sp>
        <p:nvSpPr>
          <p:cNvPr id="40" name="Text 38"/>
          <p:cNvSpPr/>
          <p:nvPr/>
        </p:nvSpPr>
        <p:spPr>
          <a:xfrm>
            <a:off x="8046720" y="3456432"/>
            <a:ext cx="3486912" cy="292608"/>
          </a:xfrm>
          <a:prstGeom prst="rect">
            <a:avLst/>
          </a:prstGeom>
          <a:noFill/>
          <a:ln/>
        </p:spPr>
        <p:txBody>
          <a:bodyPr wrap="square" lIns="0" tIns="0" rIns="0" bIns="0" rtlCol="0" anchor="ctr">
            <a:normAutofit fontScale="77500" lnSpcReduction="20000"/>
          </a:bodyPr>
          <a:lstStyle/>
          <a:p>
            <a:r>
              <a:rPr lang="fr-FR" sz="1400" b="1" dirty="0"/>
              <a:t>Les données extérieures apportent un complément</a:t>
            </a:r>
            <a:endParaRPr lang="en-US" sz="1350" b="1" dirty="0"/>
          </a:p>
        </p:txBody>
      </p:sp>
      <p:sp>
        <p:nvSpPr>
          <p:cNvPr id="41" name="Text 39"/>
          <p:cNvSpPr/>
          <p:nvPr/>
        </p:nvSpPr>
        <p:spPr>
          <a:xfrm>
            <a:off x="8046720" y="3840480"/>
            <a:ext cx="3273552" cy="265176"/>
          </a:xfrm>
          <a:prstGeom prst="rect">
            <a:avLst/>
          </a:prstGeom>
          <a:noFill/>
          <a:ln/>
        </p:spPr>
        <p:txBody>
          <a:bodyPr wrap="square" lIns="0" tIns="0" rIns="0" bIns="0" rtlCol="0" anchor="t">
            <a:normAutofit fontScale="92500" lnSpcReduction="20000"/>
          </a:bodyPr>
          <a:lstStyle/>
          <a:p>
            <a:r>
              <a:rPr lang="fr-FR" sz="1100" dirty="0"/>
              <a:t>La météo, le prix du soja et les autres données économiques ont une influence plus faible.</a:t>
            </a:r>
            <a:endParaRPr lang="en-US" sz="1060" dirty="0"/>
          </a:p>
        </p:txBody>
      </p:sp>
      <p:sp>
        <p:nvSpPr>
          <p:cNvPr id="48" name="Text 46"/>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49"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PRÉVISION FUTURE</a:t>
            </a:r>
            <a:endParaRPr lang="en-US" sz="950" dirty="0"/>
          </a:p>
        </p:txBody>
      </p:sp>
      <p:sp>
        <p:nvSpPr>
          <p:cNvPr id="3" name="Text 1"/>
          <p:cNvSpPr/>
          <p:nvPr/>
        </p:nvSpPr>
        <p:spPr>
          <a:xfrm>
            <a:off x="621792" y="612648"/>
            <a:ext cx="10744200" cy="475488"/>
          </a:xfrm>
          <a:prstGeom prst="rect">
            <a:avLst/>
          </a:prstGeom>
          <a:noFill/>
          <a:ln/>
        </p:spPr>
        <p:txBody>
          <a:bodyPr wrap="square" lIns="0" tIns="0" rIns="0" bIns="0" rtlCol="0" anchor="ctr">
            <a:normAutofit/>
          </a:bodyP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Passage de la prévision à la recommandation de stock</a:t>
            </a:r>
            <a:endParaRPr lang="en-US" sz="2600" dirty="0"/>
          </a:p>
        </p:txBody>
      </p:sp>
      <p:sp>
        <p:nvSpPr>
          <p:cNvPr id="4" name="Shape 2"/>
          <p:cNvSpPr/>
          <p:nvPr/>
        </p:nvSpPr>
        <p:spPr>
          <a:xfrm>
            <a:off x="658368" y="1298448"/>
            <a:ext cx="4919472" cy="4462272"/>
          </a:xfrm>
          <a:prstGeom prst="roundRect">
            <a:avLst>
              <a:gd name="adj" fmla="val 1434"/>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dirty="0"/>
          </a:p>
        </p:txBody>
      </p:sp>
      <p:sp>
        <p:nvSpPr>
          <p:cNvPr id="5" name="Text 3"/>
          <p:cNvSpPr/>
          <p:nvPr/>
        </p:nvSpPr>
        <p:spPr>
          <a:xfrm>
            <a:off x="932688" y="1627632"/>
            <a:ext cx="3337560" cy="274320"/>
          </a:xfrm>
          <a:prstGeom prst="rect">
            <a:avLst/>
          </a:prstGeom>
          <a:noFill/>
          <a:ln/>
        </p:spPr>
        <p:txBody>
          <a:bodyPr wrap="square" lIns="0" tIns="0" rIns="0" bIns="0" rtlCol="0" anchor="ctr"/>
          <a:lstStyle/>
          <a:p>
            <a:r>
              <a:rPr lang="fr-FR" sz="1600" b="1" dirty="0"/>
              <a:t>Prévisions des ventes pour 2017</a:t>
            </a:r>
            <a:endParaRPr lang="en-US" sz="1520" b="1" dirty="0"/>
          </a:p>
        </p:txBody>
      </p:sp>
      <p:sp>
        <p:nvSpPr>
          <p:cNvPr id="6" name="Shape 4"/>
          <p:cNvSpPr/>
          <p:nvPr/>
        </p:nvSpPr>
        <p:spPr>
          <a:xfrm>
            <a:off x="932688" y="2103120"/>
            <a:ext cx="438912" cy="438912"/>
          </a:xfrm>
          <a:prstGeom prst="ellipse">
            <a:avLst/>
          </a:prstGeom>
          <a:solidFill>
            <a:srgbClr val="3F7FC4"/>
          </a:solidFill>
          <a:ln w="12700">
            <a:solidFill>
              <a:srgbClr val="3F7FC4"/>
            </a:solidFill>
            <a:prstDash val="solid"/>
          </a:ln>
        </p:spPr>
        <p:txBody>
          <a:bodyPr/>
          <a:lstStyle/>
          <a:p>
            <a:endParaRPr lang="fr-FR"/>
          </a:p>
        </p:txBody>
      </p:sp>
      <p:sp>
        <p:nvSpPr>
          <p:cNvPr id="7" name="Text 5"/>
          <p:cNvSpPr/>
          <p:nvPr/>
        </p:nvSpPr>
        <p:spPr>
          <a:xfrm>
            <a:off x="932688" y="2235708"/>
            <a:ext cx="438912"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1</a:t>
            </a:r>
            <a:endParaRPr lang="en-US" sz="950" dirty="0"/>
          </a:p>
        </p:txBody>
      </p:sp>
      <p:sp>
        <p:nvSpPr>
          <p:cNvPr id="8" name="Text 6"/>
          <p:cNvSpPr/>
          <p:nvPr/>
        </p:nvSpPr>
        <p:spPr>
          <a:xfrm>
            <a:off x="1563624" y="2185416"/>
            <a:ext cx="1115568" cy="228600"/>
          </a:xfrm>
          <a:prstGeom prst="rect">
            <a:avLst/>
          </a:prstGeom>
          <a:noFill/>
          <a:ln/>
        </p:spPr>
        <p:txBody>
          <a:bodyPr wrap="square" lIns="0" tIns="0" rIns="0" bIns="0" rtlCol="0" anchor="ctr"/>
          <a:lstStyle/>
          <a:p>
            <a:r>
              <a:rPr lang="fr-FR" sz="1400" b="1" dirty="0"/>
              <a:t>Entraîner le modèle final</a:t>
            </a:r>
            <a:endParaRPr lang="en-US" sz="1220" b="1" dirty="0"/>
          </a:p>
        </p:txBody>
      </p:sp>
      <p:sp>
        <p:nvSpPr>
          <p:cNvPr id="9" name="Text 7"/>
          <p:cNvSpPr/>
          <p:nvPr/>
        </p:nvSpPr>
        <p:spPr>
          <a:xfrm>
            <a:off x="2901663" y="2084832"/>
            <a:ext cx="2331720" cy="420624"/>
          </a:xfrm>
          <a:prstGeom prst="rect">
            <a:avLst/>
          </a:prstGeom>
          <a:noFill/>
          <a:ln/>
        </p:spPr>
        <p:txBody>
          <a:bodyPr wrap="square" lIns="0" tIns="0" rIns="0" bIns="0" rtlCol="0" anchor="ctr">
            <a:normAutofit lnSpcReduction="10000"/>
          </a:bodyPr>
          <a:lstStyle/>
          <a:p>
            <a:r>
              <a:rPr lang="fr-FR" sz="1000" dirty="0"/>
              <a:t>J’utilise toutes les données disponibles jusqu’à fin 2016 pour entraîner une dernière fois le meilleur modèle.</a:t>
            </a:r>
            <a:endParaRPr lang="en-US" sz="980" dirty="0"/>
          </a:p>
        </p:txBody>
      </p:sp>
      <p:sp>
        <p:nvSpPr>
          <p:cNvPr id="10" name="Shape 8"/>
          <p:cNvSpPr/>
          <p:nvPr/>
        </p:nvSpPr>
        <p:spPr>
          <a:xfrm>
            <a:off x="932688" y="2907792"/>
            <a:ext cx="438912" cy="438912"/>
          </a:xfrm>
          <a:prstGeom prst="ellipse">
            <a:avLst/>
          </a:prstGeom>
          <a:solidFill>
            <a:srgbClr val="00A8A8"/>
          </a:solidFill>
          <a:ln w="12700">
            <a:solidFill>
              <a:srgbClr val="00A8A8"/>
            </a:solidFill>
            <a:prstDash val="solid"/>
          </a:ln>
        </p:spPr>
        <p:txBody>
          <a:bodyPr/>
          <a:lstStyle/>
          <a:p>
            <a:endParaRPr lang="fr-FR"/>
          </a:p>
        </p:txBody>
      </p:sp>
      <p:sp>
        <p:nvSpPr>
          <p:cNvPr id="11" name="Text 9"/>
          <p:cNvSpPr/>
          <p:nvPr/>
        </p:nvSpPr>
        <p:spPr>
          <a:xfrm>
            <a:off x="932688" y="3040380"/>
            <a:ext cx="438912"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2</a:t>
            </a:r>
            <a:endParaRPr lang="en-US" sz="950" dirty="0"/>
          </a:p>
        </p:txBody>
      </p:sp>
      <p:sp>
        <p:nvSpPr>
          <p:cNvPr id="12" name="Text 10"/>
          <p:cNvSpPr/>
          <p:nvPr/>
        </p:nvSpPr>
        <p:spPr>
          <a:xfrm>
            <a:off x="1554480" y="3031552"/>
            <a:ext cx="1115568" cy="228600"/>
          </a:xfrm>
          <a:prstGeom prst="rect">
            <a:avLst/>
          </a:prstGeom>
          <a:noFill/>
          <a:ln/>
        </p:spPr>
        <p:txBody>
          <a:bodyPr wrap="square" lIns="0" tIns="0" rIns="0" bIns="0" rtlCol="0" anchor="ctr"/>
          <a:lstStyle/>
          <a:p>
            <a:r>
              <a:rPr lang="fr-FR" sz="1400" b="1" dirty="0"/>
              <a:t>Prévoir le mois suivant</a:t>
            </a:r>
            <a:endParaRPr lang="en-US" sz="1220" b="1" dirty="0"/>
          </a:p>
        </p:txBody>
      </p:sp>
      <p:sp>
        <p:nvSpPr>
          <p:cNvPr id="13" name="Text 11"/>
          <p:cNvSpPr/>
          <p:nvPr/>
        </p:nvSpPr>
        <p:spPr>
          <a:xfrm>
            <a:off x="2889504" y="2939485"/>
            <a:ext cx="2331720" cy="420624"/>
          </a:xfrm>
          <a:prstGeom prst="rect">
            <a:avLst/>
          </a:prstGeom>
          <a:noFill/>
          <a:ln/>
        </p:spPr>
        <p:txBody>
          <a:bodyPr wrap="square" lIns="0" tIns="0" rIns="0" bIns="0" rtlCol="0" anchor="ctr">
            <a:normAutofit fontScale="92500"/>
          </a:bodyPr>
          <a:lstStyle/>
          <a:p>
            <a:r>
              <a:rPr lang="fr-FR" sz="1000" dirty="0"/>
              <a:t>Le modèle commence par prévoir les ventes de janvier 2017 à partir des ventes passées et des dernières informations disponibles.</a:t>
            </a:r>
            <a:endParaRPr lang="en-US" sz="980" dirty="0"/>
          </a:p>
        </p:txBody>
      </p:sp>
      <p:sp>
        <p:nvSpPr>
          <p:cNvPr id="14" name="Shape 12"/>
          <p:cNvSpPr/>
          <p:nvPr/>
        </p:nvSpPr>
        <p:spPr>
          <a:xfrm>
            <a:off x="932688" y="3712464"/>
            <a:ext cx="438912" cy="438912"/>
          </a:xfrm>
          <a:prstGeom prst="ellipse">
            <a:avLst/>
          </a:prstGeom>
          <a:solidFill>
            <a:srgbClr val="2F9E6D"/>
          </a:solidFill>
          <a:ln w="12700">
            <a:solidFill>
              <a:srgbClr val="2F9E6D"/>
            </a:solidFill>
            <a:prstDash val="solid"/>
          </a:ln>
        </p:spPr>
        <p:txBody>
          <a:bodyPr/>
          <a:lstStyle/>
          <a:p>
            <a:endParaRPr lang="fr-FR"/>
          </a:p>
        </p:txBody>
      </p:sp>
      <p:sp>
        <p:nvSpPr>
          <p:cNvPr id="15" name="Text 13"/>
          <p:cNvSpPr/>
          <p:nvPr/>
        </p:nvSpPr>
        <p:spPr>
          <a:xfrm>
            <a:off x="932688" y="3845052"/>
            <a:ext cx="438912"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3</a:t>
            </a:r>
            <a:endParaRPr lang="en-US" sz="950" dirty="0"/>
          </a:p>
        </p:txBody>
      </p:sp>
      <p:sp>
        <p:nvSpPr>
          <p:cNvPr id="16" name="Text 14"/>
          <p:cNvSpPr/>
          <p:nvPr/>
        </p:nvSpPr>
        <p:spPr>
          <a:xfrm>
            <a:off x="1554480" y="3694176"/>
            <a:ext cx="1437295" cy="384048"/>
          </a:xfrm>
          <a:prstGeom prst="rect">
            <a:avLst/>
          </a:prstGeom>
          <a:noFill/>
          <a:ln/>
        </p:spPr>
        <p:txBody>
          <a:bodyPr wrap="square" lIns="0" tIns="0" rIns="0" bIns="0" rtlCol="0" anchor="ctr"/>
          <a:lstStyle/>
          <a:p>
            <a:r>
              <a:rPr lang="fr-FR" sz="1400" b="1" dirty="0"/>
              <a:t>Utiliser la prévision précédente</a:t>
            </a:r>
            <a:endParaRPr lang="en-US" sz="1220" b="1" dirty="0"/>
          </a:p>
        </p:txBody>
      </p:sp>
      <p:sp>
        <p:nvSpPr>
          <p:cNvPr id="17" name="Text 15"/>
          <p:cNvSpPr/>
          <p:nvPr/>
        </p:nvSpPr>
        <p:spPr>
          <a:xfrm>
            <a:off x="2889504" y="3694176"/>
            <a:ext cx="2240280" cy="457200"/>
          </a:xfrm>
          <a:prstGeom prst="rect">
            <a:avLst/>
          </a:prstGeom>
          <a:noFill/>
          <a:ln/>
        </p:spPr>
        <p:txBody>
          <a:bodyPr wrap="square" lIns="0" tIns="0" rIns="0" bIns="0" rtlCol="0" anchor="ctr">
            <a:normAutofit fontScale="92500"/>
          </a:bodyPr>
          <a:lstStyle/>
          <a:p>
            <a:r>
              <a:rPr lang="fr-FR" sz="1000" dirty="0"/>
              <a:t>Pour prévoir février, j’utilise la prévision de janvier comme nouvelle information. Puis je fais la même chose pour les mois suivants.</a:t>
            </a:r>
            <a:endParaRPr lang="en-US" sz="980" dirty="0"/>
          </a:p>
        </p:txBody>
      </p:sp>
      <p:sp>
        <p:nvSpPr>
          <p:cNvPr id="18" name="Shape 16"/>
          <p:cNvSpPr/>
          <p:nvPr/>
        </p:nvSpPr>
        <p:spPr>
          <a:xfrm>
            <a:off x="932688" y="4517136"/>
            <a:ext cx="438912" cy="438912"/>
          </a:xfrm>
          <a:prstGeom prst="ellipse">
            <a:avLst/>
          </a:prstGeom>
          <a:solidFill>
            <a:srgbClr val="F59E0B"/>
          </a:solidFill>
          <a:ln w="12700">
            <a:solidFill>
              <a:srgbClr val="F59E0B"/>
            </a:solidFill>
            <a:prstDash val="solid"/>
          </a:ln>
        </p:spPr>
        <p:txBody>
          <a:bodyPr/>
          <a:lstStyle/>
          <a:p>
            <a:endParaRPr lang="fr-FR"/>
          </a:p>
        </p:txBody>
      </p:sp>
      <p:sp>
        <p:nvSpPr>
          <p:cNvPr id="19" name="Text 17"/>
          <p:cNvSpPr/>
          <p:nvPr/>
        </p:nvSpPr>
        <p:spPr>
          <a:xfrm>
            <a:off x="932688" y="4649724"/>
            <a:ext cx="438912" cy="128016"/>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4</a:t>
            </a:r>
            <a:endParaRPr lang="en-US" sz="950" dirty="0"/>
          </a:p>
        </p:txBody>
      </p:sp>
      <p:sp>
        <p:nvSpPr>
          <p:cNvPr id="20" name="Text 18"/>
          <p:cNvSpPr/>
          <p:nvPr/>
        </p:nvSpPr>
        <p:spPr>
          <a:xfrm>
            <a:off x="1554479" y="4498848"/>
            <a:ext cx="1259741" cy="420624"/>
          </a:xfrm>
          <a:prstGeom prst="rect">
            <a:avLst/>
          </a:prstGeom>
          <a:noFill/>
          <a:ln/>
        </p:spPr>
        <p:txBody>
          <a:bodyPr wrap="square" lIns="0" tIns="0" rIns="0" bIns="0" rtlCol="0" anchor="ctr"/>
          <a:lstStyle/>
          <a:p>
            <a:r>
              <a:rPr lang="fr-FR" sz="1400" b="1" dirty="0"/>
              <a:t>Continuer jusqu’à décembre 2017</a:t>
            </a:r>
            <a:endParaRPr lang="en-US" sz="1220" b="1" dirty="0"/>
          </a:p>
        </p:txBody>
      </p:sp>
      <p:sp>
        <p:nvSpPr>
          <p:cNvPr id="21" name="Text 19"/>
          <p:cNvSpPr/>
          <p:nvPr/>
        </p:nvSpPr>
        <p:spPr>
          <a:xfrm>
            <a:off x="2889504" y="4498848"/>
            <a:ext cx="2139696" cy="457200"/>
          </a:xfrm>
          <a:prstGeom prst="rect">
            <a:avLst/>
          </a:prstGeom>
          <a:noFill/>
          <a:ln/>
        </p:spPr>
        <p:txBody>
          <a:bodyPr wrap="square" lIns="0" tIns="0" rIns="0" bIns="0" rtlCol="0" anchor="ctr">
            <a:normAutofit/>
          </a:bodyPr>
          <a:lstStyle/>
          <a:p>
            <a:r>
              <a:rPr lang="fr-FR" sz="1000" dirty="0"/>
              <a:t>Cette méthode est répétée mois après mois pour obtenir les prévisions de toute l’année 2017.</a:t>
            </a:r>
            <a:endParaRPr lang="en-US" sz="980" dirty="0"/>
          </a:p>
        </p:txBody>
      </p:sp>
      <p:sp>
        <p:nvSpPr>
          <p:cNvPr id="22" name="Shape 20"/>
          <p:cNvSpPr/>
          <p:nvPr/>
        </p:nvSpPr>
        <p:spPr>
          <a:xfrm>
            <a:off x="932688" y="5266944"/>
            <a:ext cx="4572000" cy="402336"/>
          </a:xfrm>
          <a:prstGeom prst="roundRect">
            <a:avLst>
              <a:gd name="adj" fmla="val 14706"/>
            </a:avLst>
          </a:prstGeom>
          <a:solidFill>
            <a:srgbClr val="FFF2D6"/>
          </a:solidFill>
          <a:ln w="12700">
            <a:solidFill>
              <a:srgbClr val="FFF2D6"/>
            </a:solidFill>
            <a:prstDash val="solid"/>
          </a:ln>
        </p:spPr>
        <p:txBody>
          <a:bodyPr/>
          <a:lstStyle/>
          <a:p>
            <a:endParaRPr lang="fr-FR"/>
          </a:p>
        </p:txBody>
      </p:sp>
      <p:sp>
        <p:nvSpPr>
          <p:cNvPr id="23" name="Text 21"/>
          <p:cNvSpPr/>
          <p:nvPr/>
        </p:nvSpPr>
        <p:spPr>
          <a:xfrm>
            <a:off x="1097280" y="5196078"/>
            <a:ext cx="4261104" cy="516636"/>
          </a:xfrm>
          <a:prstGeom prst="rect">
            <a:avLst/>
          </a:prstGeom>
          <a:noFill/>
          <a:ln/>
        </p:spPr>
        <p:txBody>
          <a:bodyPr wrap="square" lIns="0" tIns="0" rIns="0" bIns="0" rtlCol="0" anchor="ctr">
            <a:normAutofit/>
          </a:bodyPr>
          <a:lstStyle/>
          <a:p>
            <a:r>
              <a:rPr lang="fr-FR" sz="900" b="1" dirty="0"/>
              <a:t>Hypothèse :</a:t>
            </a:r>
            <a:r>
              <a:rPr lang="fr-FR" sz="900" dirty="0"/>
              <a:t> les dernières données extérieures disponibles fin 2016 sont considérées comme stables pendant 2017.</a:t>
            </a:r>
            <a:endParaRPr lang="en-US" sz="900" dirty="0"/>
          </a:p>
        </p:txBody>
      </p:sp>
      <p:sp>
        <p:nvSpPr>
          <p:cNvPr id="24" name="Shape 22"/>
          <p:cNvSpPr/>
          <p:nvPr/>
        </p:nvSpPr>
        <p:spPr>
          <a:xfrm>
            <a:off x="5797296" y="1298448"/>
            <a:ext cx="5724144" cy="4462272"/>
          </a:xfrm>
          <a:prstGeom prst="roundRect">
            <a:avLst>
              <a:gd name="adj" fmla="val 1434"/>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dirty="0"/>
          </a:p>
        </p:txBody>
      </p:sp>
      <p:sp>
        <p:nvSpPr>
          <p:cNvPr id="25" name="Text 23"/>
          <p:cNvSpPr/>
          <p:nvPr/>
        </p:nvSpPr>
        <p:spPr>
          <a:xfrm>
            <a:off x="6126479" y="1627632"/>
            <a:ext cx="4180495" cy="274320"/>
          </a:xfrm>
          <a:prstGeom prst="rect">
            <a:avLst/>
          </a:prstGeom>
          <a:noFill/>
          <a:ln/>
        </p:spPr>
        <p:txBody>
          <a:bodyPr wrap="square" lIns="0" tIns="0" rIns="0" bIns="0" rtlCol="0" anchor="ctr"/>
          <a:lstStyle/>
          <a:p>
            <a:r>
              <a:rPr lang="fr-FR" sz="1600" b="1" dirty="0"/>
              <a:t>Transformer les prévisions en stock</a:t>
            </a:r>
            <a:endParaRPr lang="en-US" sz="1520" b="1" dirty="0"/>
          </a:p>
        </p:txBody>
      </p:sp>
      <p:sp>
        <p:nvSpPr>
          <p:cNvPr id="26" name="Text 24"/>
          <p:cNvSpPr/>
          <p:nvPr/>
        </p:nvSpPr>
        <p:spPr>
          <a:xfrm>
            <a:off x="6126480" y="2440471"/>
            <a:ext cx="1417320" cy="228600"/>
          </a:xfrm>
          <a:prstGeom prst="rect">
            <a:avLst/>
          </a:prstGeom>
          <a:noFill/>
          <a:ln/>
        </p:spPr>
        <p:txBody>
          <a:bodyPr wrap="square" lIns="0" tIns="0" rIns="0" bIns="0" rtlCol="0" anchor="ctr"/>
          <a:lstStyle/>
          <a:p>
            <a:pPr marL="0" indent="0">
              <a:buNone/>
            </a:pPr>
            <a:r>
              <a:rPr lang="en-US" sz="1000" b="1" dirty="0">
                <a:solidFill>
                  <a:srgbClr val="00A8A8"/>
                </a:solidFill>
                <a:latin typeface="Aptos" pitchFamily="34" charset="0"/>
                <a:ea typeface="Aptos" pitchFamily="34" charset="-122"/>
                <a:cs typeface="Aptos" pitchFamily="34" charset="-120"/>
              </a:rPr>
              <a:t>Stock de sécurité</a:t>
            </a:r>
            <a:endParaRPr lang="en-US" sz="1000" dirty="0"/>
          </a:p>
        </p:txBody>
      </p:sp>
      <p:sp>
        <p:nvSpPr>
          <p:cNvPr id="27" name="Text 25"/>
          <p:cNvSpPr/>
          <p:nvPr/>
        </p:nvSpPr>
        <p:spPr>
          <a:xfrm>
            <a:off x="7635240" y="2413036"/>
            <a:ext cx="3218688" cy="292608"/>
          </a:xfrm>
          <a:prstGeom prst="rect">
            <a:avLst/>
          </a:prstGeom>
          <a:noFill/>
          <a:ln/>
        </p:spPr>
        <p:txBody>
          <a:bodyPr wrap="square" lIns="0" tIns="0" rIns="0" bIns="0" rtlCol="0" anchor="ctr">
            <a:normAutofit/>
          </a:bodyPr>
          <a:lstStyle/>
          <a:p>
            <a:r>
              <a:rPr lang="fr-FR" sz="1400" dirty="0"/>
              <a:t>1,65 × l’incertitude du modèle</a:t>
            </a:r>
            <a:endParaRPr lang="en-US" sz="1400" dirty="0"/>
          </a:p>
        </p:txBody>
      </p:sp>
      <p:sp>
        <p:nvSpPr>
          <p:cNvPr id="29" name="Text 27"/>
          <p:cNvSpPr/>
          <p:nvPr/>
        </p:nvSpPr>
        <p:spPr>
          <a:xfrm>
            <a:off x="6126480" y="3223839"/>
            <a:ext cx="1417320" cy="228600"/>
          </a:xfrm>
          <a:prstGeom prst="rect">
            <a:avLst/>
          </a:prstGeom>
          <a:noFill/>
          <a:ln/>
        </p:spPr>
        <p:txBody>
          <a:bodyPr wrap="square" lIns="0" tIns="0" rIns="0" bIns="0" rtlCol="0" anchor="ctr"/>
          <a:lstStyle/>
          <a:p>
            <a:r>
              <a:rPr lang="fr-FR" sz="1000" dirty="0">
                <a:solidFill>
                  <a:schemeClr val="accent6"/>
                </a:solidFill>
              </a:rPr>
              <a:t>À partir de quel niveau de stock dois-je passer une nouvelle commande ?</a:t>
            </a:r>
            <a:endParaRPr lang="en-US" sz="1000" dirty="0">
              <a:solidFill>
                <a:schemeClr val="accent6"/>
              </a:solidFill>
            </a:endParaRPr>
          </a:p>
        </p:txBody>
      </p:sp>
      <p:sp>
        <p:nvSpPr>
          <p:cNvPr id="30" name="Text 28"/>
          <p:cNvSpPr/>
          <p:nvPr/>
        </p:nvSpPr>
        <p:spPr>
          <a:xfrm>
            <a:off x="7635240" y="3196408"/>
            <a:ext cx="3218688" cy="292608"/>
          </a:xfrm>
          <a:prstGeom prst="rect">
            <a:avLst/>
          </a:prstGeom>
          <a:noFill/>
          <a:ln/>
        </p:spPr>
        <p:txBody>
          <a:bodyPr wrap="square" lIns="0" tIns="0" rIns="0" bIns="0" rtlCol="0" anchor="ctr">
            <a:normAutofit fontScale="92500"/>
          </a:bodyPr>
          <a:lstStyle/>
          <a:p>
            <a:r>
              <a:rPr lang="fr-FR" sz="1400" dirty="0"/>
              <a:t>demande prévue × délai + stock de sécurité</a:t>
            </a:r>
            <a:endParaRPr lang="en-US" sz="1400" dirty="0"/>
          </a:p>
        </p:txBody>
      </p:sp>
      <p:sp>
        <p:nvSpPr>
          <p:cNvPr id="31" name="Text 29"/>
          <p:cNvSpPr/>
          <p:nvPr/>
        </p:nvSpPr>
        <p:spPr>
          <a:xfrm>
            <a:off x="7635240" y="3438144"/>
            <a:ext cx="3291840" cy="274320"/>
          </a:xfrm>
          <a:prstGeom prst="rect">
            <a:avLst/>
          </a:prstGeom>
          <a:noFill/>
          <a:ln/>
        </p:spPr>
        <p:txBody>
          <a:bodyPr wrap="square" lIns="0" tIns="0" rIns="0" bIns="0" rtlCol="0" anchor="ctr">
            <a:normAutofit/>
          </a:bodyPr>
          <a:lstStyle/>
          <a:p>
            <a:pPr marL="0" indent="0">
              <a:buNone/>
            </a:pPr>
            <a:endParaRPr lang="en-US" sz="920" dirty="0"/>
          </a:p>
        </p:txBody>
      </p:sp>
      <p:sp>
        <p:nvSpPr>
          <p:cNvPr id="32" name="Text 30"/>
          <p:cNvSpPr/>
          <p:nvPr/>
        </p:nvSpPr>
        <p:spPr>
          <a:xfrm>
            <a:off x="6126480" y="4078224"/>
            <a:ext cx="1417320" cy="228600"/>
          </a:xfrm>
          <a:prstGeom prst="rect">
            <a:avLst/>
          </a:prstGeom>
          <a:noFill/>
          <a:ln/>
        </p:spPr>
        <p:txBody>
          <a:bodyPr wrap="square" lIns="0" tIns="0" rIns="0" bIns="0" rtlCol="0" anchor="ctr"/>
          <a:lstStyle/>
          <a:p>
            <a:pPr marL="0" indent="0">
              <a:buNone/>
            </a:pPr>
            <a:r>
              <a:rPr lang="en-US" sz="1000" b="1" dirty="0">
                <a:solidFill>
                  <a:srgbClr val="2F9E6D"/>
                </a:solidFill>
                <a:latin typeface="Aptos" pitchFamily="34" charset="0"/>
                <a:ea typeface="Aptos" pitchFamily="34" charset="-122"/>
                <a:cs typeface="Aptos" pitchFamily="34" charset="-120"/>
              </a:rPr>
              <a:t>Stock cible</a:t>
            </a:r>
            <a:endParaRPr lang="en-US" sz="1000" dirty="0"/>
          </a:p>
        </p:txBody>
      </p:sp>
      <p:sp>
        <p:nvSpPr>
          <p:cNvPr id="33" name="Text 31"/>
          <p:cNvSpPr/>
          <p:nvPr/>
        </p:nvSpPr>
        <p:spPr>
          <a:xfrm>
            <a:off x="7635240" y="4050792"/>
            <a:ext cx="3218688" cy="292608"/>
          </a:xfrm>
          <a:prstGeom prst="rect">
            <a:avLst/>
          </a:prstGeom>
          <a:noFill/>
          <a:ln/>
        </p:spPr>
        <p:txBody>
          <a:bodyPr wrap="square" lIns="0" tIns="0" rIns="0" bIns="0" rtlCol="0" anchor="ctr">
            <a:normAutofit fontScale="77500" lnSpcReduction="20000"/>
          </a:bodyPr>
          <a:lstStyle/>
          <a:p>
            <a:r>
              <a:rPr lang="fr-FR" sz="1400" dirty="0"/>
              <a:t>Stock cible = demande prévue + stock de sécurité</a:t>
            </a:r>
            <a:endParaRPr lang="en-US" sz="1400" dirty="0"/>
          </a:p>
        </p:txBody>
      </p:sp>
      <p:sp>
        <p:nvSpPr>
          <p:cNvPr id="35" name="Shape 33"/>
          <p:cNvSpPr/>
          <p:nvPr/>
        </p:nvSpPr>
        <p:spPr>
          <a:xfrm>
            <a:off x="6126480" y="5102352"/>
            <a:ext cx="4956048" cy="475488"/>
          </a:xfrm>
          <a:prstGeom prst="roundRect">
            <a:avLst>
              <a:gd name="adj" fmla="val 9615"/>
            </a:avLst>
          </a:prstGeom>
          <a:solidFill>
            <a:srgbClr val="DDF4F3"/>
          </a:solidFill>
          <a:ln w="12700">
            <a:solidFill>
              <a:srgbClr val="DDF4F3"/>
            </a:solidFill>
            <a:prstDash val="solid"/>
          </a:ln>
        </p:spPr>
        <p:txBody>
          <a:bodyPr/>
          <a:lstStyle/>
          <a:p>
            <a:endParaRPr lang="fr-FR"/>
          </a:p>
        </p:txBody>
      </p:sp>
      <p:sp>
        <p:nvSpPr>
          <p:cNvPr id="36" name="Text 34"/>
          <p:cNvSpPr/>
          <p:nvPr/>
        </p:nvSpPr>
        <p:spPr>
          <a:xfrm>
            <a:off x="6419088" y="5248656"/>
            <a:ext cx="4370832" cy="182880"/>
          </a:xfrm>
          <a:prstGeom prst="rect">
            <a:avLst/>
          </a:prstGeom>
          <a:noFill/>
          <a:ln/>
        </p:spPr>
        <p:txBody>
          <a:bodyPr wrap="square" lIns="0" tIns="0" rIns="0" bIns="0" rtlCol="0" anchor="ctr"/>
          <a:lstStyle/>
          <a:p>
            <a:pPr marL="0" indent="0" algn="ctr">
              <a:buNone/>
            </a:pPr>
            <a:r>
              <a:rPr lang="en-US" sz="1240" b="1" dirty="0">
                <a:solidFill>
                  <a:srgbClr val="00A8A8"/>
                </a:solidFill>
                <a:latin typeface="Aptos Display" pitchFamily="34" charset="0"/>
                <a:ea typeface="Aptos Display" pitchFamily="34" charset="-122"/>
                <a:cs typeface="Aptos Display" pitchFamily="34" charset="-120"/>
              </a:rPr>
              <a:t>24 séries produit-pays × 12 mois = 288 prévisions</a:t>
            </a:r>
            <a:endParaRPr lang="en-US" sz="1240" dirty="0"/>
          </a:p>
        </p:txBody>
      </p:sp>
      <p:sp>
        <p:nvSpPr>
          <p:cNvPr id="37" name="Text 35"/>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38"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RÉSULTAT MÉTIER</a:t>
            </a:r>
            <a:endParaRPr lang="en-US" sz="950" dirty="0"/>
          </a:p>
        </p:txBody>
      </p:sp>
      <p:sp>
        <p:nvSpPr>
          <p:cNvPr id="3" name="Text 1"/>
          <p:cNvSpPr/>
          <p:nvPr/>
        </p:nvSpPr>
        <p:spPr>
          <a:xfrm>
            <a:off x="621792" y="612648"/>
            <a:ext cx="10744200" cy="475488"/>
          </a:xfrm>
          <a:prstGeom prst="rect">
            <a:avLst/>
          </a:prstGeom>
          <a:noFill/>
          <a:ln/>
        </p:spPr>
        <p:txBody>
          <a:bodyPr wrap="square" lIns="0" tIns="0" rIns="0" bIns="0" rtlCol="0" anchor="ctr">
            <a:normAutofit/>
          </a:bodyPr>
          <a:lstStyle/>
          <a:p>
            <a:r>
              <a:rPr lang="fr-FR" sz="2800" b="1" dirty="0"/>
              <a:t>Prévisions des ventes et stock conseillé pour 2017</a:t>
            </a:r>
            <a:endParaRPr lang="en-US" sz="2600" b="1" dirty="0"/>
          </a:p>
        </p:txBody>
      </p:sp>
      <p:sp>
        <p:nvSpPr>
          <p:cNvPr id="4" name="Shape 2"/>
          <p:cNvSpPr/>
          <p:nvPr/>
        </p:nvSpPr>
        <p:spPr>
          <a:xfrm>
            <a:off x="658368" y="1261872"/>
            <a:ext cx="8394192" cy="4498848"/>
          </a:xfrm>
          <a:prstGeom prst="roundRect">
            <a:avLst>
              <a:gd name="adj" fmla="val 1220"/>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a:p>
        </p:txBody>
      </p:sp>
      <p:pic>
        <p:nvPicPr>
          <p:cNvPr id="5" name="Image 0" descr="/mnt/data/proj1/prediction-stock-machine-learning/reports/figures/ml/previsions_stock_2017.png"/>
          <p:cNvPicPr>
            <a:picLocks noChangeAspect="1"/>
          </p:cNvPicPr>
          <p:nvPr/>
        </p:nvPicPr>
        <p:blipFill>
          <a:blip r:embed="rId3"/>
          <a:stretch>
            <a:fillRect/>
          </a:stretch>
        </p:blipFill>
        <p:spPr>
          <a:xfrm>
            <a:off x="868680" y="1785039"/>
            <a:ext cx="7991856" cy="3425081"/>
          </a:xfrm>
          <a:prstGeom prst="rect">
            <a:avLst/>
          </a:prstGeom>
        </p:spPr>
      </p:pic>
      <p:sp>
        <p:nvSpPr>
          <p:cNvPr id="6" name="Shape 3"/>
          <p:cNvSpPr/>
          <p:nvPr/>
        </p:nvSpPr>
        <p:spPr>
          <a:xfrm>
            <a:off x="9308592" y="1261872"/>
            <a:ext cx="2212848" cy="969264"/>
          </a:xfrm>
          <a:prstGeom prst="roundRect">
            <a:avLst>
              <a:gd name="adj" fmla="val 7547"/>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7" name="Shape 4"/>
          <p:cNvSpPr/>
          <p:nvPr/>
        </p:nvSpPr>
        <p:spPr>
          <a:xfrm>
            <a:off x="9308592" y="1261872"/>
            <a:ext cx="54864" cy="969264"/>
          </a:xfrm>
          <a:prstGeom prst="rect">
            <a:avLst/>
          </a:prstGeom>
          <a:solidFill>
            <a:srgbClr val="00A8A8"/>
          </a:solidFill>
          <a:ln w="12700">
            <a:solidFill>
              <a:srgbClr val="00A8A8"/>
            </a:solidFill>
            <a:prstDash val="solid"/>
          </a:ln>
        </p:spPr>
        <p:txBody>
          <a:bodyPr/>
          <a:lstStyle/>
          <a:p>
            <a:endParaRPr lang="fr-FR"/>
          </a:p>
        </p:txBody>
      </p:sp>
      <p:sp>
        <p:nvSpPr>
          <p:cNvPr id="8" name="Text 5"/>
          <p:cNvSpPr/>
          <p:nvPr/>
        </p:nvSpPr>
        <p:spPr>
          <a:xfrm>
            <a:off x="9528048" y="1417320"/>
            <a:ext cx="1847088" cy="329184"/>
          </a:xfrm>
          <a:prstGeom prst="rect">
            <a:avLst/>
          </a:prstGeom>
          <a:noFill/>
          <a:ln/>
        </p:spPr>
        <p:txBody>
          <a:bodyPr wrap="square" lIns="0" tIns="0" rIns="0" bIns="0" rtlCol="0" anchor="ctr">
            <a:normAutofit/>
          </a:bodyPr>
          <a:lstStyle/>
          <a:p>
            <a:pPr marL="0" indent="0">
              <a:buNone/>
            </a:pPr>
            <a:r>
              <a:rPr lang="en-US" sz="2000" b="1" dirty="0">
                <a:solidFill>
                  <a:srgbClr val="0B1F3A"/>
                </a:solidFill>
                <a:latin typeface="Aptos Display" pitchFamily="34" charset="0"/>
                <a:ea typeface="Aptos Display" pitchFamily="34" charset="-122"/>
                <a:cs typeface="Aptos Display" pitchFamily="34" charset="-120"/>
              </a:rPr>
              <a:t>11 570</a:t>
            </a:r>
            <a:endParaRPr lang="en-US" sz="2000" dirty="0"/>
          </a:p>
        </p:txBody>
      </p:sp>
      <p:sp>
        <p:nvSpPr>
          <p:cNvPr id="9" name="Text 6"/>
          <p:cNvSpPr/>
          <p:nvPr/>
        </p:nvSpPr>
        <p:spPr>
          <a:xfrm>
            <a:off x="9528048" y="1801368"/>
            <a:ext cx="1865376" cy="246888"/>
          </a:xfrm>
          <a:prstGeom prst="rect">
            <a:avLst/>
          </a:prstGeom>
          <a:noFill/>
          <a:ln/>
        </p:spPr>
        <p:txBody>
          <a:bodyPr wrap="square" lIns="0" tIns="0" rIns="0" bIns="0" rtlCol="0" anchor="ctr">
            <a:normAutofit fontScale="85000" lnSpcReduction="20000"/>
          </a:bodyPr>
          <a:lstStyle/>
          <a:p>
            <a:r>
              <a:rPr lang="fr-FR" sz="1050" dirty="0"/>
              <a:t>Ventes prévues sur l’ensemble de l’année 2017</a:t>
            </a:r>
            <a:endParaRPr lang="en-US" sz="1040" dirty="0"/>
          </a:p>
        </p:txBody>
      </p:sp>
      <p:sp>
        <p:nvSpPr>
          <p:cNvPr id="10" name="Shape 7"/>
          <p:cNvSpPr/>
          <p:nvPr/>
        </p:nvSpPr>
        <p:spPr>
          <a:xfrm>
            <a:off x="9308592" y="2432304"/>
            <a:ext cx="2212848" cy="969264"/>
          </a:xfrm>
          <a:prstGeom prst="roundRect">
            <a:avLst>
              <a:gd name="adj" fmla="val 7547"/>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11" name="Shape 8"/>
          <p:cNvSpPr/>
          <p:nvPr/>
        </p:nvSpPr>
        <p:spPr>
          <a:xfrm>
            <a:off x="9308592" y="2432304"/>
            <a:ext cx="54864" cy="969264"/>
          </a:xfrm>
          <a:prstGeom prst="rect">
            <a:avLst/>
          </a:prstGeom>
          <a:solidFill>
            <a:srgbClr val="F59E0B"/>
          </a:solidFill>
          <a:ln w="12700">
            <a:solidFill>
              <a:srgbClr val="F59E0B"/>
            </a:solidFill>
            <a:prstDash val="solid"/>
          </a:ln>
        </p:spPr>
        <p:txBody>
          <a:bodyPr/>
          <a:lstStyle/>
          <a:p>
            <a:endParaRPr lang="fr-FR"/>
          </a:p>
        </p:txBody>
      </p:sp>
      <p:sp>
        <p:nvSpPr>
          <p:cNvPr id="12" name="Text 9"/>
          <p:cNvSpPr/>
          <p:nvPr/>
        </p:nvSpPr>
        <p:spPr>
          <a:xfrm>
            <a:off x="9528048" y="2587752"/>
            <a:ext cx="1847088" cy="329184"/>
          </a:xfrm>
          <a:prstGeom prst="rect">
            <a:avLst/>
          </a:prstGeom>
          <a:noFill/>
          <a:ln/>
        </p:spPr>
        <p:txBody>
          <a:bodyPr wrap="square" lIns="0" tIns="0" rIns="0" bIns="0" rtlCol="0" anchor="ctr">
            <a:normAutofit/>
          </a:bodyPr>
          <a:lstStyle/>
          <a:p>
            <a:pPr marL="0" indent="0">
              <a:buNone/>
            </a:pPr>
            <a:r>
              <a:rPr lang="en-US" sz="2100" b="1" dirty="0">
                <a:solidFill>
                  <a:srgbClr val="0B1F3A"/>
                </a:solidFill>
                <a:latin typeface="Aptos Display" pitchFamily="34" charset="0"/>
                <a:ea typeface="Aptos Display" pitchFamily="34" charset="-122"/>
                <a:cs typeface="Aptos Display" pitchFamily="34" charset="-120"/>
              </a:rPr>
              <a:t>Mai</a:t>
            </a:r>
            <a:endParaRPr lang="en-US" sz="2100" dirty="0"/>
          </a:p>
        </p:txBody>
      </p:sp>
      <p:sp>
        <p:nvSpPr>
          <p:cNvPr id="13" name="Text 10"/>
          <p:cNvSpPr/>
          <p:nvPr/>
        </p:nvSpPr>
        <p:spPr>
          <a:xfrm>
            <a:off x="9528048" y="2971800"/>
            <a:ext cx="1865376" cy="246888"/>
          </a:xfrm>
          <a:prstGeom prst="rect">
            <a:avLst/>
          </a:prstGeom>
          <a:noFill/>
          <a:ln/>
        </p:spPr>
        <p:txBody>
          <a:bodyPr wrap="square" lIns="0" tIns="0" rIns="0" bIns="0" rtlCol="0" anchor="ctr">
            <a:normAutofit fontScale="85000" lnSpcReduction="10000"/>
          </a:bodyPr>
          <a:lstStyle/>
          <a:p>
            <a:r>
              <a:rPr lang="fr-FR" sz="1050" dirty="0"/>
              <a:t>le mois avec la plus forte demande</a:t>
            </a:r>
            <a:endParaRPr lang="en-US" sz="1040" dirty="0"/>
          </a:p>
        </p:txBody>
      </p:sp>
      <p:sp>
        <p:nvSpPr>
          <p:cNvPr id="14" name="Shape 11"/>
          <p:cNvSpPr/>
          <p:nvPr/>
        </p:nvSpPr>
        <p:spPr>
          <a:xfrm>
            <a:off x="9308592" y="3602736"/>
            <a:ext cx="2212848" cy="969264"/>
          </a:xfrm>
          <a:prstGeom prst="roundRect">
            <a:avLst>
              <a:gd name="adj" fmla="val 7547"/>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15" name="Shape 12"/>
          <p:cNvSpPr/>
          <p:nvPr/>
        </p:nvSpPr>
        <p:spPr>
          <a:xfrm>
            <a:off x="9308592" y="3602736"/>
            <a:ext cx="54864" cy="969264"/>
          </a:xfrm>
          <a:prstGeom prst="rect">
            <a:avLst/>
          </a:prstGeom>
          <a:solidFill>
            <a:srgbClr val="3F7FC4"/>
          </a:solidFill>
          <a:ln w="12700">
            <a:solidFill>
              <a:srgbClr val="3F7FC4"/>
            </a:solidFill>
            <a:prstDash val="solid"/>
          </a:ln>
        </p:spPr>
        <p:txBody>
          <a:bodyPr/>
          <a:lstStyle/>
          <a:p>
            <a:endParaRPr lang="fr-FR"/>
          </a:p>
        </p:txBody>
      </p:sp>
      <p:sp>
        <p:nvSpPr>
          <p:cNvPr id="16" name="Text 13"/>
          <p:cNvSpPr/>
          <p:nvPr/>
        </p:nvSpPr>
        <p:spPr>
          <a:xfrm>
            <a:off x="9528048" y="3758184"/>
            <a:ext cx="1847088" cy="329184"/>
          </a:xfrm>
          <a:prstGeom prst="rect">
            <a:avLst/>
          </a:prstGeom>
          <a:noFill/>
          <a:ln/>
        </p:spPr>
        <p:txBody>
          <a:bodyPr wrap="square" lIns="0" tIns="0" rIns="0" bIns="0" rtlCol="0" anchor="ctr">
            <a:normAutofit/>
          </a:bodyPr>
          <a:lstStyle/>
          <a:p>
            <a:pPr marL="0" indent="0">
              <a:buNone/>
            </a:pPr>
            <a:r>
              <a:rPr lang="en-US" sz="2000" b="1" dirty="0">
                <a:solidFill>
                  <a:srgbClr val="0B1F3A"/>
                </a:solidFill>
                <a:latin typeface="Aptos Display" pitchFamily="34" charset="0"/>
                <a:ea typeface="Aptos Display" pitchFamily="34" charset="-122"/>
                <a:cs typeface="Aptos Display" pitchFamily="34" charset="-120"/>
              </a:rPr>
              <a:t>1 100</a:t>
            </a:r>
            <a:endParaRPr lang="en-US" sz="2000" dirty="0"/>
          </a:p>
        </p:txBody>
      </p:sp>
      <p:sp>
        <p:nvSpPr>
          <p:cNvPr id="17" name="Text 14"/>
          <p:cNvSpPr/>
          <p:nvPr/>
        </p:nvSpPr>
        <p:spPr>
          <a:xfrm>
            <a:off x="9528048" y="4142232"/>
            <a:ext cx="1865376" cy="246888"/>
          </a:xfrm>
          <a:prstGeom prst="rect">
            <a:avLst/>
          </a:prstGeom>
          <a:noFill/>
          <a:ln/>
        </p:spPr>
        <p:txBody>
          <a:bodyPr wrap="square" lIns="0" tIns="0" rIns="0" bIns="0" rtlCol="0" anchor="ctr">
            <a:normAutofit fontScale="85000" lnSpcReduction="20000"/>
          </a:bodyPr>
          <a:lstStyle/>
          <a:p>
            <a:r>
              <a:rPr lang="fr-FR" sz="1050" dirty="0"/>
              <a:t>Plus forte demande mensuelle prévue</a:t>
            </a:r>
            <a:endParaRPr lang="en-US" sz="1040" dirty="0"/>
          </a:p>
        </p:txBody>
      </p:sp>
      <p:sp>
        <p:nvSpPr>
          <p:cNvPr id="18" name="Shape 15"/>
          <p:cNvSpPr/>
          <p:nvPr/>
        </p:nvSpPr>
        <p:spPr>
          <a:xfrm>
            <a:off x="9308592" y="4773168"/>
            <a:ext cx="2212848" cy="969264"/>
          </a:xfrm>
          <a:prstGeom prst="roundRect">
            <a:avLst>
              <a:gd name="adj" fmla="val 7547"/>
            </a:avLst>
          </a:prstGeom>
          <a:solidFill>
            <a:srgbClr val="FFFFFF"/>
          </a:solidFill>
          <a:ln w="10160">
            <a:solidFill>
              <a:srgbClr val="E1E7F0"/>
            </a:solidFill>
            <a:prstDash val="solid"/>
          </a:ln>
          <a:effectLst>
            <a:outerShdw algn="bl" rotWithShape="0">
              <a:srgbClr val="1A2B42">
                <a:alpha val="0"/>
              </a:srgbClr>
            </a:outerShdw>
          </a:effectLst>
        </p:spPr>
        <p:txBody>
          <a:bodyPr/>
          <a:lstStyle/>
          <a:p>
            <a:endParaRPr lang="fr-FR"/>
          </a:p>
        </p:txBody>
      </p:sp>
      <p:sp>
        <p:nvSpPr>
          <p:cNvPr id="19" name="Shape 16"/>
          <p:cNvSpPr/>
          <p:nvPr/>
        </p:nvSpPr>
        <p:spPr>
          <a:xfrm>
            <a:off x="9308592" y="4773168"/>
            <a:ext cx="54864" cy="969264"/>
          </a:xfrm>
          <a:prstGeom prst="rect">
            <a:avLst/>
          </a:prstGeom>
          <a:solidFill>
            <a:srgbClr val="2F9E6D"/>
          </a:solidFill>
          <a:ln w="12700">
            <a:solidFill>
              <a:srgbClr val="2F9E6D"/>
            </a:solidFill>
            <a:prstDash val="solid"/>
          </a:ln>
        </p:spPr>
        <p:txBody>
          <a:bodyPr/>
          <a:lstStyle/>
          <a:p>
            <a:endParaRPr lang="fr-FR"/>
          </a:p>
        </p:txBody>
      </p:sp>
      <p:sp>
        <p:nvSpPr>
          <p:cNvPr id="20" name="Text 17"/>
          <p:cNvSpPr/>
          <p:nvPr/>
        </p:nvSpPr>
        <p:spPr>
          <a:xfrm>
            <a:off x="9528048" y="4928616"/>
            <a:ext cx="1847088" cy="329184"/>
          </a:xfrm>
          <a:prstGeom prst="rect">
            <a:avLst/>
          </a:prstGeom>
          <a:noFill/>
          <a:ln/>
        </p:spPr>
        <p:txBody>
          <a:bodyPr wrap="square" lIns="0" tIns="0" rIns="0" bIns="0" rtlCol="0" anchor="ctr">
            <a:normAutofit/>
          </a:bodyPr>
          <a:lstStyle/>
          <a:p>
            <a:pPr marL="0" indent="0">
              <a:buNone/>
            </a:pPr>
            <a:r>
              <a:rPr lang="en-US" sz="2000" b="1" dirty="0">
                <a:solidFill>
                  <a:srgbClr val="0B1F3A"/>
                </a:solidFill>
                <a:latin typeface="Aptos Display" pitchFamily="34" charset="0"/>
                <a:ea typeface="Aptos Display" pitchFamily="34" charset="-122"/>
                <a:cs typeface="Aptos Display" pitchFamily="34" charset="-120"/>
              </a:rPr>
              <a:t>2 346</a:t>
            </a:r>
            <a:endParaRPr lang="en-US" sz="2000" dirty="0"/>
          </a:p>
        </p:txBody>
      </p:sp>
      <p:sp>
        <p:nvSpPr>
          <p:cNvPr id="21" name="Text 18"/>
          <p:cNvSpPr/>
          <p:nvPr/>
        </p:nvSpPr>
        <p:spPr>
          <a:xfrm>
            <a:off x="9528048" y="5312664"/>
            <a:ext cx="1865376" cy="246888"/>
          </a:xfrm>
          <a:prstGeom prst="rect">
            <a:avLst/>
          </a:prstGeom>
          <a:noFill/>
          <a:ln/>
        </p:spPr>
        <p:txBody>
          <a:bodyPr wrap="square" lIns="0" tIns="0" rIns="0" bIns="0" rtlCol="0" anchor="ctr">
            <a:normAutofit fontScale="85000" lnSpcReduction="20000"/>
          </a:bodyPr>
          <a:lstStyle/>
          <a:p>
            <a:r>
              <a:rPr lang="fr-FR" sz="1050" dirty="0"/>
              <a:t>Stock maximum conseillé avec la marge de sécurité</a:t>
            </a:r>
            <a:endParaRPr lang="en-US" sz="1040" dirty="0"/>
          </a:p>
        </p:txBody>
      </p:sp>
      <p:sp>
        <p:nvSpPr>
          <p:cNvPr id="22" name="Text 19"/>
          <p:cNvSpPr/>
          <p:nvPr/>
        </p:nvSpPr>
        <p:spPr>
          <a:xfrm>
            <a:off x="786384" y="5989320"/>
            <a:ext cx="7818120" cy="274320"/>
          </a:xfrm>
          <a:prstGeom prst="rect">
            <a:avLst/>
          </a:prstGeom>
          <a:noFill/>
          <a:ln/>
        </p:spPr>
        <p:txBody>
          <a:bodyPr wrap="square" lIns="0" tIns="0" rIns="0" bIns="0" rtlCol="0" anchor="ctr">
            <a:normAutofit/>
          </a:bodyPr>
          <a:lstStyle/>
          <a:p>
            <a:pPr marL="0" indent="0">
              <a:buNone/>
            </a:pPr>
            <a:r>
              <a:rPr lang="en-US" sz="1080" dirty="0">
                <a:solidFill>
                  <a:srgbClr val="657389"/>
                </a:solidFill>
                <a:latin typeface="Aptos" pitchFamily="34" charset="0"/>
                <a:ea typeface="Aptos" pitchFamily="34" charset="-122"/>
                <a:cs typeface="Aptos" pitchFamily="34" charset="-120"/>
              </a:rPr>
              <a:t>Exemple produit : combine harvester → stock cible mensuel max ≈ 1 548 unités.</a:t>
            </a:r>
            <a:endParaRPr lang="en-US" sz="1080" dirty="0"/>
          </a:p>
        </p:txBody>
      </p:sp>
      <p:sp>
        <p:nvSpPr>
          <p:cNvPr id="23" name="Text 20"/>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25"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21792" y="347472"/>
            <a:ext cx="3291840" cy="210312"/>
          </a:xfrm>
          <a:prstGeom prst="rect">
            <a:avLst/>
          </a:prstGeom>
          <a:noFill/>
          <a:ln/>
        </p:spPr>
        <p:txBody>
          <a:bodyPr wrap="square" lIns="0" tIns="0" rIns="0" bIns="0" rtlCol="0" anchor="ctr"/>
          <a:lstStyle/>
          <a:p>
            <a:pPr marL="0" indent="0">
              <a:buNone/>
            </a:pPr>
            <a:r>
              <a:rPr lang="en-US" sz="950" b="1" kern="0" spc="120" dirty="0">
                <a:solidFill>
                  <a:srgbClr val="00A8A8"/>
                </a:solidFill>
                <a:latin typeface="Aptos" pitchFamily="34" charset="0"/>
                <a:ea typeface="Aptos" pitchFamily="34" charset="-122"/>
                <a:cs typeface="Aptos" pitchFamily="34" charset="-120"/>
              </a:rPr>
              <a:t>DATA ARCHITECTURE</a:t>
            </a:r>
            <a:endParaRPr lang="en-US" sz="950" dirty="0"/>
          </a:p>
        </p:txBody>
      </p:sp>
      <p:sp>
        <p:nvSpPr>
          <p:cNvPr id="3" name="Text 1"/>
          <p:cNvSpPr/>
          <p:nvPr/>
        </p:nvSpPr>
        <p:spPr>
          <a:xfrm>
            <a:off x="621792" y="612648"/>
            <a:ext cx="10744200" cy="475488"/>
          </a:xfrm>
          <a:prstGeom prst="rect">
            <a:avLst/>
          </a:prstGeom>
          <a:noFill/>
          <a:ln/>
        </p:spPr>
        <p:txBody>
          <a:bodyPr wrap="square" lIns="0" tIns="0" rIns="0" bIns="0" rtlCol="0" anchor="ctr">
            <a:normAutofit/>
          </a:bodyPr>
          <a:lstStyle/>
          <a:p>
            <a:r>
              <a:rPr lang="fr-FR" sz="2800" dirty="0"/>
              <a:t>Organisation des résultats avec SQLite et Power BI</a:t>
            </a:r>
            <a:endParaRPr lang="en-US" sz="2600" dirty="0"/>
          </a:p>
        </p:txBody>
      </p:sp>
      <p:sp>
        <p:nvSpPr>
          <p:cNvPr id="4" name="Shape 2"/>
          <p:cNvSpPr/>
          <p:nvPr/>
        </p:nvSpPr>
        <p:spPr>
          <a:xfrm>
            <a:off x="658368" y="1298448"/>
            <a:ext cx="7552944" cy="4526280"/>
          </a:xfrm>
          <a:prstGeom prst="roundRect">
            <a:avLst>
              <a:gd name="adj" fmla="val 1414"/>
            </a:avLst>
          </a:prstGeom>
          <a:solidFill>
            <a:srgbClr val="FFFFFF"/>
          </a:solidFill>
          <a:ln w="12700">
            <a:solidFill>
              <a:srgbClr val="E1E7F0"/>
            </a:solidFill>
            <a:prstDash val="solid"/>
          </a:ln>
          <a:effectLst>
            <a:outerShdw algn="bl" rotWithShape="0">
              <a:srgbClr val="1A2B42">
                <a:alpha val="0"/>
              </a:srgbClr>
            </a:outerShdw>
          </a:effectLst>
        </p:spPr>
        <p:txBody>
          <a:bodyPr/>
          <a:lstStyle/>
          <a:p>
            <a:endParaRPr lang="fr-FR"/>
          </a:p>
        </p:txBody>
      </p:sp>
      <p:sp>
        <p:nvSpPr>
          <p:cNvPr id="5" name="Text 3"/>
          <p:cNvSpPr/>
          <p:nvPr/>
        </p:nvSpPr>
        <p:spPr>
          <a:xfrm>
            <a:off x="950976" y="1618488"/>
            <a:ext cx="2743200" cy="256032"/>
          </a:xfrm>
          <a:prstGeom prst="rect">
            <a:avLst/>
          </a:prstGeom>
          <a:noFill/>
          <a:ln/>
        </p:spPr>
        <p:txBody>
          <a:bodyPr wrap="square" lIns="0" tIns="0" rIns="0" bIns="0" rtlCol="0" anchor="ctr"/>
          <a:lstStyle/>
          <a:p>
            <a:pPr marL="0" indent="0">
              <a:buNone/>
            </a:pPr>
            <a:r>
              <a:rPr lang="en-US" sz="1500" b="1" dirty="0">
                <a:solidFill>
                  <a:srgbClr val="0B1F3A"/>
                </a:solidFill>
                <a:latin typeface="Aptos Display" pitchFamily="34" charset="0"/>
                <a:ea typeface="Aptos Display" pitchFamily="34" charset="-122"/>
                <a:cs typeface="Aptos Display" pitchFamily="34" charset="-120"/>
              </a:rPr>
              <a:t>Modèle en étoile pour l’analyse</a:t>
            </a:r>
            <a:endParaRPr lang="en-US" sz="1500" dirty="0"/>
          </a:p>
        </p:txBody>
      </p:sp>
      <p:sp>
        <p:nvSpPr>
          <p:cNvPr id="6" name="Shape 4"/>
          <p:cNvSpPr/>
          <p:nvPr/>
        </p:nvSpPr>
        <p:spPr>
          <a:xfrm>
            <a:off x="3291840" y="1965960"/>
            <a:ext cx="2487168" cy="704088"/>
          </a:xfrm>
          <a:prstGeom prst="roundRect">
            <a:avLst>
              <a:gd name="adj" fmla="val 6494"/>
            </a:avLst>
          </a:prstGeom>
          <a:solidFill>
            <a:srgbClr val="F9FBFD"/>
          </a:solidFill>
          <a:ln w="17780">
            <a:solidFill>
              <a:srgbClr val="3F7FC4"/>
            </a:solidFill>
            <a:prstDash val="solid"/>
          </a:ln>
        </p:spPr>
        <p:txBody>
          <a:bodyPr/>
          <a:lstStyle/>
          <a:p>
            <a:endParaRPr lang="fr-FR"/>
          </a:p>
        </p:txBody>
      </p:sp>
      <p:sp>
        <p:nvSpPr>
          <p:cNvPr id="7" name="Text 5"/>
          <p:cNvSpPr/>
          <p:nvPr/>
        </p:nvSpPr>
        <p:spPr>
          <a:xfrm>
            <a:off x="3456432" y="2093976"/>
            <a:ext cx="1481328" cy="201168"/>
          </a:xfrm>
          <a:prstGeom prst="rect">
            <a:avLst/>
          </a:prstGeom>
          <a:noFill/>
          <a:ln/>
        </p:spPr>
        <p:txBody>
          <a:bodyPr wrap="square" lIns="0" tIns="0" rIns="0" bIns="0" rtlCol="0" anchor="ctr">
            <a:normAutofit/>
          </a:bodyPr>
          <a:lstStyle/>
          <a:p>
            <a:pPr marL="0" indent="0">
              <a:buNone/>
            </a:pPr>
            <a:r>
              <a:rPr lang="en-US" sz="1080" b="1" dirty="0">
                <a:solidFill>
                  <a:srgbClr val="0B1F3A"/>
                </a:solidFill>
                <a:latin typeface="Aptos Display" pitchFamily="34" charset="0"/>
                <a:ea typeface="Aptos Display" pitchFamily="34" charset="-122"/>
                <a:cs typeface="Aptos Display" pitchFamily="34" charset="-120"/>
              </a:rPr>
              <a:t>fact_sales</a:t>
            </a:r>
            <a:endParaRPr lang="en-US" sz="1080" dirty="0"/>
          </a:p>
        </p:txBody>
      </p:sp>
      <p:sp>
        <p:nvSpPr>
          <p:cNvPr id="8" name="Text 6"/>
          <p:cNvSpPr/>
          <p:nvPr/>
        </p:nvSpPr>
        <p:spPr>
          <a:xfrm>
            <a:off x="5065776" y="2121408"/>
            <a:ext cx="530352" cy="164592"/>
          </a:xfrm>
          <a:prstGeom prst="rect">
            <a:avLst/>
          </a:prstGeom>
          <a:noFill/>
          <a:ln/>
        </p:spPr>
        <p:txBody>
          <a:bodyPr wrap="square" lIns="0" tIns="0" rIns="0" bIns="0" rtlCol="0" anchor="ctr">
            <a:normAutofit/>
          </a:bodyPr>
          <a:lstStyle/>
          <a:p>
            <a:pPr marL="0" indent="0" algn="r">
              <a:buNone/>
            </a:pPr>
            <a:endParaRPr lang="en-US" sz="820" dirty="0"/>
          </a:p>
        </p:txBody>
      </p:sp>
      <p:sp>
        <p:nvSpPr>
          <p:cNvPr id="9" name="Shape 7"/>
          <p:cNvSpPr/>
          <p:nvPr/>
        </p:nvSpPr>
        <p:spPr>
          <a:xfrm>
            <a:off x="3291840" y="3044952"/>
            <a:ext cx="2487168" cy="704088"/>
          </a:xfrm>
          <a:prstGeom prst="roundRect">
            <a:avLst>
              <a:gd name="adj" fmla="val 6494"/>
            </a:avLst>
          </a:prstGeom>
          <a:solidFill>
            <a:srgbClr val="F9FBFD"/>
          </a:solidFill>
          <a:ln w="17780">
            <a:solidFill>
              <a:srgbClr val="00A8A8"/>
            </a:solidFill>
            <a:prstDash val="solid"/>
          </a:ln>
        </p:spPr>
        <p:txBody>
          <a:bodyPr/>
          <a:lstStyle/>
          <a:p>
            <a:endParaRPr lang="fr-FR"/>
          </a:p>
        </p:txBody>
      </p:sp>
      <p:sp>
        <p:nvSpPr>
          <p:cNvPr id="10" name="Text 8"/>
          <p:cNvSpPr/>
          <p:nvPr/>
        </p:nvSpPr>
        <p:spPr>
          <a:xfrm>
            <a:off x="3456432" y="3172968"/>
            <a:ext cx="1481328" cy="201168"/>
          </a:xfrm>
          <a:prstGeom prst="rect">
            <a:avLst/>
          </a:prstGeom>
          <a:noFill/>
          <a:ln/>
        </p:spPr>
        <p:txBody>
          <a:bodyPr wrap="square" lIns="0" tIns="0" rIns="0" bIns="0" rtlCol="0" anchor="ctr">
            <a:normAutofit/>
          </a:bodyPr>
          <a:lstStyle/>
          <a:p>
            <a:pPr marL="0" indent="0">
              <a:buNone/>
            </a:pPr>
            <a:r>
              <a:rPr lang="en-US" sz="1080" b="1" dirty="0">
                <a:solidFill>
                  <a:srgbClr val="0B1F3A"/>
                </a:solidFill>
                <a:latin typeface="Aptos Display" pitchFamily="34" charset="0"/>
                <a:ea typeface="Aptos Display" pitchFamily="34" charset="-122"/>
                <a:cs typeface="Aptos Display" pitchFamily="34" charset="-120"/>
              </a:rPr>
              <a:t>fact_predictions</a:t>
            </a:r>
            <a:endParaRPr lang="en-US" sz="1080" dirty="0"/>
          </a:p>
        </p:txBody>
      </p:sp>
      <p:sp>
        <p:nvSpPr>
          <p:cNvPr id="11" name="Text 9"/>
          <p:cNvSpPr/>
          <p:nvPr/>
        </p:nvSpPr>
        <p:spPr>
          <a:xfrm>
            <a:off x="5065776" y="3200400"/>
            <a:ext cx="530352" cy="164592"/>
          </a:xfrm>
          <a:prstGeom prst="rect">
            <a:avLst/>
          </a:prstGeom>
          <a:noFill/>
          <a:ln/>
        </p:spPr>
        <p:txBody>
          <a:bodyPr wrap="square" lIns="0" tIns="0" rIns="0" bIns="0" rtlCol="0" anchor="ctr">
            <a:normAutofit/>
          </a:bodyPr>
          <a:lstStyle/>
          <a:p>
            <a:pPr marL="0" indent="0" algn="r">
              <a:buNone/>
            </a:pPr>
            <a:endParaRPr lang="en-US" sz="820" dirty="0"/>
          </a:p>
        </p:txBody>
      </p:sp>
      <p:sp>
        <p:nvSpPr>
          <p:cNvPr id="12" name="Shape 10"/>
          <p:cNvSpPr/>
          <p:nvPr/>
        </p:nvSpPr>
        <p:spPr>
          <a:xfrm>
            <a:off x="3291840" y="4123944"/>
            <a:ext cx="2487168" cy="704088"/>
          </a:xfrm>
          <a:prstGeom prst="roundRect">
            <a:avLst>
              <a:gd name="adj" fmla="val 6494"/>
            </a:avLst>
          </a:prstGeom>
          <a:solidFill>
            <a:srgbClr val="F9FBFD"/>
          </a:solidFill>
          <a:ln w="17780">
            <a:solidFill>
              <a:srgbClr val="F59E0B"/>
            </a:solidFill>
            <a:prstDash val="solid"/>
          </a:ln>
        </p:spPr>
        <p:txBody>
          <a:bodyPr/>
          <a:lstStyle/>
          <a:p>
            <a:endParaRPr lang="fr-FR"/>
          </a:p>
        </p:txBody>
      </p:sp>
      <p:sp>
        <p:nvSpPr>
          <p:cNvPr id="13" name="Text 11"/>
          <p:cNvSpPr/>
          <p:nvPr/>
        </p:nvSpPr>
        <p:spPr>
          <a:xfrm>
            <a:off x="3456432" y="4251960"/>
            <a:ext cx="1481328" cy="201168"/>
          </a:xfrm>
          <a:prstGeom prst="rect">
            <a:avLst/>
          </a:prstGeom>
          <a:noFill/>
          <a:ln/>
        </p:spPr>
        <p:txBody>
          <a:bodyPr wrap="square" lIns="0" tIns="0" rIns="0" bIns="0" rtlCol="0" anchor="ctr">
            <a:normAutofit/>
          </a:bodyPr>
          <a:lstStyle/>
          <a:p>
            <a:pPr marL="0" indent="0">
              <a:buNone/>
            </a:pPr>
            <a:r>
              <a:rPr lang="en-US" sz="1080" b="1" dirty="0">
                <a:solidFill>
                  <a:srgbClr val="0B1F3A"/>
                </a:solidFill>
                <a:latin typeface="Aptos Display" pitchFamily="34" charset="0"/>
                <a:ea typeface="Aptos Display" pitchFamily="34" charset="-122"/>
                <a:cs typeface="Aptos Display" pitchFamily="34" charset="-120"/>
              </a:rPr>
              <a:t>fact_stock_forecast</a:t>
            </a:r>
            <a:endParaRPr lang="en-US" sz="1080" dirty="0"/>
          </a:p>
        </p:txBody>
      </p:sp>
      <p:sp>
        <p:nvSpPr>
          <p:cNvPr id="14" name="Text 12"/>
          <p:cNvSpPr/>
          <p:nvPr/>
        </p:nvSpPr>
        <p:spPr>
          <a:xfrm>
            <a:off x="5065776" y="4279392"/>
            <a:ext cx="530352" cy="164592"/>
          </a:xfrm>
          <a:prstGeom prst="rect">
            <a:avLst/>
          </a:prstGeom>
          <a:noFill/>
          <a:ln/>
        </p:spPr>
        <p:txBody>
          <a:bodyPr wrap="square" lIns="0" tIns="0" rIns="0" bIns="0" rtlCol="0" anchor="ctr">
            <a:normAutofit/>
          </a:bodyPr>
          <a:lstStyle/>
          <a:p>
            <a:pPr marL="0" indent="0" algn="r">
              <a:buNone/>
            </a:pPr>
            <a:endParaRPr lang="en-US" sz="820" dirty="0"/>
          </a:p>
        </p:txBody>
      </p:sp>
      <p:sp>
        <p:nvSpPr>
          <p:cNvPr id="15" name="Shape 13"/>
          <p:cNvSpPr/>
          <p:nvPr/>
        </p:nvSpPr>
        <p:spPr>
          <a:xfrm>
            <a:off x="896112" y="2221992"/>
            <a:ext cx="1719072" cy="694944"/>
          </a:xfrm>
          <a:prstGeom prst="roundRect">
            <a:avLst>
              <a:gd name="adj" fmla="val 6579"/>
            </a:avLst>
          </a:prstGeom>
          <a:solidFill>
            <a:srgbClr val="FFFFFF"/>
          </a:solidFill>
          <a:ln w="13970">
            <a:solidFill>
              <a:srgbClr val="2F9E6D"/>
            </a:solidFill>
            <a:prstDash val="solid"/>
          </a:ln>
        </p:spPr>
        <p:txBody>
          <a:bodyPr/>
          <a:lstStyle/>
          <a:p>
            <a:endParaRPr lang="fr-FR"/>
          </a:p>
        </p:txBody>
      </p:sp>
      <p:sp>
        <p:nvSpPr>
          <p:cNvPr id="16" name="Text 14"/>
          <p:cNvSpPr/>
          <p:nvPr/>
        </p:nvSpPr>
        <p:spPr>
          <a:xfrm>
            <a:off x="1042416" y="2340864"/>
            <a:ext cx="1353312" cy="201168"/>
          </a:xfrm>
          <a:prstGeom prst="rect">
            <a:avLst/>
          </a:prstGeom>
          <a:noFill/>
          <a:ln/>
        </p:spPr>
        <p:txBody>
          <a:bodyPr wrap="square" lIns="0" tIns="0" rIns="0" bIns="0" rtlCol="0" anchor="ctr">
            <a:normAutofit/>
          </a:bodyPr>
          <a:lstStyle/>
          <a:p>
            <a:pPr marL="0" indent="0">
              <a:buNone/>
            </a:pPr>
            <a:r>
              <a:rPr lang="en-US" sz="1040" b="1" dirty="0">
                <a:solidFill>
                  <a:srgbClr val="0B1F3A"/>
                </a:solidFill>
                <a:latin typeface="Aptos Display" pitchFamily="34" charset="0"/>
                <a:ea typeface="Aptos Display" pitchFamily="34" charset="-122"/>
                <a:cs typeface="Aptos Display" pitchFamily="34" charset="-120"/>
              </a:rPr>
              <a:t>dim_date</a:t>
            </a:r>
            <a:endParaRPr lang="en-US" sz="1040" dirty="0"/>
          </a:p>
        </p:txBody>
      </p:sp>
      <p:sp>
        <p:nvSpPr>
          <p:cNvPr id="17" name="Text 15"/>
          <p:cNvSpPr/>
          <p:nvPr/>
        </p:nvSpPr>
        <p:spPr>
          <a:xfrm>
            <a:off x="1042416" y="2624328"/>
            <a:ext cx="1353312" cy="146304"/>
          </a:xfrm>
          <a:prstGeom prst="rect">
            <a:avLst/>
          </a:prstGeom>
          <a:noFill/>
          <a:ln/>
        </p:spPr>
        <p:txBody>
          <a:bodyPr wrap="square" lIns="0" tIns="0" rIns="0" bIns="0" rtlCol="0" anchor="ctr"/>
          <a:lstStyle/>
          <a:p>
            <a:pPr marL="0" indent="0">
              <a:buNone/>
            </a:pPr>
            <a:endParaRPr lang="en-US" sz="820" dirty="0"/>
          </a:p>
        </p:txBody>
      </p:sp>
      <p:sp>
        <p:nvSpPr>
          <p:cNvPr id="18" name="Shape 16"/>
          <p:cNvSpPr/>
          <p:nvPr/>
        </p:nvSpPr>
        <p:spPr>
          <a:xfrm>
            <a:off x="896112" y="3346704"/>
            <a:ext cx="1719072" cy="694944"/>
          </a:xfrm>
          <a:prstGeom prst="roundRect">
            <a:avLst>
              <a:gd name="adj" fmla="val 6579"/>
            </a:avLst>
          </a:prstGeom>
          <a:solidFill>
            <a:srgbClr val="FFFFFF"/>
          </a:solidFill>
          <a:ln w="13970">
            <a:solidFill>
              <a:srgbClr val="3F7FC4"/>
            </a:solidFill>
            <a:prstDash val="solid"/>
          </a:ln>
        </p:spPr>
        <p:txBody>
          <a:bodyPr/>
          <a:lstStyle/>
          <a:p>
            <a:endParaRPr lang="fr-FR"/>
          </a:p>
        </p:txBody>
      </p:sp>
      <p:sp>
        <p:nvSpPr>
          <p:cNvPr id="19" name="Text 17"/>
          <p:cNvSpPr/>
          <p:nvPr/>
        </p:nvSpPr>
        <p:spPr>
          <a:xfrm>
            <a:off x="1042416" y="3465576"/>
            <a:ext cx="1353312" cy="201168"/>
          </a:xfrm>
          <a:prstGeom prst="rect">
            <a:avLst/>
          </a:prstGeom>
          <a:noFill/>
          <a:ln/>
        </p:spPr>
        <p:txBody>
          <a:bodyPr wrap="square" lIns="0" tIns="0" rIns="0" bIns="0" rtlCol="0" anchor="ctr">
            <a:normAutofit/>
          </a:bodyPr>
          <a:lstStyle/>
          <a:p>
            <a:pPr marL="0" indent="0">
              <a:buNone/>
            </a:pPr>
            <a:r>
              <a:rPr lang="en-US" sz="1040" b="1" dirty="0">
                <a:solidFill>
                  <a:srgbClr val="0B1F3A"/>
                </a:solidFill>
                <a:latin typeface="Aptos Display" pitchFamily="34" charset="0"/>
                <a:ea typeface="Aptos Display" pitchFamily="34" charset="-122"/>
                <a:cs typeface="Aptos Display" pitchFamily="34" charset="-120"/>
              </a:rPr>
              <a:t>dim_product</a:t>
            </a:r>
            <a:endParaRPr lang="en-US" sz="1040" dirty="0"/>
          </a:p>
        </p:txBody>
      </p:sp>
      <p:sp>
        <p:nvSpPr>
          <p:cNvPr id="20" name="Text 18"/>
          <p:cNvSpPr/>
          <p:nvPr/>
        </p:nvSpPr>
        <p:spPr>
          <a:xfrm>
            <a:off x="1042416" y="3749040"/>
            <a:ext cx="1353312" cy="146304"/>
          </a:xfrm>
          <a:prstGeom prst="rect">
            <a:avLst/>
          </a:prstGeom>
          <a:noFill/>
          <a:ln/>
        </p:spPr>
        <p:txBody>
          <a:bodyPr wrap="square" lIns="0" tIns="0" rIns="0" bIns="0" rtlCol="0" anchor="ctr"/>
          <a:lstStyle/>
          <a:p>
            <a:pPr marL="0" indent="0">
              <a:buNone/>
            </a:pPr>
            <a:endParaRPr lang="en-US" sz="820" dirty="0"/>
          </a:p>
        </p:txBody>
      </p:sp>
      <p:sp>
        <p:nvSpPr>
          <p:cNvPr id="21" name="Shape 19"/>
          <p:cNvSpPr/>
          <p:nvPr/>
        </p:nvSpPr>
        <p:spPr>
          <a:xfrm>
            <a:off x="896112" y="4471416"/>
            <a:ext cx="1719072" cy="694944"/>
          </a:xfrm>
          <a:prstGeom prst="roundRect">
            <a:avLst>
              <a:gd name="adj" fmla="val 6579"/>
            </a:avLst>
          </a:prstGeom>
          <a:solidFill>
            <a:srgbClr val="FFFFFF"/>
          </a:solidFill>
          <a:ln w="13970">
            <a:solidFill>
              <a:srgbClr val="F59E0B"/>
            </a:solidFill>
            <a:prstDash val="solid"/>
          </a:ln>
        </p:spPr>
        <p:txBody>
          <a:bodyPr/>
          <a:lstStyle/>
          <a:p>
            <a:endParaRPr lang="fr-FR"/>
          </a:p>
        </p:txBody>
      </p:sp>
      <p:sp>
        <p:nvSpPr>
          <p:cNvPr id="22" name="Text 20"/>
          <p:cNvSpPr/>
          <p:nvPr/>
        </p:nvSpPr>
        <p:spPr>
          <a:xfrm>
            <a:off x="1042416" y="4590288"/>
            <a:ext cx="1353312" cy="201168"/>
          </a:xfrm>
          <a:prstGeom prst="rect">
            <a:avLst/>
          </a:prstGeom>
          <a:noFill/>
          <a:ln/>
        </p:spPr>
        <p:txBody>
          <a:bodyPr wrap="square" lIns="0" tIns="0" rIns="0" bIns="0" rtlCol="0" anchor="ctr">
            <a:normAutofit/>
          </a:bodyPr>
          <a:lstStyle/>
          <a:p>
            <a:pPr marL="0" indent="0">
              <a:buNone/>
            </a:pPr>
            <a:r>
              <a:rPr lang="en-US" sz="1040" b="1" dirty="0">
                <a:solidFill>
                  <a:srgbClr val="0B1F3A"/>
                </a:solidFill>
                <a:latin typeface="Aptos Display" pitchFamily="34" charset="0"/>
                <a:ea typeface="Aptos Display" pitchFamily="34" charset="-122"/>
                <a:cs typeface="Aptos Display" pitchFamily="34" charset="-120"/>
              </a:rPr>
              <a:t>dim_region</a:t>
            </a:r>
            <a:endParaRPr lang="en-US" sz="1040" dirty="0"/>
          </a:p>
        </p:txBody>
      </p:sp>
      <p:sp>
        <p:nvSpPr>
          <p:cNvPr id="23" name="Text 21"/>
          <p:cNvSpPr/>
          <p:nvPr/>
        </p:nvSpPr>
        <p:spPr>
          <a:xfrm>
            <a:off x="1042416" y="4873752"/>
            <a:ext cx="1353312" cy="146304"/>
          </a:xfrm>
          <a:prstGeom prst="rect">
            <a:avLst/>
          </a:prstGeom>
          <a:noFill/>
          <a:ln/>
        </p:spPr>
        <p:txBody>
          <a:bodyPr wrap="square" lIns="0" tIns="0" rIns="0" bIns="0" rtlCol="0" anchor="ctr"/>
          <a:lstStyle/>
          <a:p>
            <a:pPr marL="0" indent="0">
              <a:buNone/>
            </a:pPr>
            <a:r>
              <a:rPr lang="en-US" sz="820" dirty="0">
                <a:solidFill>
                  <a:srgbClr val="657389"/>
                </a:solidFill>
                <a:latin typeface="Aptos" pitchFamily="34" charset="0"/>
                <a:ea typeface="Aptos" pitchFamily="34" charset="-122"/>
                <a:cs typeface="Aptos" pitchFamily="34" charset="-120"/>
              </a:rPr>
              <a:t>2 pays</a:t>
            </a:r>
            <a:endParaRPr lang="en-US" sz="820" dirty="0"/>
          </a:p>
        </p:txBody>
      </p:sp>
      <p:sp>
        <p:nvSpPr>
          <p:cNvPr id="24" name="Shape 22"/>
          <p:cNvSpPr/>
          <p:nvPr/>
        </p:nvSpPr>
        <p:spPr>
          <a:xfrm>
            <a:off x="2615184" y="2569464"/>
            <a:ext cx="676656" cy="0"/>
          </a:xfrm>
          <a:prstGeom prst="line">
            <a:avLst/>
          </a:prstGeom>
          <a:noFill/>
          <a:ln w="10160">
            <a:solidFill>
              <a:srgbClr val="BCC6D2"/>
            </a:solidFill>
            <a:prstDash val="solid"/>
          </a:ln>
        </p:spPr>
        <p:txBody>
          <a:bodyPr/>
          <a:lstStyle/>
          <a:p>
            <a:endParaRPr lang="fr-FR"/>
          </a:p>
        </p:txBody>
      </p:sp>
      <p:sp>
        <p:nvSpPr>
          <p:cNvPr id="25" name="Shape 23"/>
          <p:cNvSpPr/>
          <p:nvPr/>
        </p:nvSpPr>
        <p:spPr>
          <a:xfrm>
            <a:off x="2615184" y="2569464"/>
            <a:ext cx="676656" cy="822960"/>
          </a:xfrm>
          <a:prstGeom prst="line">
            <a:avLst/>
          </a:prstGeom>
          <a:noFill/>
          <a:ln w="10160">
            <a:solidFill>
              <a:srgbClr val="BCC6D2"/>
            </a:solidFill>
            <a:prstDash val="solid"/>
          </a:ln>
        </p:spPr>
        <p:txBody>
          <a:bodyPr/>
          <a:lstStyle/>
          <a:p>
            <a:endParaRPr lang="fr-FR"/>
          </a:p>
        </p:txBody>
      </p:sp>
      <p:sp>
        <p:nvSpPr>
          <p:cNvPr id="26" name="Shape 24"/>
          <p:cNvSpPr/>
          <p:nvPr/>
        </p:nvSpPr>
        <p:spPr>
          <a:xfrm>
            <a:off x="2615184" y="2569464"/>
            <a:ext cx="676656" cy="1901952"/>
          </a:xfrm>
          <a:prstGeom prst="line">
            <a:avLst/>
          </a:prstGeom>
          <a:noFill/>
          <a:ln w="10160">
            <a:solidFill>
              <a:srgbClr val="BCC6D2"/>
            </a:solidFill>
            <a:prstDash val="solid"/>
          </a:ln>
        </p:spPr>
        <p:txBody>
          <a:bodyPr/>
          <a:lstStyle/>
          <a:p>
            <a:endParaRPr lang="fr-FR"/>
          </a:p>
        </p:txBody>
      </p:sp>
      <p:sp>
        <p:nvSpPr>
          <p:cNvPr id="27" name="Shape 25"/>
          <p:cNvSpPr/>
          <p:nvPr/>
        </p:nvSpPr>
        <p:spPr>
          <a:xfrm>
            <a:off x="2615184" y="3694176"/>
            <a:ext cx="676656" cy="0"/>
          </a:xfrm>
          <a:prstGeom prst="line">
            <a:avLst/>
          </a:prstGeom>
          <a:noFill/>
          <a:ln w="10160">
            <a:solidFill>
              <a:srgbClr val="BCC6D2"/>
            </a:solidFill>
            <a:prstDash val="solid"/>
          </a:ln>
        </p:spPr>
        <p:txBody>
          <a:bodyPr/>
          <a:lstStyle/>
          <a:p>
            <a:endParaRPr lang="fr-FR"/>
          </a:p>
        </p:txBody>
      </p:sp>
      <p:sp>
        <p:nvSpPr>
          <p:cNvPr id="28" name="Shape 26"/>
          <p:cNvSpPr/>
          <p:nvPr/>
        </p:nvSpPr>
        <p:spPr>
          <a:xfrm>
            <a:off x="2615184" y="3694176"/>
            <a:ext cx="676656" cy="0"/>
          </a:xfrm>
          <a:prstGeom prst="line">
            <a:avLst/>
          </a:prstGeom>
          <a:noFill/>
          <a:ln w="10160">
            <a:solidFill>
              <a:srgbClr val="BCC6D2"/>
            </a:solidFill>
            <a:prstDash val="solid"/>
          </a:ln>
        </p:spPr>
        <p:txBody>
          <a:bodyPr/>
          <a:lstStyle/>
          <a:p>
            <a:endParaRPr lang="fr-FR"/>
          </a:p>
        </p:txBody>
      </p:sp>
      <p:sp>
        <p:nvSpPr>
          <p:cNvPr id="29" name="Shape 27"/>
          <p:cNvSpPr/>
          <p:nvPr/>
        </p:nvSpPr>
        <p:spPr>
          <a:xfrm>
            <a:off x="2615184" y="3694176"/>
            <a:ext cx="676656" cy="777240"/>
          </a:xfrm>
          <a:prstGeom prst="line">
            <a:avLst/>
          </a:prstGeom>
          <a:noFill/>
          <a:ln w="10160">
            <a:solidFill>
              <a:srgbClr val="BCC6D2"/>
            </a:solidFill>
            <a:prstDash val="solid"/>
          </a:ln>
        </p:spPr>
        <p:txBody>
          <a:bodyPr/>
          <a:lstStyle/>
          <a:p>
            <a:endParaRPr lang="fr-FR"/>
          </a:p>
        </p:txBody>
      </p:sp>
      <p:sp>
        <p:nvSpPr>
          <p:cNvPr id="30" name="Shape 28"/>
          <p:cNvSpPr/>
          <p:nvPr/>
        </p:nvSpPr>
        <p:spPr>
          <a:xfrm>
            <a:off x="2615184" y="4818888"/>
            <a:ext cx="676656" cy="0"/>
          </a:xfrm>
          <a:prstGeom prst="line">
            <a:avLst/>
          </a:prstGeom>
          <a:noFill/>
          <a:ln w="10160">
            <a:solidFill>
              <a:srgbClr val="BCC6D2"/>
            </a:solidFill>
            <a:prstDash val="solid"/>
          </a:ln>
        </p:spPr>
        <p:txBody>
          <a:bodyPr/>
          <a:lstStyle/>
          <a:p>
            <a:endParaRPr lang="fr-FR"/>
          </a:p>
        </p:txBody>
      </p:sp>
      <p:sp>
        <p:nvSpPr>
          <p:cNvPr id="31" name="Shape 29"/>
          <p:cNvSpPr/>
          <p:nvPr/>
        </p:nvSpPr>
        <p:spPr>
          <a:xfrm>
            <a:off x="2615184" y="4818888"/>
            <a:ext cx="676656" cy="0"/>
          </a:xfrm>
          <a:prstGeom prst="line">
            <a:avLst/>
          </a:prstGeom>
          <a:noFill/>
          <a:ln w="10160">
            <a:solidFill>
              <a:srgbClr val="BCC6D2"/>
            </a:solidFill>
            <a:prstDash val="solid"/>
          </a:ln>
        </p:spPr>
        <p:txBody>
          <a:bodyPr/>
          <a:lstStyle/>
          <a:p>
            <a:endParaRPr lang="fr-FR"/>
          </a:p>
        </p:txBody>
      </p:sp>
      <p:sp>
        <p:nvSpPr>
          <p:cNvPr id="32" name="Shape 30"/>
          <p:cNvSpPr/>
          <p:nvPr/>
        </p:nvSpPr>
        <p:spPr>
          <a:xfrm>
            <a:off x="2615184" y="4818888"/>
            <a:ext cx="676656" cy="0"/>
          </a:xfrm>
          <a:prstGeom prst="line">
            <a:avLst/>
          </a:prstGeom>
          <a:noFill/>
          <a:ln w="10160">
            <a:solidFill>
              <a:srgbClr val="BCC6D2"/>
            </a:solidFill>
            <a:prstDash val="solid"/>
          </a:ln>
        </p:spPr>
        <p:txBody>
          <a:bodyPr/>
          <a:lstStyle/>
          <a:p>
            <a:endParaRPr lang="fr-FR"/>
          </a:p>
        </p:txBody>
      </p:sp>
      <p:sp>
        <p:nvSpPr>
          <p:cNvPr id="33" name="Text 31"/>
          <p:cNvSpPr/>
          <p:nvPr/>
        </p:nvSpPr>
        <p:spPr>
          <a:xfrm>
            <a:off x="6126480" y="1947672"/>
            <a:ext cx="1554480" cy="219456"/>
          </a:xfrm>
          <a:prstGeom prst="rect">
            <a:avLst/>
          </a:prstGeom>
          <a:noFill/>
          <a:ln/>
        </p:spPr>
        <p:txBody>
          <a:bodyPr wrap="square" lIns="0" tIns="0" rIns="0" bIns="0" rtlCol="0" anchor="ctr"/>
          <a:lstStyle/>
          <a:p>
            <a:pPr marL="0" indent="0">
              <a:buNone/>
            </a:pPr>
            <a:endParaRPr lang="en-US" sz="1170" dirty="0"/>
          </a:p>
        </p:txBody>
      </p:sp>
      <p:sp>
        <p:nvSpPr>
          <p:cNvPr id="34" name="Text 32"/>
          <p:cNvSpPr/>
          <p:nvPr/>
        </p:nvSpPr>
        <p:spPr>
          <a:xfrm>
            <a:off x="6126480" y="2331720"/>
            <a:ext cx="1600200" cy="2194560"/>
          </a:xfrm>
          <a:prstGeom prst="rect">
            <a:avLst/>
          </a:prstGeom>
          <a:noFill/>
          <a:ln/>
        </p:spPr>
        <p:txBody>
          <a:bodyPr wrap="square" lIns="0" tIns="0" rIns="0" bIns="0" rtlCol="0" anchor="ctr">
            <a:normAutofit/>
          </a:bodyPr>
          <a:lstStyle/>
          <a:p>
            <a:pPr marL="0" indent="0">
              <a:buNone/>
            </a:pPr>
            <a:endParaRPr lang="en-US" sz="1020" dirty="0"/>
          </a:p>
        </p:txBody>
      </p:sp>
      <p:sp>
        <p:nvSpPr>
          <p:cNvPr id="35" name="Shape 33"/>
          <p:cNvSpPr/>
          <p:nvPr/>
        </p:nvSpPr>
        <p:spPr>
          <a:xfrm>
            <a:off x="8485632" y="1298448"/>
            <a:ext cx="3035808" cy="1847088"/>
          </a:xfrm>
          <a:prstGeom prst="roundRect">
            <a:avLst>
              <a:gd name="adj" fmla="val 3960"/>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36" name="Shape 34"/>
          <p:cNvSpPr/>
          <p:nvPr/>
        </p:nvSpPr>
        <p:spPr>
          <a:xfrm>
            <a:off x="8485632" y="1298448"/>
            <a:ext cx="64008" cy="1847088"/>
          </a:xfrm>
          <a:prstGeom prst="rect">
            <a:avLst/>
          </a:prstGeom>
          <a:solidFill>
            <a:srgbClr val="3F7FC4"/>
          </a:solidFill>
          <a:ln w="12700">
            <a:solidFill>
              <a:srgbClr val="3F7FC4"/>
            </a:solidFill>
            <a:prstDash val="solid"/>
          </a:ln>
        </p:spPr>
        <p:txBody>
          <a:bodyPr/>
          <a:lstStyle/>
          <a:p>
            <a:endParaRPr lang="fr-FR"/>
          </a:p>
        </p:txBody>
      </p:sp>
      <p:sp>
        <p:nvSpPr>
          <p:cNvPr id="37" name="Shape 35"/>
          <p:cNvSpPr/>
          <p:nvPr/>
        </p:nvSpPr>
        <p:spPr>
          <a:xfrm>
            <a:off x="8686800" y="1463040"/>
            <a:ext cx="621792" cy="292608"/>
          </a:xfrm>
          <a:prstGeom prst="roundRect">
            <a:avLst>
              <a:gd name="adj" fmla="val 25000"/>
            </a:avLst>
          </a:prstGeom>
          <a:solidFill>
            <a:srgbClr val="DDF4F3"/>
          </a:solidFill>
          <a:ln w="12700">
            <a:solidFill>
              <a:srgbClr val="DDF4F3"/>
            </a:solidFill>
            <a:prstDash val="solid"/>
          </a:ln>
        </p:spPr>
        <p:txBody>
          <a:bodyPr/>
          <a:lstStyle/>
          <a:p>
            <a:endParaRPr lang="fr-FR"/>
          </a:p>
        </p:txBody>
      </p:sp>
      <p:sp>
        <p:nvSpPr>
          <p:cNvPr id="38" name="Text 36"/>
          <p:cNvSpPr/>
          <p:nvPr/>
        </p:nvSpPr>
        <p:spPr>
          <a:xfrm>
            <a:off x="8778240" y="1531620"/>
            <a:ext cx="438912" cy="146304"/>
          </a:xfrm>
          <a:prstGeom prst="rect">
            <a:avLst/>
          </a:prstGeom>
          <a:noFill/>
          <a:ln/>
        </p:spPr>
        <p:txBody>
          <a:bodyPr wrap="square" lIns="0" tIns="0" rIns="0" bIns="0" rtlCol="0" anchor="ctr">
            <a:normAutofit/>
          </a:bodyPr>
          <a:lstStyle/>
          <a:p>
            <a:pPr marL="0" indent="0" algn="ctr">
              <a:buNone/>
            </a:pPr>
            <a:r>
              <a:rPr lang="en-US" sz="850" b="1" dirty="0">
                <a:solidFill>
                  <a:srgbClr val="3F7FC4"/>
                </a:solidFill>
                <a:latin typeface="Aptos" pitchFamily="34" charset="0"/>
                <a:ea typeface="Aptos" pitchFamily="34" charset="-122"/>
                <a:cs typeface="Aptos" pitchFamily="34" charset="-120"/>
              </a:rPr>
              <a:t>BASE</a:t>
            </a:r>
            <a:endParaRPr lang="en-US" sz="850" dirty="0"/>
          </a:p>
        </p:txBody>
      </p:sp>
      <p:sp>
        <p:nvSpPr>
          <p:cNvPr id="39" name="Text 37"/>
          <p:cNvSpPr/>
          <p:nvPr/>
        </p:nvSpPr>
        <p:spPr>
          <a:xfrm>
            <a:off x="8686800" y="1810512"/>
            <a:ext cx="2633472" cy="310896"/>
          </a:xfrm>
          <a:prstGeom prst="rect">
            <a:avLst/>
          </a:prstGeom>
          <a:noFill/>
          <a:ln/>
        </p:spPr>
        <p:txBody>
          <a:bodyPr wrap="square" lIns="0" tIns="0" rIns="0" bIns="0" rtlCol="0" anchor="ctr">
            <a:normAutofit/>
          </a:bodyPr>
          <a:lstStyle/>
          <a:p>
            <a:pPr marL="0" indent="0">
              <a:buNone/>
            </a:pPr>
            <a:r>
              <a:rPr lang="en-US" sz="1350" b="1" dirty="0">
                <a:solidFill>
                  <a:srgbClr val="0B1F3A"/>
                </a:solidFill>
                <a:latin typeface="Aptos Display" pitchFamily="34" charset="0"/>
                <a:ea typeface="Aptos Display" pitchFamily="34" charset="-122"/>
                <a:cs typeface="Aptos Display" pitchFamily="34" charset="-120"/>
              </a:rPr>
              <a:t>SQLite</a:t>
            </a:r>
            <a:endParaRPr lang="en-US" sz="1350" dirty="0"/>
          </a:p>
        </p:txBody>
      </p:sp>
      <p:sp>
        <p:nvSpPr>
          <p:cNvPr id="40" name="Text 38"/>
          <p:cNvSpPr/>
          <p:nvPr/>
        </p:nvSpPr>
        <p:spPr>
          <a:xfrm>
            <a:off x="8686800" y="2194560"/>
            <a:ext cx="2633472" cy="795528"/>
          </a:xfrm>
          <a:prstGeom prst="rect">
            <a:avLst/>
          </a:prstGeom>
          <a:noFill/>
          <a:ln/>
        </p:spPr>
        <p:txBody>
          <a:bodyPr wrap="square" lIns="0" tIns="0" rIns="0" bIns="0" rtlCol="0" anchor="t">
            <a:normAutofit fontScale="85000" lnSpcReduction="10000"/>
          </a:bodyPr>
          <a:lstStyle/>
          <a:p>
            <a:r>
              <a:rPr lang="fr-FR" sz="1100" dirty="0"/>
              <a:t>Après les prévisions, j’enregistre les résultats dans une base de données </a:t>
            </a:r>
            <a:r>
              <a:rPr lang="fr-FR" sz="1100" b="1" dirty="0"/>
              <a:t>SQLite(</a:t>
            </a:r>
            <a:r>
              <a:rPr lang="fr-FR" sz="1100" dirty="0"/>
              <a:t>Toutes les informations sont regroupées dans une base de données)</a:t>
            </a:r>
          </a:p>
          <a:p>
            <a:endParaRPr lang="fr-FR" sz="1100" dirty="0"/>
          </a:p>
          <a:p>
            <a:r>
              <a:rPr lang="fr-FR" sz="1100" dirty="0"/>
              <a:t>Le but est de garder toutes les informations au même endroit, de manière claire et organisée.</a:t>
            </a:r>
          </a:p>
          <a:p>
            <a:pPr marL="0" indent="0">
              <a:buNone/>
            </a:pPr>
            <a:endParaRPr lang="en-US" sz="1060" dirty="0"/>
          </a:p>
        </p:txBody>
      </p:sp>
      <p:sp>
        <p:nvSpPr>
          <p:cNvPr id="41" name="Shape 39"/>
          <p:cNvSpPr/>
          <p:nvPr/>
        </p:nvSpPr>
        <p:spPr>
          <a:xfrm>
            <a:off x="8485632" y="3364992"/>
            <a:ext cx="3035808" cy="2468880"/>
          </a:xfrm>
          <a:prstGeom prst="roundRect">
            <a:avLst>
              <a:gd name="adj" fmla="val 2963"/>
            </a:avLst>
          </a:prstGeom>
          <a:solidFill>
            <a:srgbClr val="FFFFFF"/>
          </a:solidFill>
          <a:ln w="10160">
            <a:solidFill>
              <a:srgbClr val="E2E7EF"/>
            </a:solidFill>
            <a:prstDash val="solid"/>
          </a:ln>
          <a:effectLst>
            <a:outerShdw algn="bl" rotWithShape="0">
              <a:srgbClr val="1A2B42">
                <a:alpha val="0"/>
              </a:srgbClr>
            </a:outerShdw>
          </a:effectLst>
        </p:spPr>
        <p:txBody>
          <a:bodyPr/>
          <a:lstStyle/>
          <a:p>
            <a:endParaRPr lang="fr-FR"/>
          </a:p>
        </p:txBody>
      </p:sp>
      <p:sp>
        <p:nvSpPr>
          <p:cNvPr id="42" name="Shape 40"/>
          <p:cNvSpPr/>
          <p:nvPr/>
        </p:nvSpPr>
        <p:spPr>
          <a:xfrm>
            <a:off x="8485632" y="3364992"/>
            <a:ext cx="64008" cy="2468880"/>
          </a:xfrm>
          <a:prstGeom prst="rect">
            <a:avLst/>
          </a:prstGeom>
          <a:solidFill>
            <a:srgbClr val="F59E0B"/>
          </a:solidFill>
          <a:ln w="12700">
            <a:solidFill>
              <a:srgbClr val="F59E0B"/>
            </a:solidFill>
            <a:prstDash val="solid"/>
          </a:ln>
        </p:spPr>
        <p:txBody>
          <a:bodyPr/>
          <a:lstStyle/>
          <a:p>
            <a:endParaRPr lang="fr-FR"/>
          </a:p>
        </p:txBody>
      </p:sp>
      <p:sp>
        <p:nvSpPr>
          <p:cNvPr id="43" name="Shape 41"/>
          <p:cNvSpPr/>
          <p:nvPr/>
        </p:nvSpPr>
        <p:spPr>
          <a:xfrm>
            <a:off x="8686800" y="3529584"/>
            <a:ext cx="1197864" cy="292608"/>
          </a:xfrm>
          <a:prstGeom prst="roundRect">
            <a:avLst>
              <a:gd name="adj" fmla="val 25000"/>
            </a:avLst>
          </a:prstGeom>
          <a:solidFill>
            <a:srgbClr val="FFF2D6"/>
          </a:solidFill>
          <a:ln w="12700">
            <a:solidFill>
              <a:srgbClr val="FFF2D6"/>
            </a:solidFill>
            <a:prstDash val="solid"/>
          </a:ln>
        </p:spPr>
        <p:txBody>
          <a:bodyPr/>
          <a:lstStyle/>
          <a:p>
            <a:endParaRPr lang="fr-FR"/>
          </a:p>
        </p:txBody>
      </p:sp>
      <p:sp>
        <p:nvSpPr>
          <p:cNvPr id="44" name="Text 42"/>
          <p:cNvSpPr/>
          <p:nvPr/>
        </p:nvSpPr>
        <p:spPr>
          <a:xfrm>
            <a:off x="8778240" y="3598164"/>
            <a:ext cx="1014984" cy="146304"/>
          </a:xfrm>
          <a:prstGeom prst="rect">
            <a:avLst/>
          </a:prstGeom>
          <a:noFill/>
          <a:ln/>
        </p:spPr>
        <p:txBody>
          <a:bodyPr wrap="square" lIns="0" tIns="0" rIns="0" bIns="0" rtlCol="0" anchor="ctr">
            <a:normAutofit/>
          </a:bodyPr>
          <a:lstStyle/>
          <a:p>
            <a:pPr marL="0" indent="0" algn="ctr">
              <a:buNone/>
            </a:pPr>
            <a:r>
              <a:rPr lang="en-US" sz="850" b="1" dirty="0" err="1">
                <a:solidFill>
                  <a:srgbClr val="F59E0B"/>
                </a:solidFill>
                <a:latin typeface="Aptos" pitchFamily="34" charset="0"/>
              </a:rPr>
              <a:t>Visualisation</a:t>
            </a:r>
            <a:endParaRPr lang="en-US" sz="850" dirty="0"/>
          </a:p>
        </p:txBody>
      </p:sp>
      <p:sp>
        <p:nvSpPr>
          <p:cNvPr id="45" name="Text 43"/>
          <p:cNvSpPr/>
          <p:nvPr/>
        </p:nvSpPr>
        <p:spPr>
          <a:xfrm>
            <a:off x="8686800" y="3877056"/>
            <a:ext cx="2633472" cy="310896"/>
          </a:xfrm>
          <a:prstGeom prst="rect">
            <a:avLst/>
          </a:prstGeom>
          <a:noFill/>
          <a:ln/>
        </p:spPr>
        <p:txBody>
          <a:bodyPr wrap="square" lIns="0" tIns="0" rIns="0" bIns="0" rtlCol="0" anchor="ctr">
            <a:normAutofit/>
          </a:bodyPr>
          <a:lstStyle/>
          <a:p>
            <a:pPr marL="0" indent="0">
              <a:buNone/>
            </a:pPr>
            <a:r>
              <a:rPr lang="en-US" sz="1350" b="1" dirty="0">
                <a:solidFill>
                  <a:srgbClr val="0B1F3A"/>
                </a:solidFill>
                <a:latin typeface="Aptos Display" pitchFamily="34" charset="0"/>
                <a:ea typeface="Aptos Display" pitchFamily="34" charset="-122"/>
                <a:cs typeface="Aptos Display" pitchFamily="34" charset="-120"/>
              </a:rPr>
              <a:t>Power BI</a:t>
            </a:r>
            <a:endParaRPr lang="en-US" sz="1350" dirty="0"/>
          </a:p>
        </p:txBody>
      </p:sp>
      <p:sp>
        <p:nvSpPr>
          <p:cNvPr id="46" name="Text 44"/>
          <p:cNvSpPr/>
          <p:nvPr/>
        </p:nvSpPr>
        <p:spPr>
          <a:xfrm>
            <a:off x="8686800" y="4261104"/>
            <a:ext cx="2633472" cy="1417320"/>
          </a:xfrm>
          <a:prstGeom prst="rect">
            <a:avLst/>
          </a:prstGeom>
          <a:noFill/>
          <a:ln/>
        </p:spPr>
        <p:txBody>
          <a:bodyPr wrap="square" lIns="0" tIns="0" rIns="0" bIns="0" rtlCol="0" anchor="t">
            <a:normAutofit/>
          </a:bodyPr>
          <a:lstStyle/>
          <a:p>
            <a:pPr lvl="0"/>
            <a:r>
              <a:rPr lang="fr-FR" sz="1100" dirty="0"/>
              <a:t>les ventes réalisées </a:t>
            </a:r>
          </a:p>
          <a:p>
            <a:pPr lvl="0"/>
            <a:r>
              <a:rPr lang="fr-FR" sz="1100" dirty="0"/>
              <a:t>les ventes prévues  </a:t>
            </a:r>
          </a:p>
          <a:p>
            <a:pPr lvl="0"/>
            <a:r>
              <a:rPr lang="fr-FR" sz="1100" dirty="0"/>
              <a:t>le stock conseillé </a:t>
            </a:r>
          </a:p>
          <a:p>
            <a:pPr lvl="0"/>
            <a:r>
              <a:rPr lang="fr-FR" sz="1100" dirty="0"/>
              <a:t>les produits avec la plus forte demande  </a:t>
            </a:r>
          </a:p>
          <a:p>
            <a:pPr lvl="0"/>
            <a:r>
              <a:rPr lang="fr-FR" sz="1100" dirty="0"/>
              <a:t>les périodes où le modèle fait le plus d’erreurs</a:t>
            </a:r>
          </a:p>
          <a:p>
            <a:pPr marL="0" indent="0">
              <a:buNone/>
            </a:pPr>
            <a:endParaRPr lang="en-US" sz="1060" dirty="0"/>
          </a:p>
        </p:txBody>
      </p:sp>
      <p:sp>
        <p:nvSpPr>
          <p:cNvPr id="47" name="Text 45"/>
          <p:cNvSpPr/>
          <p:nvPr/>
        </p:nvSpPr>
        <p:spPr>
          <a:xfrm>
            <a:off x="621792" y="6473952"/>
            <a:ext cx="4114800" cy="164592"/>
          </a:xfrm>
          <a:prstGeom prst="rect">
            <a:avLst/>
          </a:prstGeom>
          <a:noFill/>
          <a:ln/>
        </p:spPr>
        <p:txBody>
          <a:bodyPr wrap="square" lIns="0" tIns="0" rIns="0" bIns="0" rtlCol="0" anchor="ctr"/>
          <a:lstStyle/>
          <a:p>
            <a:pPr marL="0" indent="0">
              <a:buNone/>
            </a:pPr>
            <a:r>
              <a:rPr lang="en-US" sz="850" dirty="0">
                <a:solidFill>
                  <a:srgbClr val="8C97A8"/>
                </a:solidFill>
                <a:latin typeface="Aptos" pitchFamily="34" charset="0"/>
                <a:ea typeface="Aptos" pitchFamily="34" charset="-122"/>
                <a:cs typeface="Aptos" pitchFamily="34" charset="-120"/>
              </a:rPr>
              <a:t>Prédiction de stocks • Machine Learning</a:t>
            </a:r>
            <a:endParaRPr lang="en-US" sz="850" dirty="0"/>
          </a:p>
        </p:txBody>
      </p:sp>
      <p:sp>
        <p:nvSpPr>
          <p:cNvPr id="48" name="Slide Number Placeholder 0"/>
          <p:cNvSpPr>
            <a:spLocks noGrp="1"/>
          </p:cNvSpPr>
          <p:nvPr>
            <p:ph type="sldNum" sz="quarter" idx="4294967295"/>
          </p:nvPr>
        </p:nvSpPr>
        <p:spPr>
          <a:xfrm>
            <a:off x="11631168" y="6473952"/>
            <a:ext cx="329184"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48197"/>
                </a:solidFill>
                <a:latin typeface="Aptos"/>
                <a:ea typeface="Aptos"/>
                <a:cs typeface="Apto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347472"/>
            <a:ext cx="3291840" cy="210312"/>
          </a:xfrm>
          <a:prstGeom prst="rect">
            <a:avLst/>
          </a:prstGeom>
          <a:noFill/>
        </p:spPr>
        <p:txBody>
          <a:bodyPr wrap="square" anchor="t">
            <a:spAutoFit/>
          </a:bodyPr>
          <a:lstStyle/>
          <a:p>
            <a:pPr algn="l"/>
            <a:r>
              <a:rPr sz="950" b="1">
                <a:solidFill>
                  <a:srgbClr val="00A8A8"/>
                </a:solidFill>
                <a:latin typeface="Aptos"/>
              </a:rPr>
              <a:t>OUTILS UTILISÉS</a:t>
            </a:r>
          </a:p>
        </p:txBody>
      </p:sp>
      <p:sp>
        <p:nvSpPr>
          <p:cNvPr id="3" name="TextBox 2"/>
          <p:cNvSpPr txBox="1"/>
          <p:nvPr/>
        </p:nvSpPr>
        <p:spPr>
          <a:xfrm>
            <a:off x="621792" y="612648"/>
            <a:ext cx="10698480" cy="502920"/>
          </a:xfrm>
          <a:prstGeom prst="rect">
            <a:avLst/>
          </a:prstGeom>
          <a:noFill/>
        </p:spPr>
        <p:txBody>
          <a:bodyPr wrap="square" anchor="t">
            <a:spAutoFit/>
          </a:bodyPr>
          <a:lstStyle/>
          <a:p>
            <a:pPr algn="l"/>
            <a:r>
              <a:rPr sz="2800" b="1">
                <a:solidFill>
                  <a:srgbClr val="0B1F3A"/>
                </a:solidFill>
                <a:latin typeface="Aptos Display"/>
              </a:rPr>
              <a:t>Technologies utilisées dans le projet</a:t>
            </a:r>
          </a:p>
        </p:txBody>
      </p:sp>
      <p:sp>
        <p:nvSpPr>
          <p:cNvPr id="4" name="TextBox 3"/>
          <p:cNvSpPr txBox="1"/>
          <p:nvPr/>
        </p:nvSpPr>
        <p:spPr>
          <a:xfrm>
            <a:off x="621792" y="6473952"/>
            <a:ext cx="4114800" cy="164592"/>
          </a:xfrm>
          <a:prstGeom prst="rect">
            <a:avLst/>
          </a:prstGeom>
          <a:noFill/>
        </p:spPr>
        <p:txBody>
          <a:bodyPr wrap="square" anchor="t">
            <a:spAutoFit/>
          </a:bodyPr>
          <a:lstStyle/>
          <a:p>
            <a:pPr algn="l"/>
            <a:r>
              <a:rPr sz="850" b="0">
                <a:solidFill>
                  <a:srgbClr val="8C97A8"/>
                </a:solidFill>
                <a:latin typeface="Aptos"/>
              </a:rPr>
              <a:t>Prédiction de stocks • Machine Learning</a:t>
            </a:r>
          </a:p>
        </p:txBody>
      </p:sp>
      <p:sp>
        <p:nvSpPr>
          <p:cNvPr id="5" name="TextBox 4"/>
          <p:cNvSpPr txBox="1"/>
          <p:nvPr/>
        </p:nvSpPr>
        <p:spPr>
          <a:xfrm>
            <a:off x="11631168" y="6473952"/>
            <a:ext cx="274320" cy="164592"/>
          </a:xfrm>
          <a:prstGeom prst="rect">
            <a:avLst/>
          </a:prstGeom>
          <a:noFill/>
        </p:spPr>
        <p:txBody>
          <a:bodyPr wrap="square" anchor="t">
            <a:spAutoFit/>
          </a:bodyPr>
          <a:lstStyle/>
          <a:p>
            <a:pPr algn="r"/>
            <a:r>
              <a:rPr sz="850" b="0">
                <a:solidFill>
                  <a:srgbClr val="8C97A8"/>
                </a:solidFill>
                <a:latin typeface="Aptos"/>
              </a:rPr>
              <a:t>13</a:t>
            </a:r>
          </a:p>
        </p:txBody>
      </p:sp>
      <p:sp>
        <p:nvSpPr>
          <p:cNvPr id="6" name="Rounded Rectangle 5"/>
          <p:cNvSpPr/>
          <p:nvPr/>
        </p:nvSpPr>
        <p:spPr>
          <a:xfrm>
            <a:off x="685800" y="1417320"/>
            <a:ext cx="2971800" cy="1600200"/>
          </a:xfrm>
          <a:prstGeom prst="roundRect">
            <a:avLst/>
          </a:prstGeom>
          <a:solidFill>
            <a:srgbClr val="E9F2FB"/>
          </a:solidFill>
          <a:ln w="12700">
            <a:solidFill>
              <a:srgbClr val="E3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54864" cy="1600200"/>
          </a:xfrm>
          <a:prstGeom prst="rect">
            <a:avLst/>
          </a:prstGeom>
          <a:solidFill>
            <a:srgbClr val="3F7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63624"/>
            <a:ext cx="2651760" cy="310896"/>
          </a:xfrm>
          <a:prstGeom prst="rect">
            <a:avLst/>
          </a:prstGeom>
          <a:noFill/>
        </p:spPr>
        <p:txBody>
          <a:bodyPr wrap="square" anchor="t">
            <a:spAutoFit/>
          </a:bodyPr>
          <a:lstStyle/>
          <a:p>
            <a:pPr algn="l"/>
            <a:r>
              <a:rPr sz="1550" b="1">
                <a:solidFill>
                  <a:srgbClr val="0B1F3A"/>
                </a:solidFill>
                <a:latin typeface="Aptos Display"/>
              </a:rPr>
              <a:t>Python &amp; pandas</a:t>
            </a:r>
          </a:p>
        </p:txBody>
      </p:sp>
      <p:sp>
        <p:nvSpPr>
          <p:cNvPr id="9" name="TextBox 8"/>
          <p:cNvSpPr txBox="1"/>
          <p:nvPr/>
        </p:nvSpPr>
        <p:spPr>
          <a:xfrm>
            <a:off x="868680" y="1947672"/>
            <a:ext cx="2651760" cy="941832"/>
          </a:xfrm>
          <a:prstGeom prst="rect">
            <a:avLst/>
          </a:prstGeom>
          <a:noFill/>
        </p:spPr>
        <p:txBody>
          <a:bodyPr wrap="square" anchor="t">
            <a:spAutoFit/>
          </a:bodyPr>
          <a:lstStyle/>
          <a:p>
            <a:pPr algn="l"/>
            <a:r>
              <a:rPr sz="1150" b="0">
                <a:solidFill>
                  <a:srgbClr val="657389"/>
                </a:solidFill>
                <a:latin typeface="Aptos"/>
              </a:rPr>
              <a:t>Nettoyage, préparation, fusion et analyse des données.</a:t>
            </a:r>
          </a:p>
        </p:txBody>
      </p:sp>
      <p:sp>
        <p:nvSpPr>
          <p:cNvPr id="10" name="Rounded Rectangle 9"/>
          <p:cNvSpPr/>
          <p:nvPr/>
        </p:nvSpPr>
        <p:spPr>
          <a:xfrm>
            <a:off x="4160520" y="1417320"/>
            <a:ext cx="2971800" cy="1600200"/>
          </a:xfrm>
          <a:prstGeom prst="roundRect">
            <a:avLst/>
          </a:prstGeom>
          <a:solidFill>
            <a:srgbClr val="E7F7F6"/>
          </a:solidFill>
          <a:ln w="12700">
            <a:solidFill>
              <a:srgbClr val="E3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60520" y="1417320"/>
            <a:ext cx="54864" cy="1600200"/>
          </a:xfrm>
          <a:prstGeom prst="rect">
            <a:avLst/>
          </a:prstGeom>
          <a:solidFill>
            <a:srgbClr val="00A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400" y="1563624"/>
            <a:ext cx="2651760" cy="310896"/>
          </a:xfrm>
          <a:prstGeom prst="rect">
            <a:avLst/>
          </a:prstGeom>
          <a:noFill/>
        </p:spPr>
        <p:txBody>
          <a:bodyPr wrap="square" anchor="t">
            <a:spAutoFit/>
          </a:bodyPr>
          <a:lstStyle/>
          <a:p>
            <a:pPr algn="l"/>
            <a:r>
              <a:rPr sz="1550" b="1">
                <a:solidFill>
                  <a:srgbClr val="0B1F3A"/>
                </a:solidFill>
                <a:latin typeface="Aptos Display"/>
              </a:rPr>
              <a:t>Jupyter Notebook</a:t>
            </a:r>
          </a:p>
        </p:txBody>
      </p:sp>
      <p:sp>
        <p:nvSpPr>
          <p:cNvPr id="13" name="TextBox 12"/>
          <p:cNvSpPr txBox="1"/>
          <p:nvPr/>
        </p:nvSpPr>
        <p:spPr>
          <a:xfrm>
            <a:off x="4343400" y="1947672"/>
            <a:ext cx="2651760" cy="941832"/>
          </a:xfrm>
          <a:prstGeom prst="rect">
            <a:avLst/>
          </a:prstGeom>
          <a:noFill/>
        </p:spPr>
        <p:txBody>
          <a:bodyPr wrap="square" anchor="t">
            <a:spAutoFit/>
          </a:bodyPr>
          <a:lstStyle/>
          <a:p>
            <a:pPr algn="l"/>
            <a:r>
              <a:rPr sz="1150" b="0">
                <a:solidFill>
                  <a:srgbClr val="657389"/>
                </a:solidFill>
                <a:latin typeface="Aptos"/>
              </a:rPr>
              <a:t>Développement et exécution des différentes étapes du projet.</a:t>
            </a:r>
          </a:p>
        </p:txBody>
      </p:sp>
      <p:sp>
        <p:nvSpPr>
          <p:cNvPr id="14" name="Rounded Rectangle 13"/>
          <p:cNvSpPr/>
          <p:nvPr/>
        </p:nvSpPr>
        <p:spPr>
          <a:xfrm>
            <a:off x="7635240" y="1417320"/>
            <a:ext cx="2971800" cy="1600200"/>
          </a:xfrm>
          <a:prstGeom prst="roundRect">
            <a:avLst/>
          </a:prstGeom>
          <a:solidFill>
            <a:srgbClr val="E7F5EF"/>
          </a:solidFill>
          <a:ln w="12700">
            <a:solidFill>
              <a:srgbClr val="E3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635240" y="1417320"/>
            <a:ext cx="54864" cy="1600200"/>
          </a:xfrm>
          <a:prstGeom prst="rect">
            <a:avLst/>
          </a:prstGeom>
          <a:solidFill>
            <a:srgbClr val="20A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18120" y="1563624"/>
            <a:ext cx="2651760" cy="310896"/>
          </a:xfrm>
          <a:prstGeom prst="rect">
            <a:avLst/>
          </a:prstGeom>
          <a:noFill/>
        </p:spPr>
        <p:txBody>
          <a:bodyPr wrap="square" anchor="t">
            <a:spAutoFit/>
          </a:bodyPr>
          <a:lstStyle/>
          <a:p>
            <a:pPr algn="l"/>
            <a:r>
              <a:rPr sz="1550" b="1">
                <a:solidFill>
                  <a:srgbClr val="0B1F3A"/>
                </a:solidFill>
                <a:latin typeface="Aptos Display"/>
              </a:rPr>
              <a:t>Scikit-learn</a:t>
            </a:r>
          </a:p>
        </p:txBody>
      </p:sp>
      <p:sp>
        <p:nvSpPr>
          <p:cNvPr id="17" name="TextBox 16"/>
          <p:cNvSpPr txBox="1"/>
          <p:nvPr/>
        </p:nvSpPr>
        <p:spPr>
          <a:xfrm>
            <a:off x="7818120" y="1947672"/>
            <a:ext cx="2651760" cy="941832"/>
          </a:xfrm>
          <a:prstGeom prst="rect">
            <a:avLst/>
          </a:prstGeom>
          <a:noFill/>
        </p:spPr>
        <p:txBody>
          <a:bodyPr wrap="square" anchor="t">
            <a:spAutoFit/>
          </a:bodyPr>
          <a:lstStyle/>
          <a:p>
            <a:pPr algn="l"/>
            <a:r>
              <a:rPr sz="1150" b="0">
                <a:solidFill>
                  <a:srgbClr val="657389"/>
                </a:solidFill>
                <a:latin typeface="Aptos"/>
              </a:rPr>
              <a:t>Entraînement et comparaison des modèles de Machine Learning.</a:t>
            </a:r>
          </a:p>
        </p:txBody>
      </p:sp>
      <p:sp>
        <p:nvSpPr>
          <p:cNvPr id="18" name="Rounded Rectangle 17"/>
          <p:cNvSpPr/>
          <p:nvPr/>
        </p:nvSpPr>
        <p:spPr>
          <a:xfrm>
            <a:off x="685800" y="3520440"/>
            <a:ext cx="2971800" cy="1600200"/>
          </a:xfrm>
          <a:prstGeom prst="roundRect">
            <a:avLst/>
          </a:prstGeom>
          <a:solidFill>
            <a:srgbClr val="E9F2FB"/>
          </a:solidFill>
          <a:ln w="12700">
            <a:solidFill>
              <a:srgbClr val="E3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 y="3520440"/>
            <a:ext cx="54864" cy="1600200"/>
          </a:xfrm>
          <a:prstGeom prst="rect">
            <a:avLst/>
          </a:prstGeom>
          <a:solidFill>
            <a:srgbClr val="3F7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3666744"/>
            <a:ext cx="2651760" cy="310896"/>
          </a:xfrm>
          <a:prstGeom prst="rect">
            <a:avLst/>
          </a:prstGeom>
          <a:noFill/>
        </p:spPr>
        <p:txBody>
          <a:bodyPr wrap="square" anchor="t">
            <a:spAutoFit/>
          </a:bodyPr>
          <a:lstStyle/>
          <a:p>
            <a:pPr algn="l"/>
            <a:r>
              <a:rPr sz="1550" b="1">
                <a:solidFill>
                  <a:srgbClr val="0B1F3A"/>
                </a:solidFill>
                <a:latin typeface="Aptos Display"/>
              </a:rPr>
              <a:t>SQLite</a:t>
            </a:r>
          </a:p>
        </p:txBody>
      </p:sp>
      <p:sp>
        <p:nvSpPr>
          <p:cNvPr id="21" name="TextBox 20"/>
          <p:cNvSpPr txBox="1"/>
          <p:nvPr/>
        </p:nvSpPr>
        <p:spPr>
          <a:xfrm>
            <a:off x="868680" y="4050792"/>
            <a:ext cx="2651760" cy="941832"/>
          </a:xfrm>
          <a:prstGeom prst="rect">
            <a:avLst/>
          </a:prstGeom>
          <a:noFill/>
        </p:spPr>
        <p:txBody>
          <a:bodyPr wrap="square" anchor="t">
            <a:spAutoFit/>
          </a:bodyPr>
          <a:lstStyle/>
          <a:p>
            <a:pPr algn="l"/>
            <a:r>
              <a:rPr sz="1150" b="0">
                <a:solidFill>
                  <a:srgbClr val="657389"/>
                </a:solidFill>
                <a:latin typeface="Aptos"/>
              </a:rPr>
              <a:t>Stockage structuré des ventes, prédictions et recommandations de stock.</a:t>
            </a:r>
          </a:p>
        </p:txBody>
      </p:sp>
      <p:sp>
        <p:nvSpPr>
          <p:cNvPr id="22" name="Rounded Rectangle 21"/>
          <p:cNvSpPr/>
          <p:nvPr/>
        </p:nvSpPr>
        <p:spPr>
          <a:xfrm>
            <a:off x="4160520" y="3520440"/>
            <a:ext cx="2971800" cy="1600200"/>
          </a:xfrm>
          <a:prstGeom prst="roundRect">
            <a:avLst/>
          </a:prstGeom>
          <a:solidFill>
            <a:srgbClr val="FFF5DE"/>
          </a:solidFill>
          <a:ln w="12700">
            <a:solidFill>
              <a:srgbClr val="E3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160520" y="3520440"/>
            <a:ext cx="54864" cy="1600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400" y="3666744"/>
            <a:ext cx="2651760" cy="310896"/>
          </a:xfrm>
          <a:prstGeom prst="rect">
            <a:avLst/>
          </a:prstGeom>
          <a:noFill/>
        </p:spPr>
        <p:txBody>
          <a:bodyPr wrap="square" anchor="t">
            <a:spAutoFit/>
          </a:bodyPr>
          <a:lstStyle/>
          <a:p>
            <a:pPr algn="l"/>
            <a:r>
              <a:rPr sz="1550" b="1">
                <a:solidFill>
                  <a:srgbClr val="0B1F3A"/>
                </a:solidFill>
                <a:latin typeface="Aptos Display"/>
              </a:rPr>
              <a:t>Power BI</a:t>
            </a:r>
          </a:p>
        </p:txBody>
      </p:sp>
      <p:sp>
        <p:nvSpPr>
          <p:cNvPr id="25" name="TextBox 24"/>
          <p:cNvSpPr txBox="1"/>
          <p:nvPr/>
        </p:nvSpPr>
        <p:spPr>
          <a:xfrm>
            <a:off x="4343400" y="4050792"/>
            <a:ext cx="2651760" cy="941832"/>
          </a:xfrm>
          <a:prstGeom prst="rect">
            <a:avLst/>
          </a:prstGeom>
          <a:noFill/>
        </p:spPr>
        <p:txBody>
          <a:bodyPr wrap="square" anchor="t">
            <a:spAutoFit/>
          </a:bodyPr>
          <a:lstStyle/>
          <a:p>
            <a:pPr algn="l"/>
            <a:r>
              <a:rPr sz="1150" b="0">
                <a:solidFill>
                  <a:srgbClr val="657389"/>
                </a:solidFill>
                <a:latin typeface="Aptos"/>
              </a:rPr>
              <a:t>Création des tableaux de bord et visualisation des résultats.</a:t>
            </a:r>
          </a:p>
        </p:txBody>
      </p:sp>
      <p:sp>
        <p:nvSpPr>
          <p:cNvPr id="26" name="Rounded Rectangle 25"/>
          <p:cNvSpPr/>
          <p:nvPr/>
        </p:nvSpPr>
        <p:spPr>
          <a:xfrm>
            <a:off x="7635240" y="3520440"/>
            <a:ext cx="2971800" cy="1600200"/>
          </a:xfrm>
          <a:prstGeom prst="roundRect">
            <a:avLst/>
          </a:prstGeom>
          <a:solidFill>
            <a:srgbClr val="E7F7F6"/>
          </a:solidFill>
          <a:ln w="12700">
            <a:solidFill>
              <a:srgbClr val="E3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635240" y="3520440"/>
            <a:ext cx="54864" cy="1600200"/>
          </a:xfrm>
          <a:prstGeom prst="rect">
            <a:avLst/>
          </a:prstGeom>
          <a:solidFill>
            <a:srgbClr val="00A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18120" y="3666744"/>
            <a:ext cx="2651760" cy="310896"/>
          </a:xfrm>
          <a:prstGeom prst="rect">
            <a:avLst/>
          </a:prstGeom>
          <a:noFill/>
        </p:spPr>
        <p:txBody>
          <a:bodyPr wrap="square" anchor="t">
            <a:spAutoFit/>
          </a:bodyPr>
          <a:lstStyle/>
          <a:p>
            <a:pPr algn="l"/>
            <a:r>
              <a:rPr sz="1550" b="1">
                <a:solidFill>
                  <a:srgbClr val="0B1F3A"/>
                </a:solidFill>
                <a:latin typeface="Aptos Display"/>
              </a:rPr>
              <a:t>Open Data</a:t>
            </a:r>
          </a:p>
        </p:txBody>
      </p:sp>
      <p:sp>
        <p:nvSpPr>
          <p:cNvPr id="29" name="TextBox 28"/>
          <p:cNvSpPr txBox="1"/>
          <p:nvPr/>
        </p:nvSpPr>
        <p:spPr>
          <a:xfrm>
            <a:off x="7818120" y="4050792"/>
            <a:ext cx="2651760" cy="941832"/>
          </a:xfrm>
          <a:prstGeom prst="rect">
            <a:avLst/>
          </a:prstGeom>
          <a:noFill/>
        </p:spPr>
        <p:txBody>
          <a:bodyPr wrap="square" anchor="t">
            <a:spAutoFit/>
          </a:bodyPr>
          <a:lstStyle/>
          <a:p>
            <a:pPr algn="l"/>
            <a:r>
              <a:rPr sz="1150" b="0">
                <a:solidFill>
                  <a:srgbClr val="657389"/>
                </a:solidFill>
                <a:latin typeface="Aptos"/>
              </a:rPr>
              <a:t>Open-Meteo, Banque mondiale et FRED pour enrichir les ventes.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347472"/>
            <a:ext cx="3291840" cy="210312"/>
          </a:xfrm>
          <a:prstGeom prst="rect">
            <a:avLst/>
          </a:prstGeom>
          <a:noFill/>
        </p:spPr>
        <p:txBody>
          <a:bodyPr wrap="square" anchor="t">
            <a:spAutoFit/>
          </a:bodyPr>
          <a:lstStyle/>
          <a:p>
            <a:pPr algn="l"/>
            <a:r>
              <a:rPr sz="950" b="1">
                <a:solidFill>
                  <a:srgbClr val="00A8A8"/>
                </a:solidFill>
                <a:latin typeface="Aptos"/>
              </a:rPr>
              <a:t>LIMITES &amp; PERSPECTIVES</a:t>
            </a:r>
          </a:p>
        </p:txBody>
      </p:sp>
      <p:sp>
        <p:nvSpPr>
          <p:cNvPr id="3" name="TextBox 2"/>
          <p:cNvSpPr txBox="1"/>
          <p:nvPr/>
        </p:nvSpPr>
        <p:spPr>
          <a:xfrm>
            <a:off x="621792" y="612648"/>
            <a:ext cx="10698480" cy="502920"/>
          </a:xfrm>
          <a:prstGeom prst="rect">
            <a:avLst/>
          </a:prstGeom>
          <a:noFill/>
        </p:spPr>
        <p:txBody>
          <a:bodyPr wrap="square" anchor="t">
            <a:spAutoFit/>
          </a:bodyPr>
          <a:lstStyle/>
          <a:p>
            <a:pPr algn="l"/>
            <a:r>
              <a:rPr sz="2800" b="1">
                <a:solidFill>
                  <a:srgbClr val="0B1F3A"/>
                </a:solidFill>
                <a:latin typeface="Aptos Display"/>
              </a:rPr>
              <a:t>Ce qui peut être amélioré par la suite</a:t>
            </a:r>
          </a:p>
        </p:txBody>
      </p:sp>
      <p:sp>
        <p:nvSpPr>
          <p:cNvPr id="4" name="TextBox 3"/>
          <p:cNvSpPr txBox="1"/>
          <p:nvPr/>
        </p:nvSpPr>
        <p:spPr>
          <a:xfrm>
            <a:off x="621792" y="6473952"/>
            <a:ext cx="4114800" cy="164592"/>
          </a:xfrm>
          <a:prstGeom prst="rect">
            <a:avLst/>
          </a:prstGeom>
          <a:noFill/>
        </p:spPr>
        <p:txBody>
          <a:bodyPr wrap="square" anchor="t">
            <a:spAutoFit/>
          </a:bodyPr>
          <a:lstStyle/>
          <a:p>
            <a:pPr algn="l"/>
            <a:r>
              <a:rPr sz="850" b="0">
                <a:solidFill>
                  <a:srgbClr val="8C97A8"/>
                </a:solidFill>
                <a:latin typeface="Aptos"/>
              </a:rPr>
              <a:t>Prédiction de stocks • Machine Learning</a:t>
            </a:r>
          </a:p>
        </p:txBody>
      </p:sp>
      <p:sp>
        <p:nvSpPr>
          <p:cNvPr id="5" name="TextBox 4"/>
          <p:cNvSpPr txBox="1"/>
          <p:nvPr/>
        </p:nvSpPr>
        <p:spPr>
          <a:xfrm>
            <a:off x="11631168" y="6473952"/>
            <a:ext cx="274320" cy="164592"/>
          </a:xfrm>
          <a:prstGeom prst="rect">
            <a:avLst/>
          </a:prstGeom>
          <a:noFill/>
        </p:spPr>
        <p:txBody>
          <a:bodyPr wrap="square" anchor="t">
            <a:spAutoFit/>
          </a:bodyPr>
          <a:lstStyle/>
          <a:p>
            <a:pPr algn="r"/>
            <a:r>
              <a:rPr sz="850" b="0">
                <a:solidFill>
                  <a:srgbClr val="8C97A8"/>
                </a:solidFill>
                <a:latin typeface="Aptos"/>
              </a:rPr>
              <a:t>14</a:t>
            </a:r>
          </a:p>
        </p:txBody>
      </p:sp>
      <p:sp>
        <p:nvSpPr>
          <p:cNvPr id="6" name="Rounded Rectangle 5"/>
          <p:cNvSpPr/>
          <p:nvPr/>
        </p:nvSpPr>
        <p:spPr>
          <a:xfrm>
            <a:off x="685800" y="1417320"/>
            <a:ext cx="5257800" cy="4526280"/>
          </a:xfrm>
          <a:prstGeom prst="roundRect">
            <a:avLst/>
          </a:prstGeom>
          <a:solidFill>
            <a:srgbClr val="FFFFFF"/>
          </a:solidFill>
          <a:ln>
            <a:solidFill>
              <a:srgbClr val="E3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63640" y="1417320"/>
            <a:ext cx="5257800" cy="4526280"/>
          </a:xfrm>
          <a:prstGeom prst="roundRect">
            <a:avLst/>
          </a:prstGeom>
          <a:solidFill>
            <a:srgbClr val="FFFFFF"/>
          </a:solidFill>
          <a:ln>
            <a:solidFill>
              <a:srgbClr val="E3E9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64208"/>
            <a:ext cx="4480560" cy="365760"/>
          </a:xfrm>
          <a:prstGeom prst="rect">
            <a:avLst/>
          </a:prstGeom>
          <a:noFill/>
        </p:spPr>
        <p:txBody>
          <a:bodyPr wrap="square" anchor="t">
            <a:spAutoFit/>
          </a:bodyPr>
          <a:lstStyle/>
          <a:p>
            <a:pPr algn="l"/>
            <a:r>
              <a:rPr sz="1800" b="1">
                <a:solidFill>
                  <a:srgbClr val="0B1F3A"/>
                </a:solidFill>
                <a:latin typeface="Aptos Display"/>
              </a:rPr>
              <a:t>Limites actuelles</a:t>
            </a:r>
          </a:p>
        </p:txBody>
      </p:sp>
      <p:sp>
        <p:nvSpPr>
          <p:cNvPr id="9" name="TextBox 8"/>
          <p:cNvSpPr txBox="1"/>
          <p:nvPr/>
        </p:nvSpPr>
        <p:spPr>
          <a:xfrm>
            <a:off x="6537960" y="1664208"/>
            <a:ext cx="4480560" cy="365760"/>
          </a:xfrm>
          <a:prstGeom prst="rect">
            <a:avLst/>
          </a:prstGeom>
          <a:noFill/>
        </p:spPr>
        <p:txBody>
          <a:bodyPr wrap="square" anchor="t">
            <a:spAutoFit/>
          </a:bodyPr>
          <a:lstStyle/>
          <a:p>
            <a:pPr algn="l"/>
            <a:r>
              <a:rPr sz="1800" b="1">
                <a:solidFill>
                  <a:srgbClr val="0B1F3A"/>
                </a:solidFill>
                <a:latin typeface="Aptos Display"/>
              </a:rPr>
              <a:t>Perspectives</a:t>
            </a:r>
          </a:p>
        </p:txBody>
      </p:sp>
      <p:sp>
        <p:nvSpPr>
          <p:cNvPr id="10" name="Oval 9"/>
          <p:cNvSpPr/>
          <p:nvPr/>
        </p:nvSpPr>
        <p:spPr>
          <a:xfrm>
            <a:off x="960120" y="2240280"/>
            <a:ext cx="365760" cy="365760"/>
          </a:xfrm>
          <a:prstGeom prst="ellipse">
            <a:avLst/>
          </a:prstGeom>
          <a:solidFill>
            <a:srgbClr val="D9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258568"/>
            <a:ext cx="365760" cy="274320"/>
          </a:xfrm>
          <a:prstGeom prst="rect">
            <a:avLst/>
          </a:prstGeom>
          <a:noFill/>
        </p:spPr>
        <p:txBody>
          <a:bodyPr wrap="square" anchor="ctr">
            <a:spAutoFit/>
          </a:bodyPr>
          <a:lstStyle/>
          <a:p>
            <a:pPr algn="ctr"/>
            <a:r>
              <a:rPr sz="900" b="1">
                <a:solidFill>
                  <a:srgbClr val="FFFFFF"/>
                </a:solidFill>
                <a:latin typeface="Aptos"/>
              </a:rPr>
              <a:t>01</a:t>
            </a:r>
          </a:p>
        </p:txBody>
      </p:sp>
      <p:sp>
        <p:nvSpPr>
          <p:cNvPr id="12" name="TextBox 11"/>
          <p:cNvSpPr txBox="1"/>
          <p:nvPr/>
        </p:nvSpPr>
        <p:spPr>
          <a:xfrm>
            <a:off x="1490472" y="2221992"/>
            <a:ext cx="4114800" cy="256032"/>
          </a:xfrm>
          <a:prstGeom prst="rect">
            <a:avLst/>
          </a:prstGeom>
          <a:noFill/>
        </p:spPr>
        <p:txBody>
          <a:bodyPr wrap="square" anchor="t">
            <a:spAutoFit/>
          </a:bodyPr>
          <a:lstStyle/>
          <a:p>
            <a:pPr algn="l"/>
            <a:r>
              <a:rPr sz="1300" b="1">
                <a:solidFill>
                  <a:srgbClr val="0B1F3A"/>
                </a:solidFill>
                <a:latin typeface="Aptos Display"/>
              </a:rPr>
              <a:t>Demande irrégulière</a:t>
            </a:r>
          </a:p>
        </p:txBody>
      </p:sp>
      <p:sp>
        <p:nvSpPr>
          <p:cNvPr id="13" name="TextBox 12"/>
          <p:cNvSpPr txBox="1"/>
          <p:nvPr/>
        </p:nvSpPr>
        <p:spPr>
          <a:xfrm>
            <a:off x="1490472" y="2487168"/>
            <a:ext cx="4114800" cy="475488"/>
          </a:xfrm>
          <a:prstGeom prst="rect">
            <a:avLst/>
          </a:prstGeom>
          <a:noFill/>
        </p:spPr>
        <p:txBody>
          <a:bodyPr wrap="square" anchor="t">
            <a:spAutoFit/>
          </a:bodyPr>
          <a:lstStyle/>
          <a:p>
            <a:pPr algn="l"/>
            <a:r>
              <a:rPr sz="1050" b="0">
                <a:solidFill>
                  <a:srgbClr val="657389"/>
                </a:solidFill>
                <a:latin typeface="Aptos"/>
              </a:rPr>
              <a:t>Plus de la moitié des mois ont une demande nulle pour certaines séries.</a:t>
            </a:r>
          </a:p>
        </p:txBody>
      </p:sp>
      <p:sp>
        <p:nvSpPr>
          <p:cNvPr id="14" name="Oval 13"/>
          <p:cNvSpPr/>
          <p:nvPr/>
        </p:nvSpPr>
        <p:spPr>
          <a:xfrm>
            <a:off x="960120" y="3081528"/>
            <a:ext cx="365760" cy="365760"/>
          </a:xfrm>
          <a:prstGeom prst="ellipse">
            <a:avLst/>
          </a:prstGeom>
          <a:solidFill>
            <a:srgbClr val="D9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3099816"/>
            <a:ext cx="365760" cy="274320"/>
          </a:xfrm>
          <a:prstGeom prst="rect">
            <a:avLst/>
          </a:prstGeom>
          <a:noFill/>
        </p:spPr>
        <p:txBody>
          <a:bodyPr wrap="square" anchor="ctr">
            <a:spAutoFit/>
          </a:bodyPr>
          <a:lstStyle/>
          <a:p>
            <a:pPr algn="ctr"/>
            <a:r>
              <a:rPr sz="900" b="1">
                <a:solidFill>
                  <a:srgbClr val="FFFFFF"/>
                </a:solidFill>
                <a:latin typeface="Aptos"/>
              </a:rPr>
              <a:t>02</a:t>
            </a:r>
          </a:p>
        </p:txBody>
      </p:sp>
      <p:sp>
        <p:nvSpPr>
          <p:cNvPr id="16" name="TextBox 15"/>
          <p:cNvSpPr txBox="1"/>
          <p:nvPr/>
        </p:nvSpPr>
        <p:spPr>
          <a:xfrm>
            <a:off x="1490472" y="3063240"/>
            <a:ext cx="4114800" cy="256032"/>
          </a:xfrm>
          <a:prstGeom prst="rect">
            <a:avLst/>
          </a:prstGeom>
          <a:noFill/>
        </p:spPr>
        <p:txBody>
          <a:bodyPr wrap="square" anchor="t">
            <a:spAutoFit/>
          </a:bodyPr>
          <a:lstStyle/>
          <a:p>
            <a:pPr algn="l"/>
            <a:r>
              <a:rPr sz="1300" b="1">
                <a:solidFill>
                  <a:srgbClr val="0B1F3A"/>
                </a:solidFill>
                <a:latin typeface="Aptos Display"/>
              </a:rPr>
              <a:t>Canada peu représenté</a:t>
            </a:r>
          </a:p>
        </p:txBody>
      </p:sp>
      <p:sp>
        <p:nvSpPr>
          <p:cNvPr id="17" name="TextBox 16"/>
          <p:cNvSpPr txBox="1"/>
          <p:nvPr/>
        </p:nvSpPr>
        <p:spPr>
          <a:xfrm>
            <a:off x="1490472" y="3328416"/>
            <a:ext cx="4114800" cy="475488"/>
          </a:xfrm>
          <a:prstGeom prst="rect">
            <a:avLst/>
          </a:prstGeom>
          <a:noFill/>
        </p:spPr>
        <p:txBody>
          <a:bodyPr wrap="square" anchor="t">
            <a:spAutoFit/>
          </a:bodyPr>
          <a:lstStyle/>
          <a:p>
            <a:pPr algn="l"/>
            <a:r>
              <a:rPr sz="1050" b="0">
                <a:solidFill>
                  <a:srgbClr val="657389"/>
                </a:solidFill>
                <a:latin typeface="Aptos"/>
              </a:rPr>
              <a:t>La majorité des volumes historiques vient des États-Unis.</a:t>
            </a:r>
          </a:p>
        </p:txBody>
      </p:sp>
      <p:sp>
        <p:nvSpPr>
          <p:cNvPr id="18" name="Oval 17"/>
          <p:cNvSpPr/>
          <p:nvPr/>
        </p:nvSpPr>
        <p:spPr>
          <a:xfrm>
            <a:off x="960120" y="3922776"/>
            <a:ext cx="365760" cy="365760"/>
          </a:xfrm>
          <a:prstGeom prst="ellipse">
            <a:avLst/>
          </a:prstGeom>
          <a:solidFill>
            <a:srgbClr val="D9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3941064"/>
            <a:ext cx="365760" cy="274320"/>
          </a:xfrm>
          <a:prstGeom prst="rect">
            <a:avLst/>
          </a:prstGeom>
          <a:noFill/>
        </p:spPr>
        <p:txBody>
          <a:bodyPr wrap="square" anchor="ctr">
            <a:spAutoFit/>
          </a:bodyPr>
          <a:lstStyle/>
          <a:p>
            <a:pPr algn="ctr"/>
            <a:r>
              <a:rPr sz="900" b="1">
                <a:solidFill>
                  <a:srgbClr val="FFFFFF"/>
                </a:solidFill>
                <a:latin typeface="Aptos"/>
              </a:rPr>
              <a:t>03</a:t>
            </a:r>
          </a:p>
        </p:txBody>
      </p:sp>
      <p:sp>
        <p:nvSpPr>
          <p:cNvPr id="20" name="TextBox 19"/>
          <p:cNvSpPr txBox="1"/>
          <p:nvPr/>
        </p:nvSpPr>
        <p:spPr>
          <a:xfrm>
            <a:off x="1490472" y="3904488"/>
            <a:ext cx="4114800" cy="256032"/>
          </a:xfrm>
          <a:prstGeom prst="rect">
            <a:avLst/>
          </a:prstGeom>
          <a:noFill/>
        </p:spPr>
        <p:txBody>
          <a:bodyPr wrap="square" anchor="t">
            <a:spAutoFit/>
          </a:bodyPr>
          <a:lstStyle/>
          <a:p>
            <a:pPr algn="l"/>
            <a:r>
              <a:rPr sz="1300" b="1">
                <a:solidFill>
                  <a:srgbClr val="0B1F3A"/>
                </a:solidFill>
                <a:latin typeface="Aptos Display"/>
              </a:rPr>
              <a:t>Pas de stock physique</a:t>
            </a:r>
          </a:p>
        </p:txBody>
      </p:sp>
      <p:sp>
        <p:nvSpPr>
          <p:cNvPr id="21" name="TextBox 20"/>
          <p:cNvSpPr txBox="1"/>
          <p:nvPr/>
        </p:nvSpPr>
        <p:spPr>
          <a:xfrm>
            <a:off x="1490472" y="4169664"/>
            <a:ext cx="4114800" cy="475488"/>
          </a:xfrm>
          <a:prstGeom prst="rect">
            <a:avLst/>
          </a:prstGeom>
          <a:noFill/>
        </p:spPr>
        <p:txBody>
          <a:bodyPr wrap="square" anchor="t">
            <a:spAutoFit/>
          </a:bodyPr>
          <a:lstStyle/>
          <a:p>
            <a:pPr algn="l"/>
            <a:r>
              <a:rPr sz="1050" b="0">
                <a:solidFill>
                  <a:srgbClr val="657389"/>
                </a:solidFill>
                <a:latin typeface="Aptos"/>
              </a:rPr>
              <a:t>Les résultats sont des recommandations basées sur la demande prévue.</a:t>
            </a:r>
          </a:p>
        </p:txBody>
      </p:sp>
      <p:sp>
        <p:nvSpPr>
          <p:cNvPr id="22" name="Oval 21"/>
          <p:cNvSpPr/>
          <p:nvPr/>
        </p:nvSpPr>
        <p:spPr>
          <a:xfrm>
            <a:off x="960120" y="4764024"/>
            <a:ext cx="365760" cy="365760"/>
          </a:xfrm>
          <a:prstGeom prst="ellipse">
            <a:avLst/>
          </a:prstGeom>
          <a:solidFill>
            <a:srgbClr val="D9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4782312"/>
            <a:ext cx="365760" cy="274320"/>
          </a:xfrm>
          <a:prstGeom prst="rect">
            <a:avLst/>
          </a:prstGeom>
          <a:noFill/>
        </p:spPr>
        <p:txBody>
          <a:bodyPr wrap="square" anchor="ctr">
            <a:spAutoFit/>
          </a:bodyPr>
          <a:lstStyle/>
          <a:p>
            <a:pPr algn="ctr"/>
            <a:r>
              <a:rPr sz="900" b="1">
                <a:solidFill>
                  <a:srgbClr val="FFFFFF"/>
                </a:solidFill>
                <a:latin typeface="Aptos"/>
              </a:rPr>
              <a:t>04</a:t>
            </a:r>
          </a:p>
        </p:txBody>
      </p:sp>
      <p:sp>
        <p:nvSpPr>
          <p:cNvPr id="24" name="TextBox 23"/>
          <p:cNvSpPr txBox="1"/>
          <p:nvPr/>
        </p:nvSpPr>
        <p:spPr>
          <a:xfrm>
            <a:off x="1490472" y="4745736"/>
            <a:ext cx="4114800" cy="256032"/>
          </a:xfrm>
          <a:prstGeom prst="rect">
            <a:avLst/>
          </a:prstGeom>
          <a:noFill/>
        </p:spPr>
        <p:txBody>
          <a:bodyPr wrap="square" anchor="t">
            <a:spAutoFit/>
          </a:bodyPr>
          <a:lstStyle/>
          <a:p>
            <a:pPr algn="l"/>
            <a:r>
              <a:rPr sz="1300" b="1">
                <a:solidFill>
                  <a:srgbClr val="0B1F3A"/>
                </a:solidFill>
                <a:latin typeface="Aptos Display"/>
              </a:rPr>
              <a:t>Hypothèse sur 2017</a:t>
            </a:r>
          </a:p>
        </p:txBody>
      </p:sp>
      <p:sp>
        <p:nvSpPr>
          <p:cNvPr id="25" name="TextBox 24"/>
          <p:cNvSpPr txBox="1"/>
          <p:nvPr/>
        </p:nvSpPr>
        <p:spPr>
          <a:xfrm>
            <a:off x="1490472" y="5010912"/>
            <a:ext cx="4114800" cy="475488"/>
          </a:xfrm>
          <a:prstGeom prst="rect">
            <a:avLst/>
          </a:prstGeom>
          <a:noFill/>
        </p:spPr>
        <p:txBody>
          <a:bodyPr wrap="square" anchor="t">
            <a:spAutoFit/>
          </a:bodyPr>
          <a:lstStyle/>
          <a:p>
            <a:pPr algn="l"/>
            <a:r>
              <a:rPr sz="1050" b="0">
                <a:solidFill>
                  <a:srgbClr val="657389"/>
                </a:solidFill>
                <a:latin typeface="Aptos"/>
              </a:rPr>
              <a:t>Les dernières valeurs externes de 2016 sont maintenues pour les prévisions 2017.</a:t>
            </a:r>
          </a:p>
        </p:txBody>
      </p:sp>
      <p:sp>
        <p:nvSpPr>
          <p:cNvPr id="26" name="Oval 25"/>
          <p:cNvSpPr/>
          <p:nvPr/>
        </p:nvSpPr>
        <p:spPr>
          <a:xfrm>
            <a:off x="6537960" y="2240280"/>
            <a:ext cx="365760" cy="365760"/>
          </a:xfrm>
          <a:prstGeom prst="ellipse">
            <a:avLst/>
          </a:prstGeom>
          <a:solidFill>
            <a:srgbClr val="20A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37960" y="2258568"/>
            <a:ext cx="365760" cy="274320"/>
          </a:xfrm>
          <a:prstGeom prst="rect">
            <a:avLst/>
          </a:prstGeom>
          <a:noFill/>
        </p:spPr>
        <p:txBody>
          <a:bodyPr wrap="square" anchor="ctr">
            <a:spAutoFit/>
          </a:bodyPr>
          <a:lstStyle/>
          <a:p>
            <a:pPr algn="ctr"/>
            <a:r>
              <a:rPr sz="900" b="1">
                <a:solidFill>
                  <a:srgbClr val="FFFFFF"/>
                </a:solidFill>
                <a:latin typeface="Aptos"/>
              </a:rPr>
              <a:t>01</a:t>
            </a:r>
          </a:p>
        </p:txBody>
      </p:sp>
      <p:sp>
        <p:nvSpPr>
          <p:cNvPr id="28" name="TextBox 27"/>
          <p:cNvSpPr txBox="1"/>
          <p:nvPr/>
        </p:nvSpPr>
        <p:spPr>
          <a:xfrm>
            <a:off x="7068312" y="2221992"/>
            <a:ext cx="4114800" cy="256032"/>
          </a:xfrm>
          <a:prstGeom prst="rect">
            <a:avLst/>
          </a:prstGeom>
          <a:noFill/>
        </p:spPr>
        <p:txBody>
          <a:bodyPr wrap="square" anchor="t">
            <a:spAutoFit/>
          </a:bodyPr>
          <a:lstStyle/>
          <a:p>
            <a:pPr algn="l"/>
            <a:r>
              <a:rPr sz="1300" b="1">
                <a:solidFill>
                  <a:srgbClr val="0B1F3A"/>
                </a:solidFill>
                <a:latin typeface="Aptos Display"/>
              </a:rPr>
              <a:t>Ajouter les stocks réels</a:t>
            </a:r>
          </a:p>
        </p:txBody>
      </p:sp>
      <p:sp>
        <p:nvSpPr>
          <p:cNvPr id="29" name="TextBox 28"/>
          <p:cNvSpPr txBox="1"/>
          <p:nvPr/>
        </p:nvSpPr>
        <p:spPr>
          <a:xfrm>
            <a:off x="7068312" y="2487168"/>
            <a:ext cx="4114800" cy="475488"/>
          </a:xfrm>
          <a:prstGeom prst="rect">
            <a:avLst/>
          </a:prstGeom>
          <a:noFill/>
        </p:spPr>
        <p:txBody>
          <a:bodyPr wrap="square" anchor="t">
            <a:spAutoFit/>
          </a:bodyPr>
          <a:lstStyle/>
          <a:p>
            <a:pPr algn="l"/>
            <a:r>
              <a:rPr sz="1050" b="0">
                <a:solidFill>
                  <a:srgbClr val="657389"/>
                </a:solidFill>
                <a:latin typeface="Aptos"/>
              </a:rPr>
              <a:t>Intégrer les niveaux de stock, commandes et délais fournisseurs.</a:t>
            </a:r>
          </a:p>
        </p:txBody>
      </p:sp>
      <p:sp>
        <p:nvSpPr>
          <p:cNvPr id="30" name="Oval 29"/>
          <p:cNvSpPr/>
          <p:nvPr/>
        </p:nvSpPr>
        <p:spPr>
          <a:xfrm>
            <a:off x="6537960" y="3081528"/>
            <a:ext cx="365760" cy="365760"/>
          </a:xfrm>
          <a:prstGeom prst="ellipse">
            <a:avLst/>
          </a:prstGeom>
          <a:solidFill>
            <a:srgbClr val="20A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37960" y="3099816"/>
            <a:ext cx="365760" cy="274320"/>
          </a:xfrm>
          <a:prstGeom prst="rect">
            <a:avLst/>
          </a:prstGeom>
          <a:noFill/>
        </p:spPr>
        <p:txBody>
          <a:bodyPr wrap="square" anchor="ctr">
            <a:spAutoFit/>
          </a:bodyPr>
          <a:lstStyle/>
          <a:p>
            <a:pPr algn="ctr"/>
            <a:r>
              <a:rPr sz="900" b="1">
                <a:solidFill>
                  <a:srgbClr val="FFFFFF"/>
                </a:solidFill>
                <a:latin typeface="Aptos"/>
              </a:rPr>
              <a:t>02</a:t>
            </a:r>
          </a:p>
        </p:txBody>
      </p:sp>
      <p:sp>
        <p:nvSpPr>
          <p:cNvPr id="32" name="TextBox 31"/>
          <p:cNvSpPr txBox="1"/>
          <p:nvPr/>
        </p:nvSpPr>
        <p:spPr>
          <a:xfrm>
            <a:off x="7068312" y="3063240"/>
            <a:ext cx="4114800" cy="256032"/>
          </a:xfrm>
          <a:prstGeom prst="rect">
            <a:avLst/>
          </a:prstGeom>
          <a:noFill/>
        </p:spPr>
        <p:txBody>
          <a:bodyPr wrap="square" anchor="t">
            <a:spAutoFit/>
          </a:bodyPr>
          <a:lstStyle/>
          <a:p>
            <a:pPr algn="l"/>
            <a:r>
              <a:rPr sz="1300" b="1">
                <a:solidFill>
                  <a:srgbClr val="0B1F3A"/>
                </a:solidFill>
                <a:latin typeface="Aptos Display"/>
              </a:rPr>
              <a:t>Renforcer les données</a:t>
            </a:r>
          </a:p>
        </p:txBody>
      </p:sp>
      <p:sp>
        <p:nvSpPr>
          <p:cNvPr id="33" name="TextBox 32"/>
          <p:cNvSpPr txBox="1"/>
          <p:nvPr/>
        </p:nvSpPr>
        <p:spPr>
          <a:xfrm>
            <a:off x="7068312" y="3328416"/>
            <a:ext cx="4114800" cy="475488"/>
          </a:xfrm>
          <a:prstGeom prst="rect">
            <a:avLst/>
          </a:prstGeom>
          <a:noFill/>
        </p:spPr>
        <p:txBody>
          <a:bodyPr wrap="square" anchor="t">
            <a:spAutoFit/>
          </a:bodyPr>
          <a:lstStyle/>
          <a:p>
            <a:pPr algn="l"/>
            <a:r>
              <a:rPr sz="1050" b="0">
                <a:solidFill>
                  <a:srgbClr val="657389"/>
                </a:solidFill>
                <a:latin typeface="Aptos"/>
              </a:rPr>
              <a:t>Ajouter plus d’historique et davantage de données pour le Canada.</a:t>
            </a:r>
          </a:p>
        </p:txBody>
      </p:sp>
      <p:sp>
        <p:nvSpPr>
          <p:cNvPr id="34" name="Oval 33"/>
          <p:cNvSpPr/>
          <p:nvPr/>
        </p:nvSpPr>
        <p:spPr>
          <a:xfrm>
            <a:off x="6537960" y="3922776"/>
            <a:ext cx="365760" cy="365760"/>
          </a:xfrm>
          <a:prstGeom prst="ellipse">
            <a:avLst/>
          </a:prstGeom>
          <a:solidFill>
            <a:srgbClr val="20A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37960" y="3941064"/>
            <a:ext cx="365760" cy="274320"/>
          </a:xfrm>
          <a:prstGeom prst="rect">
            <a:avLst/>
          </a:prstGeom>
          <a:noFill/>
        </p:spPr>
        <p:txBody>
          <a:bodyPr wrap="square" anchor="ctr">
            <a:spAutoFit/>
          </a:bodyPr>
          <a:lstStyle/>
          <a:p>
            <a:pPr algn="ctr"/>
            <a:r>
              <a:rPr sz="900" b="1">
                <a:solidFill>
                  <a:srgbClr val="FFFFFF"/>
                </a:solidFill>
                <a:latin typeface="Aptos"/>
              </a:rPr>
              <a:t>03</a:t>
            </a:r>
          </a:p>
        </p:txBody>
      </p:sp>
      <p:sp>
        <p:nvSpPr>
          <p:cNvPr id="36" name="TextBox 35"/>
          <p:cNvSpPr txBox="1"/>
          <p:nvPr/>
        </p:nvSpPr>
        <p:spPr>
          <a:xfrm>
            <a:off x="7068312" y="3904488"/>
            <a:ext cx="4114800" cy="256032"/>
          </a:xfrm>
          <a:prstGeom prst="rect">
            <a:avLst/>
          </a:prstGeom>
          <a:noFill/>
        </p:spPr>
        <p:txBody>
          <a:bodyPr wrap="square" anchor="t">
            <a:spAutoFit/>
          </a:bodyPr>
          <a:lstStyle/>
          <a:p>
            <a:pPr algn="l"/>
            <a:r>
              <a:rPr sz="1300" b="1">
                <a:solidFill>
                  <a:srgbClr val="0B1F3A"/>
                </a:solidFill>
                <a:latin typeface="Aptos Display"/>
              </a:rPr>
              <a:t>Améliorer les prévisions</a:t>
            </a:r>
          </a:p>
        </p:txBody>
      </p:sp>
      <p:sp>
        <p:nvSpPr>
          <p:cNvPr id="37" name="TextBox 36"/>
          <p:cNvSpPr txBox="1"/>
          <p:nvPr/>
        </p:nvSpPr>
        <p:spPr>
          <a:xfrm>
            <a:off x="7068312" y="4169664"/>
            <a:ext cx="4114800" cy="475488"/>
          </a:xfrm>
          <a:prstGeom prst="rect">
            <a:avLst/>
          </a:prstGeom>
          <a:noFill/>
        </p:spPr>
        <p:txBody>
          <a:bodyPr wrap="square" anchor="t">
            <a:spAutoFit/>
          </a:bodyPr>
          <a:lstStyle/>
          <a:p>
            <a:pPr algn="l"/>
            <a:r>
              <a:rPr sz="1050" b="0">
                <a:solidFill>
                  <a:srgbClr val="657389"/>
                </a:solidFill>
                <a:latin typeface="Aptos"/>
              </a:rPr>
              <a:t>Tester d’autres approches et réentraîner régulièrement le modèle.</a:t>
            </a:r>
          </a:p>
        </p:txBody>
      </p:sp>
      <p:sp>
        <p:nvSpPr>
          <p:cNvPr id="38" name="Oval 37"/>
          <p:cNvSpPr/>
          <p:nvPr/>
        </p:nvSpPr>
        <p:spPr>
          <a:xfrm>
            <a:off x="6537960" y="4764024"/>
            <a:ext cx="365760" cy="365760"/>
          </a:xfrm>
          <a:prstGeom prst="ellipse">
            <a:avLst/>
          </a:prstGeom>
          <a:solidFill>
            <a:srgbClr val="20A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37960" y="4782312"/>
            <a:ext cx="365760" cy="274320"/>
          </a:xfrm>
          <a:prstGeom prst="rect">
            <a:avLst/>
          </a:prstGeom>
          <a:noFill/>
        </p:spPr>
        <p:txBody>
          <a:bodyPr wrap="square" anchor="ctr">
            <a:spAutoFit/>
          </a:bodyPr>
          <a:lstStyle/>
          <a:p>
            <a:pPr algn="ctr"/>
            <a:r>
              <a:rPr sz="900" b="1">
                <a:solidFill>
                  <a:srgbClr val="FFFFFF"/>
                </a:solidFill>
                <a:latin typeface="Aptos"/>
              </a:rPr>
              <a:t>04</a:t>
            </a:r>
          </a:p>
        </p:txBody>
      </p:sp>
      <p:sp>
        <p:nvSpPr>
          <p:cNvPr id="40" name="TextBox 39"/>
          <p:cNvSpPr txBox="1"/>
          <p:nvPr/>
        </p:nvSpPr>
        <p:spPr>
          <a:xfrm>
            <a:off x="7068312" y="4745736"/>
            <a:ext cx="4114800" cy="256032"/>
          </a:xfrm>
          <a:prstGeom prst="rect">
            <a:avLst/>
          </a:prstGeom>
          <a:noFill/>
        </p:spPr>
        <p:txBody>
          <a:bodyPr wrap="square" anchor="t">
            <a:spAutoFit/>
          </a:bodyPr>
          <a:lstStyle/>
          <a:p>
            <a:pPr algn="l"/>
            <a:r>
              <a:rPr sz="1300" b="1">
                <a:solidFill>
                  <a:srgbClr val="0B1F3A"/>
                </a:solidFill>
                <a:latin typeface="Aptos Display"/>
              </a:rPr>
              <a:t>Automatiser la restitution</a:t>
            </a:r>
          </a:p>
        </p:txBody>
      </p:sp>
      <p:sp>
        <p:nvSpPr>
          <p:cNvPr id="41" name="TextBox 40"/>
          <p:cNvSpPr txBox="1"/>
          <p:nvPr/>
        </p:nvSpPr>
        <p:spPr>
          <a:xfrm>
            <a:off x="7068312" y="5010912"/>
            <a:ext cx="4114800" cy="475488"/>
          </a:xfrm>
          <a:prstGeom prst="rect">
            <a:avLst/>
          </a:prstGeom>
          <a:noFill/>
        </p:spPr>
        <p:txBody>
          <a:bodyPr wrap="square" anchor="t">
            <a:spAutoFit/>
          </a:bodyPr>
          <a:lstStyle/>
          <a:p>
            <a:pPr algn="l"/>
            <a:r>
              <a:rPr sz="1050" b="0">
                <a:solidFill>
                  <a:srgbClr val="657389"/>
                </a:solidFill>
                <a:latin typeface="Aptos"/>
              </a:rPr>
              <a:t>Actualiser automatiquement la base et les tableaux de bord Power BI.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00A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essin.png"/>
          <p:cNvPicPr>
            <a:picLocks noChangeAspect="1"/>
          </p:cNvPicPr>
          <p:nvPr/>
        </p:nvPicPr>
        <p:blipFill>
          <a:blip r:embed="rId2"/>
          <a:stretch>
            <a:fillRect/>
          </a:stretch>
        </p:blipFill>
        <p:spPr>
          <a:xfrm>
            <a:off x="9555480" y="502920"/>
            <a:ext cx="2057400" cy="791905"/>
          </a:xfrm>
          <a:prstGeom prst="rect">
            <a:avLst/>
          </a:prstGeom>
        </p:spPr>
      </p:pic>
      <p:sp>
        <p:nvSpPr>
          <p:cNvPr id="4" name="TextBox 3"/>
          <p:cNvSpPr txBox="1"/>
          <p:nvPr/>
        </p:nvSpPr>
        <p:spPr>
          <a:xfrm>
            <a:off x="749808" y="1280160"/>
            <a:ext cx="4389120" cy="411480"/>
          </a:xfrm>
          <a:prstGeom prst="rect">
            <a:avLst/>
          </a:prstGeom>
          <a:noFill/>
        </p:spPr>
        <p:txBody>
          <a:bodyPr wrap="square" anchor="t">
            <a:spAutoFit/>
          </a:bodyPr>
          <a:lstStyle/>
          <a:p>
            <a:pPr algn="l"/>
            <a:r>
              <a:rPr sz="1200" b="1">
                <a:solidFill>
                  <a:srgbClr val="64D5D2"/>
                </a:solidFill>
                <a:latin typeface="Aptos"/>
              </a:rPr>
              <a:t>MERCI</a:t>
            </a:r>
          </a:p>
        </p:txBody>
      </p:sp>
      <p:sp>
        <p:nvSpPr>
          <p:cNvPr id="5" name="TextBox 4"/>
          <p:cNvSpPr txBox="1"/>
          <p:nvPr/>
        </p:nvSpPr>
        <p:spPr>
          <a:xfrm>
            <a:off x="749808" y="1874519"/>
            <a:ext cx="8046720" cy="777240"/>
          </a:xfrm>
          <a:prstGeom prst="rect">
            <a:avLst/>
          </a:prstGeom>
          <a:noFill/>
        </p:spPr>
        <p:txBody>
          <a:bodyPr wrap="square" anchor="t">
            <a:spAutoFit/>
          </a:bodyPr>
          <a:lstStyle/>
          <a:p>
            <a:pPr algn="l"/>
            <a:r>
              <a:rPr sz="3400" b="1">
                <a:solidFill>
                  <a:srgbClr val="FFFFFF"/>
                </a:solidFill>
                <a:latin typeface="Aptos Display"/>
              </a:rPr>
              <a:t>Merci pour votre attention</a:t>
            </a:r>
          </a:p>
        </p:txBody>
      </p:sp>
      <p:sp>
        <p:nvSpPr>
          <p:cNvPr id="6" name="TextBox 5"/>
          <p:cNvSpPr txBox="1"/>
          <p:nvPr/>
        </p:nvSpPr>
        <p:spPr>
          <a:xfrm>
            <a:off x="749808" y="2880360"/>
            <a:ext cx="4114800" cy="502920"/>
          </a:xfrm>
          <a:prstGeom prst="rect">
            <a:avLst/>
          </a:prstGeom>
          <a:noFill/>
        </p:spPr>
        <p:txBody>
          <a:bodyPr wrap="square" anchor="t">
            <a:spAutoFit/>
          </a:bodyPr>
          <a:lstStyle/>
          <a:p>
            <a:pPr algn="l"/>
            <a:r>
              <a:rPr sz="2400" b="0">
                <a:solidFill>
                  <a:srgbClr val="CBD7E5"/>
                </a:solidFill>
                <a:latin typeface="Aptos Display"/>
              </a:rPr>
              <a:t>Questions ?</a:t>
            </a:r>
          </a:p>
        </p:txBody>
      </p:sp>
      <p:sp>
        <p:nvSpPr>
          <p:cNvPr id="7" name="TextBox 6"/>
          <p:cNvSpPr txBox="1"/>
          <p:nvPr/>
        </p:nvSpPr>
        <p:spPr>
          <a:xfrm>
            <a:off x="749808" y="4983480"/>
            <a:ext cx="3657600" cy="292608"/>
          </a:xfrm>
          <a:prstGeom prst="rect">
            <a:avLst/>
          </a:prstGeom>
          <a:noFill/>
        </p:spPr>
        <p:txBody>
          <a:bodyPr wrap="square" anchor="t">
            <a:spAutoFit/>
          </a:bodyPr>
          <a:lstStyle/>
          <a:p>
            <a:pPr algn="l"/>
            <a:r>
              <a:rPr sz="1300" b="1">
                <a:solidFill>
                  <a:srgbClr val="FFFFFF"/>
                </a:solidFill>
                <a:latin typeface="Aptos"/>
              </a:rPr>
              <a:t>Ryma DRISS</a:t>
            </a:r>
          </a:p>
        </p:txBody>
      </p:sp>
      <p:sp>
        <p:nvSpPr>
          <p:cNvPr id="8" name="TextBox 7"/>
          <p:cNvSpPr txBox="1"/>
          <p:nvPr/>
        </p:nvSpPr>
        <p:spPr>
          <a:xfrm>
            <a:off x="749808" y="5321808"/>
            <a:ext cx="4572000" cy="256032"/>
          </a:xfrm>
          <a:prstGeom prst="rect">
            <a:avLst/>
          </a:prstGeom>
          <a:noFill/>
        </p:spPr>
        <p:txBody>
          <a:bodyPr wrap="square" anchor="t">
            <a:spAutoFit/>
          </a:bodyPr>
          <a:lstStyle/>
          <a:p>
            <a:pPr algn="l"/>
            <a:r>
              <a:rPr sz="1050" b="0">
                <a:solidFill>
                  <a:srgbClr val="8FA6BC"/>
                </a:solidFill>
                <a:latin typeface="Aptos"/>
              </a:rPr>
              <a:t>M2 Data Engineer Cloud • ESSIN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661</TotalTime>
  <Words>3183</Words>
  <Application>Microsoft Office PowerPoint</Application>
  <PresentationFormat>Grand écran</PresentationFormat>
  <Paragraphs>384</Paragraphs>
  <Slides>15</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Aptos</vt:lpstr>
      <vt:lpstr>Aptos Display</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Projet de stage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Prédiction de stocks par Machine Learning</dc:title>
  <dc:subject>Présentation du projet de prédiction de stocks par Machine Learning</dc:subject>
  <dc:creator>OpenAI</dc:creator>
  <cp:lastModifiedBy>Ryma DRISS</cp:lastModifiedBy>
  <cp:revision>6</cp:revision>
  <dcterms:created xsi:type="dcterms:W3CDTF">2026-09-03T08:28:05Z</dcterms:created>
  <dcterms:modified xsi:type="dcterms:W3CDTF">2026-09-18T13:07:26Z</dcterms:modified>
</cp:coreProperties>
</file>